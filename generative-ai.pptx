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Hi everyone, and thank you to Irene and Mayuri for inviting me. I'm Rose. Today we're going to work through your case study on generative AI for image creation. Imagine a design company asks you to choose the system behind its next advertising campaign. Making one impressive image is only the beginning. Can you control it? Can you repeat the result? Can you afford to produce a hundred versions? And should you use the result at all? Those are the questions we'll answer. You can pause whenever a decision appears.</a:t>
            </a:r>
          </a:p>
          <a:p/>
          <a:p>
            <a:r>
              <a:t>DO</a:t>
            </a:r>
          </a:p>
          <a:p>
            <a:r>
              <a:t>Smile. Let the opening question sit for a moment.</a:t>
            </a:r>
          </a:p>
          <a:p/>
          <a:p>
            <a:r>
              <a:t>SOURCES</a:t>
            </a:r>
          </a:p>
          <a:p>
            <a:r>
              <a:t>IB cover; Rose website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Before we start, a little about me. I'm Tianruo Rose Xu, and I graduated from UWCSEA Dover in May 2024. I'm now an undergraduate at Cornell studying computer science and mathematics, and I expect to graduate in May 2027. It's lovely to be back sharing some of what I've been working on since leaving Dover. My research focuses on AI we can understand and trust. One part asks whether AI systems know when they are uncertain, and how we can evaluate the accuracy of their answers. Another connects language, images, and agents that make decisions. In my recent SimWorld-related work on RT-SAFE, we test how safely an agent acts when the world keeps moving while it thinks. I'll show you a short example later. I'm also a Rawlings Presidential Research Scholar and a head teaching assistant for Introduction to Machine Learning. Today, I want to connect those research questions to your case study: how do we decide whether an AI-generated result is actually useful and reliable?</a:t>
            </a:r>
          </a:p>
          <a:p/>
          <a:p>
            <a:r>
              <a:t>DO</a:t>
            </a:r>
          </a:p>
          <a:p>
            <a:r>
              <a:t>Introduce yourself warmly. Point from UWCSEA to Cornell, then briefly walk through the three research areas.</a:t>
            </a:r>
          </a:p>
          <a:p/>
          <a:p>
            <a:r>
              <a:t>SOURCES</a:t>
            </a:r>
          </a:p>
          <a:p>
            <a:r>
              <a:t>Rose’s supplied education dates; https://xtrose29.github.io/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Here is the route through today's talk. Keep one question in mind: which image-generation workflow should Visionary Studios trust for its campaign? First, we turn the client's brief into things we can control. Second, we open up diffusion and see how it makes an image. Third, we decide what evidence makes an output useful and responsible. Fourth, in the higher-level section, we compare model designs. Finally, you will recommend a pilot for the studio. Our reusable water bottle campaign is the running example for all five steps. The world demos each have one job: Genie raises the consistency question, Marble shows control over layout, and my SimWorld work shows why our tests must match the real task. They all lead back to the same studio decision.</a:t>
            </a:r>
          </a:p>
          <a:p/>
          <a:p>
            <a:r>
              <a:t>DO</a:t>
            </a:r>
          </a:p>
          <a:p>
            <a:r>
              <a:t>Use the route to connect the previous idea to the next decision.</a:t>
            </a:r>
          </a:p>
          <a:p/>
          <a:p>
            <a:r>
              <a:t>SOURCES</a:t>
            </a:r>
          </a:p>
          <a:p>
            <a:r>
              <a:t>IB case study · Visionary Studios · original teaching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Visionary Studios wants to use generative AI for advertising, concept art, and digital media. We will use a fictional reusable-bottle campaign to make its choices concrete. The bottle on our opening slide is an AI-generated classroom example, not a real product photograph. We will also look beyond still images: at Google DeepMind's Genie, World Labs' Marble, and my SimWorld-related research. Each example gives us a different way to ask what an AI system can control and how we should test it. This is one combined lesson. We will build the shared foundations first, then compare model families. GANs and hybrids belong to the booklet's higher-level requirements; their slides are labelled so you can distinguish required knowledge from enrichment.</a:t>
            </a:r>
          </a:p>
          <a:p/>
          <a:p>
            <a:r>
              <a:t>DO</a:t>
            </a:r>
          </a:p>
          <a:p>
            <a:r>
              <a:t>Point to the campaign image, then the three deliverables.</a:t>
            </a:r>
          </a:p>
          <a:p/>
          <a:p>
            <a:r>
              <a:t>SOURCES</a:t>
            </a:r>
          </a:p>
          <a:p>
            <a:r>
              <a:t>IB pp. 3, 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Imagine the image on your screen becomes somewhere you can explore. This is an excerpt from Google DeepMind's Genie 3 demonstration. Genie generates interactive worlds that respond to actions. As you watch the bird fly through the scene, choose one object or landmark and follow what happens to it. [WATCH] That is a different challenge from making one attractive still image. The next view must respond to movement while keeping the scene coherent. Our recording cannot let you control it; we are watching an official demonstration. A short impressive clip also cannot prove long-term consistency or accurate physics. What would you test if the camera turned around and returned to the same place? Keep that question in mind. For our studio's bottle campaign, the smaller version of the same problem is keeping a product recognizable across different views and backgrounds.</a:t>
            </a:r>
          </a:p>
          <a:p/>
          <a:p>
            <a:r>
              <a:t>DO</a:t>
            </a:r>
          </a:p>
          <a:p>
            <a:r>
              <a:t>Read to [WATCH], then stay silent for the 18-second clip. Resume with “That is a different challenge”. Invite students to track a landmark.</a:t>
            </a:r>
          </a:p>
          <a:p/>
          <a:p>
            <a:r>
              <a:t>SOURCES</a:t>
            </a:r>
          </a:p>
          <a:p>
            <a:r>
              <a:t>deepmind.google/models/genie/ · recorded official demo; not a live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Training is when a model changes its internal numerical parameters, usually called weights, using many examples. A training objective measures an error, and an optimization process updates those weights. Inference is when we use a trained model to produce an output. The weights are usually fixed during an ordinary generation request. A new prompt does not normally retrain the whole system. Think of learning to draw over several years versus making a drawing this afternoon. The analogy has limits: a neural network learns statistical structure, not a human life experience. Also, learning patterns does not guarantee that a model never memorizes training material. That possibility matters when we later discuss dataset curation and intellectual property.</a:t>
            </a:r>
          </a:p>
          <a:p/>
          <a:p>
            <a:r>
              <a:t>DO</a:t>
            </a:r>
          </a:p>
          <a:p>
            <a:r>
              <a:t>Trace training on the top row and inference on the bottom; only the top updates weights.</a:t>
            </a:r>
          </a:p>
          <a:p/>
          <a:p>
            <a:r>
              <a:t>SOURCES</a:t>
            </a:r>
          </a:p>
          <a:p>
            <a:r>
              <a:t>IB pp. 3–6; foundational model papers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Conditional generation means that some supplied information guides the output. Text-to-image is one example: a prompt gives information about what we want. A class label such as landscape is a simpler condition. A sketch can guide shape, and a segmentation map can specify which image regions should contain which categories. Unconditional generation does not receive a requested subject or layout. It still uses a trained model and usually a random input, so unconditional does not mean that literally nothing goes into the computer. It means there is no external content condition of that kind. These are categories of tasks, not mutually exclusive model architectures. A diffusion model, for example, can be conditional or unconditional.</a:t>
            </a:r>
          </a:p>
          <a:p/>
          <a:p>
            <a:r>
              <a:t>DO</a:t>
            </a:r>
          </a:p>
          <a:p>
            <a:r>
              <a:t>Move from words to outline to region labels. Mention that unconditional generation has no requested-content condition.</a:t>
            </a:r>
          </a:p>
          <a:p/>
          <a:p>
            <a:r>
              <a:t>SOURCES</a:t>
            </a:r>
          </a:p>
          <a:p>
            <a:r>
              <a:t>IB pp. 3–4,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These are actual examples from the ControlNet paper. Each group begins with a different condition: a sketch, a depth map, or a segmentation map. The images underneath are generated outputs. In this particular experiment, the authors used empty text prompts, so the spatial condition supplies the guidance. Follow the house-shaped regions in the segmentation example. A segmentation map labels categories by region; its colors do not specify the final paint colors. The depth map instead supplies information about distance, while a sketch mainly supplies outlines. Notice that the same condition can lead to different plausible images. This connects to our studio brief: if the bottle must stay on the right, a spatial condition may be more useful than adding another adjective to the prompt. Image-to-image translation is the wider task of producing a related image from an input image. A plausible output still needs checking against what the client actually requested.</a:t>
            </a:r>
          </a:p>
          <a:p/>
          <a:p>
            <a:r>
              <a:t>DO</a:t>
            </a:r>
          </a:p>
          <a:p>
            <a:r>
              <a:t>Follow each input down to its two generated examples. Compare the segmentation colors with the generated house colors; do not call the input a photograph.</a:t>
            </a:r>
          </a:p>
          <a:p/>
          <a:p>
            <a:r>
              <a:t>SOURCES</a:t>
            </a:r>
          </a:p>
          <a:p>
            <a:r>
              <a:t>Zhang, Rao &amp; Agrawala (2023), ControlNet, Fig. 7 excerpts, p. 6 · arxiv.org/abs/2302.05543v3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Text is useful, but what if you care exactly where things go? World Labs' Marble can generate a 3D world. Its Chisel tool lets you supply a rough 3D layout and a text description of the appearance. Here are two views from the official gallery example. Watch how the simple blocks relate to objects in the finished space. [WATCH] The useful distinction is structure versus style. The layout supplies spatial information; the prompt describes appearance. This is related to our segmentation-map example, although a 3D layout and a pixel-wise class map are different kinds of input. For our bottle brief, compare “make a cool advert” with “place one teal bottle on the right and leave the left side empty for a headline”. The second is easier to test. It still needs checking. When comparing results, change one condition at a time and record the prompt, model version, references, settings, and seed if available. A seed helps reproduce randomness within a compatible setup; it does not guarantee identity.</a:t>
            </a:r>
          </a:p>
          <a:p/>
          <a:p>
            <a:r>
              <a:t>DO</a:t>
            </a:r>
          </a:p>
          <a:p>
            <a:r>
              <a:t>Read to [WATCH]. Leave 10 seconds for the paired clip. Resume with “The useful distinction”. The recorded views illustrate a workflow, not our own controlled experiment.</a:t>
            </a:r>
          </a:p>
          <a:p/>
          <a:p>
            <a:r>
              <a:t>SOURCES</a:t>
            </a:r>
          </a:p>
          <a:p>
            <a:r>
              <a:t>worldlabs.ai/blog/marble-world-model · source demos shown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So far, we have described the result we want and the inputs that can guide it. Now we need the mechanism. How can a model turn random noise into a new image? Understanding diffusion will also explain a practical problem for our studio: why more generation steps can mean more waiting.</a:t>
            </a:r>
          </a:p>
          <a:p/>
          <a:p>
            <a:r>
              <a:t>DO</a:t>
            </a:r>
          </a:p>
          <a:p>
            <a:r>
              <a:t>Use the route to connect the previous idea to the next decision.</a:t>
            </a:r>
          </a:p>
          <a:p/>
          <a:p>
            <a:r>
              <a:t>SOURCES</a:t>
            </a:r>
          </a:p>
          <a:p>
            <a:r>
              <a:t>IB case study · Visionary Studios · original teaching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Here is Figure two from Ho, Jain, and Abbeel's DDPM paper. Earlier diffusion-model work appeared in 2015; this is the influential 2020 formulation. The diagram puts noise on the left and a clean image on the right. The forward process adds noise; generation follows learned reverse steps. Read the formula as signal plus noise. X zero is a clean training image, epsilon is random Gaussian noise, and x t is the corrupted image. Alpha bar controls the balance. In our numerical example, alpha bar is point six four, giving point eight times the image plus point six times the noise. These are scale factors, not percentages. During training, the noise is known, so a network can learn to predict it. The formula creates a training input; it is not itself the learned denoiser.</a:t>
            </a:r>
          </a:p>
          <a:p/>
          <a:p>
            <a:r>
              <a:t>DO</a:t>
            </a:r>
          </a:p>
          <a:p>
            <a:r>
              <a:t>Trace the diagram directions carefully. Point to the two equation terms and the numerical example. Students do not need to derive the formula.</a:t>
            </a:r>
          </a:p>
          <a:p/>
          <a:p>
            <a:r>
              <a:t>SOURCES</a:t>
            </a:r>
          </a:p>
          <a:p>
            <a:r>
              <a:t>Ho, Jain &amp; Abbeel (2020), DDPM, Fig. 2 (p. 2); Eq. 4 sampling form (p. 3) · arxiv.org/abs/2006.11239v2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These are the paper's published examples. Read each row from left to right: broad structure becomes recognizable before finer detail. The panels show predicted clean images during sampling, not the raw noisy states. Generation begins with fresh noise and repeatedly applies learned updates. The model is producing a new sample, not recovering an original photograph hidden in the noise. These small CIFAR-ten examples demonstrate a mechanism; they do not establish that a modern advertising brief will be followed.</a:t>
            </a:r>
          </a:p>
          <a:p/>
          <a:p>
            <a:r>
              <a:t>DO</a:t>
            </a:r>
          </a:p>
          <a:p>
            <a:r>
              <a:t>Follow one row across the original figure. Emphasize predicted clean image versus noisy state. The original examples are 32 × 32 pixels; enlargement adds no detail.</a:t>
            </a:r>
          </a:p>
          <a:p/>
          <a:p>
            <a:r>
              <a:t>SOURCES</a:t>
            </a:r>
          </a:p>
          <a:p>
            <a:r>
              <a:t>Ho, Jain &amp; Abbeel (2020), Denoising Diffusion Probabilistic Models, Fig. 6, p. 7 · arxiv.org/abs/2006.11239v2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 denoiser is a neural network, not a hand-written list of rules for drawing leaves and bottles. Your booklet describes a convolutional neural network, or CNN. A convolution applies learned filters across local image regions. Reusing a filter lets the network detect useful patterns at different positions. Multiple layers combine simpler patterns into more complex features. A common diffusion network has a U-Net structure, which processes information at several spatial scales. Keep one qualification in mind: diffusion is the generation method, while a CNN is a possible network architecture inside it. Research also uses transformer denoisers. For this case study, understand the CNN explanation, but avoid claiming that every diffusion system must use a CNN or that every commercial image product has the same internal design.</a:t>
            </a:r>
          </a:p>
          <a:p/>
          <a:p>
            <a:r>
              <a:t>DO</a:t>
            </a:r>
          </a:p>
          <a:p>
            <a:r>
              <a:t>Trace the outlined local patch into the filter and then the feature map.</a:t>
            </a:r>
          </a:p>
          <a:p/>
          <a:p>
            <a:r>
              <a:t>SOURCES</a:t>
            </a:r>
          </a:p>
          <a:p>
            <a:r>
              <a:t>IB p. 4; Peebles &amp; Xie, Diffusion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Which of these directly describes learning in the model: changing the prompt, updating weights during training, or choosing another seed? Pause and choose, then explain why. [Pause for discussion.] The answer is B. A different prompt changes the condition. A different seed changes the random starting state. Neither necessarily changes the learned weights. There are workflows that fine-tune a model, which do update weights, but that is a separate operation from an ordinary generation request. Second question: does a text-to-image diffusion model count as conditional? Yes. Text supplies a condition. If you can explain those two distinctions, you already have a strong foundation for the rest of the case study.</a:t>
            </a:r>
          </a:p>
          <a:p/>
          <a:p>
            <a:r>
              <a:t>DO</a:t>
            </a:r>
          </a:p>
          <a:p>
            <a:r>
              <a:t>Pause before saying the answer.</a:t>
            </a:r>
          </a:p>
          <a:p/>
          <a:p>
            <a:r>
              <a:t>SOURCES</a:t>
            </a:r>
          </a:p>
          <a:p>
            <a:r>
              <a:t>IB pp. 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We now have the mechanism: a trained network helps turn noise into structure through repeated updates. But our client needs a campaign, not just one successful sample. In this section, we follow the image through cost, consistency, data, and review. At the end, SimWorld will show why choosing the right test matters even beyond image generation.</a:t>
            </a:r>
          </a:p>
          <a:p/>
          <a:p>
            <a:r>
              <a:t>DO</a:t>
            </a:r>
          </a:p>
          <a:p>
            <a:r>
              <a:t>Use the route to connect the previous idea to the next decision.</a:t>
            </a:r>
          </a:p>
          <a:p/>
          <a:p>
            <a:r>
              <a:t>SOURCES</a:t>
            </a:r>
          </a:p>
          <a:p>
            <a:r>
              <a:t>IB case study · Visionary Studios · original teaching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A simple way to reason about diffusion cost is to multiply the number of sampling steps by the time per step, then remember that other work also takes time. If one denoiser evaluation took eight hundredths of a second, forty evaluations would take about three point two seconds. Twenty would take about one point six seconds. Those numbers are invented for arithmetic, not measurements of a product. Fewer steps can reduce latency, but the effect on image quality depends on the model and sampler. Higher resolution and larger models can also increase compute and memory demands. Training cost is a different budget again. Visionary Studios may use a pretrained service rather than train a large model from scratch, but it still needs to account for generation volume and review time.</a:t>
            </a:r>
          </a:p>
          <a:p/>
          <a:p>
            <a:r>
              <a:t>DO</a:t>
            </a:r>
          </a:p>
          <a:p/>
          <a:p/>
          <a:p>
            <a:r>
              <a:t>SOURCES</a:t>
            </a:r>
          </a:p>
          <a:p>
            <a:r>
              <a:t>IB pp. 4, 6; illustrative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Suppose system A generates an image twice as quickly as system B, but most of A's outputs fail the brief. Which system saves the studio time? You cannot answer from generation speed alone. Measure the cost and time per approved asset, including rejected outputs and human edits. Low-resolution drafts can help during exploration, with a more expensive final render only after a direction is chosen. Batching may improve throughput, meaning images produced per unit time, even if one person's request waits longer. Efficient samplers and smaller or compressed representations can help, but each needs testing. The company should also consider hardware memory, energy use, service availability, and the cost of maintaining a workflow as demand grows.</a:t>
            </a:r>
          </a:p>
          <a:p/>
          <a:p>
            <a:r>
              <a:t>DO</a:t>
            </a:r>
          </a:p>
          <a:p>
            <a:r>
              <a:t>Follow the rejected drafts through review to approved outputs; no timing benchmark is depicted.</a:t>
            </a:r>
          </a:p>
          <a:p/>
          <a:p>
            <a:r>
              <a:t>SOURCES</a:t>
            </a:r>
          </a:p>
          <a:p>
            <a:r>
              <a:t>IB pp. 4, 6–7; lesson workflow analysis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Here is a more concrete consistency example from the DreamBooth paper. The photographs on the left are reference images of one dog. The images on the right place that subject in different situations. DreamBooth fine-tunes a pretrained model using subject images; this is different from simply changing a prompt with fixed weights. Look for the dog's defining features as the scene changes. Character consistency asks whether we recognize the same subject. Style adherence asks whether the visual treatment matches what we requested. An embedding-based approach uses numerical representations to convey or compare information such as identity or style, but an embedding is not a guarantee of sameness. DreamBooth is one personalization example, not a synonym for every embedding-based method. For our bottle campaign, make a reference sheet, then test shape, cap and loop across several backgrounds and lighting conditions. Published successful examples show what is possible; your studio still needs a systematic test, including failures.</a:t>
            </a:r>
          </a:p>
          <a:p/>
          <a:p>
            <a:r>
              <a:t>DO</a:t>
            </a:r>
          </a:p>
          <a:p>
            <a:r>
              <a:t>Point from the reference photos to the new contexts. Ask what identifies this particular dog. Separate identity from artistic style.</a:t>
            </a:r>
          </a:p>
          <a:p/>
          <a:p>
            <a:r>
              <a:t>SOURCES</a:t>
            </a:r>
          </a:p>
          <a:p>
            <a:r>
              <a:t>Ruiz et al. (2023), DreamBooth, Fig. 1, p. 1 · arxiv.org/abs/2208.12242v2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 booklet gives us output quality, computational efficiency, training stability, flexibility and scalability, and consistency. Turn each into a test. Give candidate systems the same briefs and ask reviewers to assess them without knowing which model produced which image. Check identity and style across sets. Log latency, memory where available, rejection rate, and cost. Test easy and difficult prompts, rather than only the most photogenic ones. Training stability means whether learning behaves reliably across runs; do not confuse it with consistently drawing the same face. If the studio only has access to a hosted model, it may need documentation or provider evidence about training behavior. It can directly measure output behavior, but should not claim to have observed a training process it never saw.</a:t>
            </a:r>
          </a:p>
          <a:p/>
          <a:p>
            <a:r>
              <a:t>DO</a:t>
            </a:r>
          </a:p>
          <a:p>
            <a:r>
              <a:t>Choose one row of the blank evaluation sheet and say what evidence belongs there.</a:t>
            </a:r>
          </a:p>
          <a:p/>
          <a:p>
            <a:r>
              <a:t>SOURCES</a:t>
            </a:r>
          </a:p>
          <a:p>
            <a:r>
              <a:t>IB p.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Look at the illustrated inbox: repeated images, a mismatched label, and an item with no recorded source. These are classroom examples of issues to catch before training. Dataset curation means deliberately selecting, cleaning, organizing, and documenting the examples a model learns from. For Visionary Studios, that could mean approved product photographs, accurate captions, and documented permissions. Remove corrupt files, misleading labels, inappropriate personal data, and unnecessary duplicates. Keep track of where images came from and what uses are allowed. A large dataset can still omit important groups or situations. It can also contain repeated images that dominate learning. For evaluation, keep suitable examples separate from training so that success does not simply reflect memorization. If a vendor supplies the model, the studio should ask what evidence the vendor provides about data practices. Lack of visibility is itself part of the decision, rather than a reason to assume that everything is fine.</a:t>
            </a:r>
          </a:p>
          <a:p/>
          <a:p>
            <a:r>
              <a:t>DO</a:t>
            </a:r>
          </a:p>
          <a:p>
            <a:r>
              <a:t>Point to the duplicate, mismatched label and unknown source before the curated set.</a:t>
            </a:r>
          </a:p>
          <a:p/>
          <a:p>
            <a:r>
              <a:t>SOURCES</a:t>
            </a:r>
          </a:p>
          <a:p>
            <a:r>
              <a:t>IB pp. 6–7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 colored tiles are a fictional coverage audit, not measured outputs or demographic categories. A small collection can repeatedly cover the same situations while missing others. Imagine asking for an engineer, a nurse, or a successful entrepreneur. If the outputs repeatedly connect those roles with one demographic group, a campaign may reinforce stereotypes or exclude its audience. Bias mitigation starts with asking which representation matters for the intended use. Review datasets and test varied prompts across relevant groups and contexts. Then improve data coverage, captions, model behavior, or review procedures, and test again. Changing a prompt can improve one image without fixing the underlying pattern. Likewise, a balanced count in a dataset is not proof that every output is fair. Use both measurable checks and feedback from people affected by the images. The studio should report the scope of its tests and remaining limitations, rather than claiming to have removed all bias.</a:t>
            </a:r>
          </a:p>
          <a:p/>
          <a:p>
            <a:r>
              <a:t>DO</a:t>
            </a:r>
          </a:p>
          <a:p>
            <a:r>
              <a:t>Compare repeated colored tiles with broader coverage. Colors represent arbitrary situations, not groups of people.</a:t>
            </a:r>
          </a:p>
          <a:p/>
          <a:p>
            <a:r>
              <a:t>SOURCES</a:t>
            </a:r>
          </a:p>
          <a:p>
            <a:r>
              <a:t>IB pp. 6–7; lesson scenario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 case study emphasizes avoiding problematic copyrighted training material. A practical starting point is a curated collection the studio owns or is licensed to use for the intended purpose. But the wider legal question is more nuanced than saying that all copyrighted training material is always forbidden. Rules and exceptions depend on jurisdiction and facts. For example, Singapore's Intellectual Property Office describes a computational data analysis exception with conditions, including lawful access. That does not automatically clear every generated output for advertising. Keep three questions separate: the use of training inputs, rights in or risks from the resulting image, and the intended client use. Also consider privacy, consent, trademarks, contracts, and disclosure. This is a decision framework for the case study, not a universal legal conclusion.</a:t>
            </a:r>
          </a:p>
          <a:p/>
          <a:p>
            <a:r>
              <a:t>DO</a:t>
            </a:r>
          </a:p>
          <a:p>
            <a:r>
              <a:t>Follow dataset → generated image → client use; name the different check at each stage.</a:t>
            </a:r>
          </a:p>
          <a:p/>
          <a:p>
            <a:r>
              <a:t>SOURCES</a:t>
            </a:r>
          </a:p>
          <a:p>
            <a:r>
              <a:t>IB p. 6; IPOS computational data analysis guidance; US Copyright Office AI reports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Transparency means giving people meaningful information about how content was made. For a concept pitch, the studio might label an image as AI-generated concept art and explain which parts a designer edited. For an image that looks like documentary evidence, disclosure becomes especially important because viewers might mistake a fictional scene for something that happened. Keep records of the model, version, prompts, references, and edits so the team can investigate a problem later. A label does not repair a misleading claim, remove bias, or settle copyright questions. It supports accountability alongside those other checks. Notice that we are applying the same principle here: the bottle is identified as AI-generated and the paper figures have citations and our own diagrams are labelled as teaching examples.</a:t>
            </a:r>
          </a:p>
          <a:p/>
          <a:p>
            <a:r>
              <a:t>DO</a:t>
            </a:r>
          </a:p>
          <a:p>
            <a:r>
              <a:t>Point to the visible concept label, then prompt/version/reference/reviewer fields.</a:t>
            </a:r>
          </a:p>
          <a:p/>
          <a:p>
            <a:r>
              <a:t>SOURCES</a:t>
            </a:r>
          </a:p>
          <a:p>
            <a:r>
              <a:t>IB p. 6; lesson production disclosure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Our studio examples show that realism, consistency, and safe use are different things. My own research takes that evaluation problem into a moving world. In my SimWorld-related work on RT-SAFE, we study agents making decisions in a simulated urban environment. Imagine a robot observes a crossing and spends several seconds deciding what to do. Does the world politely pause while it thinks? In a real street, it does not. Watch this city scene and notice what changes while you are looking. [WATCH] By the time a decision is executed, a pedestrian or vehicle may have moved. So we care about the timing of a decision as well as the action selected. This footage comes from my project's illustrative Unreal Engine city materials. It is a simulation, and this clip is not a measured benchmark run. We are not claiming that Genie or Marble generated this city. The research connection is the question we ask: what evidence would show that an AI system works reliably in the conditions where we want to use it?</a:t>
            </a:r>
          </a:p>
          <a:p/>
          <a:p>
            <a:r>
              <a:t>DO</a:t>
            </a:r>
          </a:p>
          <a:p>
            <a:r>
              <a:t>Read to [WATCH]. Stay silent for the 12-second city clip. Resume with “By the time”. Stress the difference between illustrative footage and experimental evidence.</a:t>
            </a:r>
          </a:p>
          <a:p/>
          <a:p>
            <a:r>
              <a:t>SOURCES</a:t>
            </a:r>
          </a:p>
          <a:p>
            <a:r>
              <a:t>xtrose29.github.io/RT-SAFE/ · illustrative footage, not a benchmark result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These examples share a visual theme, but their outputs and evaluation questions differ. Genie demonstrates action-responsive generated worlds. Marble produces a 3D representation you can inspect from different viewpoints. Our SimWorld-related work evaluates agent behavior in simulation. We should not assume they share one architecture or treat a realistic image as evidence of reliable geometry or physics. For Genie, one useful test would revisit a landmark. For Marble, compare the generated layout with the requested structure. For an agent, test actions when the environment changes during its decision. These are proposed tests, not results established by the clips. The same habit applies to Visionary Studios: evaluate identity, usable composition, cost, and failure rates across many outputs. In my research, and in an independent collaboration with mentorship from an Oracle Cloud scientist, careful evaluation is a recurring concern. A good-looking example gets our attention; a well-designed test tells us what to trust. That is why these three projects belong in our story: they connect control, consistency, and evaluation to the same studio decision.</a:t>
            </a:r>
          </a:p>
          <a:p/>
          <a:p>
            <a:r>
              <a:t>DO</a:t>
            </a:r>
          </a:p>
          <a:p>
            <a:r>
              <a:t>Point to each real demo poster and ask its one test question.</a:t>
            </a:r>
          </a:p>
          <a:p/>
          <a:p>
            <a:r>
              <a:t>SOURCES</a:t>
            </a:r>
          </a:p>
          <a:p>
            <a:r>
              <a:t>Google DeepMind Genie 3; World Labs Marble; Rose Xu RT-SAFE project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TRANSITION</a:t>
            </a:r>
          </a:p>
          <a:p/>
          <a:p>
            <a:r>
              <a:t>SAY</a:t>
            </a:r>
          </a:p>
          <a:p>
            <a:r>
              <a:t>Our evidence checklist tells us what success means. It does not yet tell us which model design to choose. That is the purpose of the next section, which covers the higher-level material in the case study. We will compare GANs, compressed latent representations, reversible flows, and hybrids by asking what each component does and what trade-off it introduces. Standard-level students can treat this as enrichment, or use the chapter markers to rejoin us at Your recommendation. Whichever route you take, our final task stays the same: advise the studio using evidence.</a:t>
            </a:r>
          </a:p>
          <a:p/>
          <a:p>
            <a:r>
              <a:t>DO</a:t>
            </a:r>
          </a:p>
          <a:p>
            <a:r>
              <a:t>Connect the test sheet to the model choice. The final recommendation is shared SL + HL.</a:t>
            </a:r>
          </a:p>
          <a:p/>
          <a:p>
            <a:r>
              <a:t>SOURCES</a:t>
            </a:r>
          </a:p>
          <a:p>
            <a:r>
              <a:t>IB pp. 3–7; lesson synthesis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We now reach the higher-level model comparison within our combined lesson. Your booklet asks you to go deeply into diffusion, GANs, and hybrid models, with a broad understanding of variational autoencoders and flow-based models. We will keep the mathematical detail light, but be precise about what each part does. Diffusion improves a sample over a sequence of denoising steps. A GAN uses a different training setup: two networks with competing objectives. A hybrid combines useful components or objectives. Do not assume the most complicated option is the best. Our question is still whether a particular design helps Visionary Studios meet a measurable need.</a:t>
            </a:r>
          </a:p>
          <a:p/>
          <a:p>
            <a:r>
              <a:t>DO</a:t>
            </a:r>
          </a:p>
          <a:p>
            <a:r>
              <a:t>Preview the three mechanism sketches without ranking all models universally.</a:t>
            </a:r>
          </a:p>
          <a:p/>
          <a:p>
            <a:r>
              <a:t>SOURCES</a:t>
            </a:r>
          </a:p>
          <a:p>
            <a:r>
              <a:t>IB pp. 5, 7–8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This equation is copied from the original GAN paper by Ian Goodfellow and colleagues. You do not need to calculate the logarithms. Look first at the two players. G is the generator: it transforms a random vector z into an image. D is the discriminator: it scores whether an image came from the real data. The first term concerns real examples, while the second concerns generated examples. The expectation symbols mean averages over samples. Max D says the discriminator tries to increase this objective, while min G says the generator tries to decrease it. The competing objectives provide learning signals for both networks. In practice the paper also describes a different generator loss that gives stronger gradients early in training, so this displayed objective is the foundational idea, not every implementation. At generation time, the basic GAN normally needs only its trained generator. The discriminator is a training partner, not a permanent approval system. Its score does not verify product accuracy, fairness, or copyright clearance.</a:t>
            </a:r>
          </a:p>
          <a:p/>
          <a:p>
            <a:r>
              <a:t>DO</a:t>
            </a:r>
          </a:p>
          <a:p>
            <a:r>
              <a:t>Read min G / max D aloud, then point to the real-data and generated-data terms. Explain the averages verbally; no calculus is required.</a:t>
            </a:r>
          </a:p>
          <a:p/>
          <a:p>
            <a:r>
              <a:t>SOURCES</a:t>
            </a:r>
          </a:p>
          <a:p>
            <a:r>
              <a:t>Goodfellow et al. (2014), Generative Adversarial Nets, Eq. 1, p. 3 · arxiv.org/abs/1406.2661v1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The phrase D-dimensional noise vector sounds more intimidating than it is. A vector is an ordered list of numbers, and D tells you how many numbers are in that list. For example, the generator might receive a hundred random values. They are not a hundred output pixels. A learned function transforms them into an entire image. Changing the vector can change the result, but individual coordinates do not necessarily correspond to neat controls such as smile, color, or camera angle. In a conditional GAN, additional information such as a class label or image can also guide generation. So GAN is an architectural and training idea, while conditional describes what information the generation process receives.</a:t>
            </a:r>
          </a:p>
          <a:p/>
          <a:p>
            <a:r>
              <a:t>DO</a:t>
            </a:r>
          </a:p>
          <a:p>
            <a:r>
              <a:t>Follow random values → generator → picture. D counts input values, not pixels.</a:t>
            </a:r>
          </a:p>
          <a:p/>
          <a:p>
            <a:r>
              <a:t>SOURCES</a:t>
            </a:r>
          </a:p>
          <a:p>
            <a:r>
              <a:t>IB p.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Suppose a generator discovers one kind of bottle image that repeatedly fools the discriminator. If it keeps returning variations of that same result, it may neglect other patterns in the training data. That is mode collapse: insufficient diversity, even when individual images appear sharp. Training instability is broader. The networks may oscillate, one may dominate, or progress may be unreliable. A weak discriminator can give poor guidance, while an overly strong discriminator can make learning difficult under some objectives. Potential mitigations include better-balanced update schedules, appropriate learning rates, regularization, and methods that reward diversity. None is an automatic cure. For the studio, inspect batches and diverse prompts, and track training runs when training is within scope. Do not judge a GAN from its best sample.</a:t>
            </a:r>
          </a:p>
          <a:p/>
          <a:p>
            <a:r>
              <a:t>DO</a:t>
            </a:r>
          </a:p>
          <a:p>
            <a:r>
              <a:t>Compare the two sample grids. They are deliberately constructed teaching drawings.</a:t>
            </a:r>
          </a:p>
          <a:p/>
          <a:p>
            <a:r>
              <a:t>SOURCES</a:t>
            </a:r>
          </a:p>
          <a:p>
            <a:r>
              <a:t>IB p. 5; Salimans et al., Improved Techniques for Training GANs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We have seen the GAN approach. A different design asks whether we can work in a compact representation. Follow the picture from left to right: image, compact representation, reconstruction. The dots suggest a distribution over codes. The missing loop is an illustrative reconstruction error, not a measured model result. A variational autoencoder, or VAE, has an encoder and a decoder. The encoder maps an image to a distribution over latent codes, rather than simply storing a perfect copy of the image. A code is sampled and the decoder reconstructs an image. Training balances reconstruction with a regularization term that encourages a structured latent distribution. That makes sampling and interpolation possible. You can think of latent space as a compressed working space for useful image information, although its coordinates are learned and need not have tidy human meanings. The compression is generally lossy. A basic VAE can lose fine detail, depending on its design and objective. Its value in a hybrid is often the compact representation, not a promise that it always makes the sharpest final image.</a:t>
            </a:r>
          </a:p>
          <a:p/>
          <a:p>
            <a:r>
              <a:t>DO</a:t>
            </a:r>
          </a:p>
          <a:p>
            <a:r>
              <a:t>Trace the compression path and sampled latent code; explain that reconstruction can lose detail.</a:t>
            </a:r>
          </a:p>
          <a:p/>
          <a:p>
            <a:r>
              <a:t>SOURCES</a:t>
            </a:r>
          </a:p>
          <a:p>
            <a:r>
              <a:t>IB p. 5; Kingma &amp; Welling, Auto-Encoding Variational Bayes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A VAE generally loses information when it compresses. What if a design needs a reversible mapping instead? The two point clouds are an original schematic of a reversible mapping. The arrows show the two directions; they are not before-and-after research measurements. A flow-based model learns an invertible transformation between a simple distribution and a more complex data distribution. In principle, we can map a represented input forward and invert the mapping to recover its starting point, subject to numerical precision and preprocessing. This differs from the generally lossy compression in a VAE. It can also support exact density calculations under the model's assumptions. But an exact mapping is not the same as perfect realism, fairness, or a human-readable explanation of why a scene looks a certain way. Reproducibility still requires the model, input, and implementation settings. Some newer generation methods use the word flow in other ways; for the booklet, focus on its described invertible model and the practical strengths and constraints of that design.</a:t>
            </a:r>
          </a:p>
          <a:p/>
          <a:p>
            <a:r>
              <a:t>DO</a:t>
            </a:r>
          </a:p>
          <a:p>
            <a:r>
              <a:t>Follow both arrows. Reversible coordinates do not imply interpretable meaning.</a:t>
            </a:r>
          </a:p>
          <a:p/>
          <a:p>
            <a:r>
              <a:t>SOURCES</a:t>
            </a:r>
          </a:p>
          <a:p>
            <a:r>
              <a:t>IB p. 5; Dinh et al., Real NVP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Now we can connect the model comparison back to diffusion: generate in a compact space, then decode an image. This is Figure three from the latent-diffusion paper by Robin Rombach and colleagues. The figure is reproduced from the paper; the three reading hints beside it are ours. Start with the pink pixel-space section. The encoder E compresses an image into a latent representation, and the decoder D maps a latent representation back to pixels. The large green section shows diffusion working in that smaller representation. On the right, conditioning can bring in information such as text or a semantic map. You do not need to unpack the attention matrices today. Notice that the diagram includes representation learning as well as generation. For text-to-image sampling, we start from latent noise; we do not need an input photograph for the encoder. Denoising updates the latent, then the decoder makes the image. This is a concrete hybrid: different components perform different jobs. The smaller working space can reduce computation, but compression may lose useful detail. Test both the saving and the output quality on the studio's actual brief.</a:t>
            </a:r>
          </a:p>
          <a:p/>
          <a:p>
            <a:r>
              <a:t>DO</a:t>
            </a:r>
          </a:p>
          <a:p>
            <a:r>
              <a:t>Point to pink → green → right conditioning, then describe generation as latent noise → denoiser → decoder. D here means decoder; D on the GAN slide meant discriminator.</a:t>
            </a:r>
          </a:p>
          <a:p/>
          <a:p>
            <a:r>
              <a:t>SOURCES</a:t>
            </a:r>
          </a:p>
          <a:p>
            <a:r>
              <a:t>Rombach et al. (2022), High-Resolution Image Synthesis with Latent Diffusion Models, Fig. 3, p. 4 · arxiv:2112.10752v2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When evaluating a hybrid, name the job of every component. A VAE can provide a compact latent representation. Diffusion can generate in that representation. An adversarial objective can encourage perceptual realism, but may introduce the stability problems associated with adversarial training. A flow component could provide an invertible transformation where that property is useful, but it does not automatically make the whole pipeline reversible. If another stage discards information, the full system still loses information. The right evaluation compares the combination with a simpler baseline using the same tasks and budget. Ask whether the added component improves quality, control, efficiency, or consistency enough to justify more training, maintenance, and debugging. A hybrid is a design choice with trade-offs, not a guarantee of better results.</a:t>
            </a:r>
          </a:p>
          <a:p/>
          <a:p>
            <a:r>
              <a:t>DO</a:t>
            </a:r>
          </a:p>
          <a:p>
            <a:r>
              <a:t>Name the job represented by each block before discussing costs.</a:t>
            </a:r>
          </a:p>
          <a:p/>
          <a:p>
            <a:r>
              <a:t>SOURCES</a:t>
            </a:r>
          </a:p>
          <a:p>
            <a:r>
              <a:t>IB pp. 5–7; foundational model papers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HL ONLY</a:t>
            </a:r>
          </a:p>
          <a:p/>
          <a:p>
            <a:r>
              <a:t>SAY</a:t>
            </a:r>
          </a:p>
          <a:p>
            <a:r>
              <a:t>If the studio needs broad prompt-guided concept exploration, a suitable pretrained conditional diffusion system is a reasonable pilot. If it needs large volumes from a narrower, well-defined distribution, a well-trained GAN could be worth testing because generation can be efficient. If full-resolution computation is the bottleneck, a latent-diffusion hybrid offers a concrete alternative. These are hypotheses to evaluate, not a universal ranking. Performance depends on the actual model, training data, hardware, and task. For your higher-level recommendation, identify the bottleneck first, explain the mechanism of your chosen approach, and name a disadvantage. Then propose a fair comparison. The strongest answer makes clear why a particular trade-off matters to this company's workflow. We have compared the mechanisms. Next, we will return to the client and turn those trade-offs into a pilot recommendation.</a:t>
            </a:r>
          </a:p>
          <a:p/>
          <a:p>
            <a:r>
              <a:t>DO</a:t>
            </a:r>
          </a:p>
          <a:p>
            <a:r>
              <a:t>Follow each bottleneck to its candidate model and its trade-off.</a:t>
            </a:r>
          </a:p>
          <a:p/>
          <a:p>
            <a:r>
              <a:t>SOURCES</a:t>
            </a:r>
          </a:p>
          <a:p>
            <a:r>
              <a:t>IB pp. 5–7; lesson synthesis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We can now bring the whole story back to Visionary Studios. We know what the client wants, how generation works, what to measure, and which model choices might address a bottleneck. The final step is a small pilot, not an unconditional promise. Let's compare three fictional candidates, then build an explanation for the creative director.</a:t>
            </a:r>
          </a:p>
          <a:p/>
          <a:p>
            <a:r>
              <a:t>DO</a:t>
            </a:r>
          </a:p>
          <a:p>
            <a:r>
              <a:t>Use the route to connect the previous idea to the next decision.</a:t>
            </a:r>
          </a:p>
          <a:p/>
          <a:p>
            <a:r>
              <a:t>SOURCES</a:t>
            </a:r>
          </a:p>
          <a:p>
            <a:r>
              <a:t>IB case study · Visionary Studios · original teaching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Let's return to Visionary Studios. These numbers are invented for a classroom exercise. Candidate A takes two seconds per image and has a twenty-five percent acceptance rate. B takes five seconds and has a seventy-five percent acceptance rate. C takes eight seconds and has a ninety percent acceptance rate. Pause now and choose a candidate. [Pause for discussion.] If the rates remain stable, divide generation time by acceptance probability to estimate generation seconds per accepted image. A is eight seconds, B is about six point seven, and C is about eight point nine. So B looks promising on that one measure. It is not automatically the best overall choice. We have not included human review, per-image price, licensing, identity consistency, or how those acceptance rates were measured. Choose a pilot and name one piece of missing evidence that could change your choice.</a:t>
            </a:r>
          </a:p>
          <a:p/>
          <a:p>
            <a:r>
              <a:t>DO</a:t>
            </a:r>
          </a:p>
          <a:p>
            <a:r>
              <a:t>Pause for 60–90 seconds. Then work through the arithmetic.</a:t>
            </a:r>
          </a:p>
          <a:p/>
          <a:p>
            <a:r>
              <a:t>SOURCES</a:t>
            </a:r>
          </a:p>
          <a:p>
            <a:r>
              <a:t>Lesson exercise: invented data, not model benchmark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Follow the visual chain: more denoising steps mean more network evaluations, which can mean more waiting, which suggests a test of fewer steps. Here is a useful way to build an answer to a case-study question. Make a claim, explain the mechanism, and connect it to Visionary Studios. For example: diffusion may require substantial computation because generation repeatedly evaluates a denoiser. That could delay producing a large set of advertising assets. The company could test a more efficient sampling configuration, but should check whether its output quality remains acceptable. Notice the trade-off and the context. A list of words such as noise, CNN, and quality is weaker than a connected explanation. This is our practice structure, not an official IB marking scheme. When you recommend a system, also explain what evidence would make you reconsider.</a:t>
            </a:r>
          </a:p>
          <a:p/>
          <a:p>
            <a:r>
              <a:t>DO</a:t>
            </a:r>
          </a:p>
          <a:p>
            <a:r>
              <a:t>Trace the arrows while speaking the causal explanation.</a:t>
            </a:r>
          </a:p>
          <a:p/>
          <a:p>
            <a:r>
              <a:t>SOURCES</a:t>
            </a:r>
          </a:p>
          <a:p>
            <a:r>
              <a:t>IB pp. 4, 6–7; original practice guidance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a:t>
            </a:r>
          </a:p>
          <a:p/>
          <a:p>
            <a:r>
              <a:t>SAY</a:t>
            </a:r>
          </a:p>
          <a:p>
            <a:r>
              <a:t>Your post-session task is to advise Visionary Studios in about two hundred words, or in a one-page diagram with explanatory notes. Choose a generation workflow, explain two technical trade-offs, and propose two concrete safeguards. Then state a test that might show your recommendation is wrong. You can use the provided fictional data and campaign image, so you do not need an account with an image-generation service. If your teacher permits a tool-based extension, change one prompt feature at a time and record the results, including failures. Higher-level students should also explain whether a hybrid would justify its added complexity. The important result is a defensible decision, not the most attractive picture in the room.</a:t>
            </a:r>
          </a:p>
          <a:p/>
          <a:p>
            <a:r>
              <a:t>DO</a:t>
            </a:r>
          </a:p>
          <a:p>
            <a:r>
              <a:t>Use the worksheet picture to explain the four parts of the recommendation.</a:t>
            </a:r>
          </a:p>
          <a:p/>
          <a:p>
            <a:r>
              <a:t>SOURCES</a:t>
            </a:r>
          </a:p>
          <a:p>
            <a:r>
              <a:t>Teacher request: consolidation activity; IB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SL + HL WRAP-UP</a:t>
            </a:r>
          </a:p>
          <a:p/>
          <a:p>
            <a:r>
              <a:t>SAY</a:t>
            </a:r>
          </a:p>
          <a:p>
            <a:r>
              <a:t>For the final challenge, imagine the creative director says: I only care that the images look amazing. How would you respond? You might say that the studio also needs consistent assets, predictable production time, responsible data practices, and a process for handling mistakes. Then connect those needs to the mechanism of the model you recommend. Explain how a generator and discriminator interact, or why a compressed latent representation can reduce diffusion computation. Finish by naming a test that could overturn your choice. That willingness to inspect evidence is one of the most useful habits you can bring from computer science into real work. Thank you for listening. Please pass your remaining questions to Irene and Mayuri, and I look forward to reading them.</a:t>
            </a:r>
          </a:p>
          <a:p/>
          <a:p>
            <a:r>
              <a:t>DO</a:t>
            </a:r>
          </a:p>
          <a:p>
            <a:r>
              <a:t>Point to the design choice, the test and the reconsideration arrow. Invite questions for Irene and Mayuri.</a:t>
            </a:r>
          </a:p>
          <a:p/>
          <a:p>
            <a:r>
              <a:t>SOURCES</a:t>
            </a:r>
          </a:p>
          <a:p>
            <a:r>
              <a:t>IB challenges; teacher request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REFERENCE</a:t>
            </a:r>
          </a:p>
          <a:p/>
          <a:p>
            <a:r>
              <a:t>SAY</a:t>
            </a:r>
          </a:p>
          <a:p>
            <a:r>
              <a:t>Reference appendix. Not part of the narration.</a:t>
            </a:r>
          </a:p>
          <a:p/>
          <a:p>
            <a:r>
              <a:t>DO</a:t>
            </a:r>
          </a:p>
          <a:p/>
          <a:p/>
          <a:p>
            <a:r>
              <a:t>SOURCES</a:t>
            </a:r>
          </a:p>
          <a:p>
            <a:r>
              <a:t>Independent teaching material; not an official IB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REFERENCE</a:t>
            </a:r>
          </a:p>
          <a:p/>
          <a:p>
            <a:r>
              <a:t>SAY</a:t>
            </a:r>
          </a:p>
          <a:p>
            <a:r>
              <a:t>Reference appendix. Not part of the narration.</a:t>
            </a:r>
          </a:p>
          <a:p/>
          <a:p>
            <a:r>
              <a:t>DO</a:t>
            </a:r>
          </a:p>
          <a:p/>
          <a:p/>
          <a:p>
            <a:r>
              <a:t>SOURCES</a:t>
            </a:r>
          </a:p>
          <a:p>
            <a:r>
              <a:t>Independent teaching material; not an official IB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REFERENCE</a:t>
            </a:r>
          </a:p>
          <a:p/>
          <a:p>
            <a:r>
              <a:t>SAY</a:t>
            </a:r>
          </a:p>
          <a:p>
            <a:r>
              <a:t>Reference appendix. Not part of the narration.</a:t>
            </a:r>
          </a:p>
          <a:p/>
          <a:p>
            <a:r>
              <a:t>DO</a:t>
            </a:r>
          </a:p>
          <a:p/>
          <a:p/>
          <a:p>
            <a:r>
              <a:t>SOURCES</a:t>
            </a:r>
          </a:p>
          <a:p>
            <a:r>
              <a:t>Independent teaching material; not an official IB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REFERENCE</a:t>
            </a:r>
          </a:p>
          <a:p/>
          <a:p>
            <a:r>
              <a:t>SAY</a:t>
            </a:r>
          </a:p>
          <a:p>
            <a:r>
              <a:t>Reference appendix. Not part of the narration.</a:t>
            </a:r>
          </a:p>
          <a:p/>
          <a:p>
            <a:r>
              <a:t>DO</a:t>
            </a:r>
          </a:p>
          <a:p/>
          <a:p/>
          <a:p>
            <a:r>
              <a:t>SOURCES</a:t>
            </a:r>
          </a:p>
          <a:p>
            <a:r>
              <a:t>Independent teaching material; not an official IB publication.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xtrose29.github.io/" TargetMode="External"/><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hyperlink" Target="https://arxiv.org/abs/2302.05543v3" TargetMode="Externa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hyperlink" Target="https://proceedings.mlr.press/v37/sohl-dickstein15.html" TargetMode="External"/><Relationship Id="rId5" Type="http://schemas.openxmlformats.org/officeDocument/2006/relationships/hyperlink" Target="https://arxiv.org/abs/2006.11239v2" TargetMode="Externa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arxiv.org/abs/2006.11239v2"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arxiv.org/abs/2208.12242v2"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3.jpg"/><Relationship Id="rId4" Type="http://schemas.openxmlformats.org/officeDocument/2006/relationships/image" Target="../media/image18.jp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arxiv.org/abs/1406.2661v1"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arxiv.org/abs/2112.10752v2"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xtrose29.github.io/" TargetMode="External"/><Relationship Id="rId3" Type="http://schemas.openxmlformats.org/officeDocument/2006/relationships/hyperlink" Target="https://arxiv.org/abs/2006.11239v2" TargetMode="External"/><Relationship Id="rId4" Type="http://schemas.openxmlformats.org/officeDocument/2006/relationships/hyperlink" Target="https://arxiv.org/abs/1406.2661v1" TargetMode="External"/><Relationship Id="rId5" Type="http://schemas.openxmlformats.org/officeDocument/2006/relationships/hyperlink" Target="https://arxiv.org/abs/1606.03498" TargetMode="External"/><Relationship Id="rId6" Type="http://schemas.openxmlformats.org/officeDocument/2006/relationships/hyperlink" Target="https://arxiv.org/abs/1312.6114" TargetMode="Externa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605.08803" TargetMode="External"/><Relationship Id="rId3" Type="http://schemas.openxmlformats.org/officeDocument/2006/relationships/hyperlink" Target="https://arxiv.org/abs/2112.10752v2" TargetMode="External"/><Relationship Id="rId4" Type="http://schemas.openxmlformats.org/officeDocument/2006/relationships/hyperlink" Target="https://arxiv.org/abs/2212.09748" TargetMode="External"/><Relationship Id="rId5" Type="http://schemas.openxmlformats.org/officeDocument/2006/relationships/hyperlink" Target="https://arxiv.org/abs/2302.05543v3" TargetMode="External"/><Relationship Id="rId6" Type="http://schemas.openxmlformats.org/officeDocument/2006/relationships/hyperlink" Target="https://arxiv.org/abs/1611.07004" TargetMode="External"/><Relationship Id="rId7" Type="http://schemas.openxmlformats.org/officeDocument/2006/relationships/hyperlink" Target="https://arxiv.org/abs/2208.12242v2" TargetMode="Externa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sk.gov.sg/ipos/questions/clglxzrrv00f8l4082ur0u5to" TargetMode="External"/><Relationship Id="rId3" Type="http://schemas.openxmlformats.org/officeDocument/2006/relationships/hyperlink" Target="https://www.copyright.gov/ai/" TargetMode="External"/><Relationship Id="rId4" Type="http://schemas.openxmlformats.org/officeDocument/2006/relationships/hyperlink" Target="https://arxiv.org/abs/2610.09294" TargetMode="External"/><Relationship Id="rId5" Type="http://schemas.openxmlformats.org/officeDocument/2006/relationships/hyperlink" Target="https://xtrose29.github.io/RT-SAFE/" TargetMode="External"/><Relationship Id="rId6" Type="http://schemas.openxmlformats.org/officeDocument/2006/relationships/hyperlink" Target="https://simworld.org/" TargetMode="External"/><Relationship Id="rId7" Type="http://schemas.openxmlformats.org/officeDocument/2006/relationships/hyperlink" Target="https://deepmind.google/models/genie/" TargetMode="Externa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orldlabs.ai/blog/marble-world-model" TargetMode="External"/><Relationship Id="rId3" Type="http://schemas.openxmlformats.org/officeDocument/2006/relationships/hyperlink" Target="https://proceedings.mlr.press/v37/sohl-dickstein15.html" TargetMode="External"/><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From noise to a creative brief</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Generative AI for image creation · UWCSEA Dover</a:t>
            </a:r>
          </a:p>
        </p:txBody>
      </p:sp>
      <p:pic>
        <p:nvPicPr>
          <p:cNvPr id="8" name="Picture 7" descr="campaign-ai.png"/>
          <p:cNvPicPr>
            <a:picLocks noChangeAspect="1"/>
          </p:cNvPicPr>
          <p:nvPr/>
        </p:nvPicPr>
        <p:blipFill>
          <a:blip r:embed="rId2"/>
          <a:stretch>
            <a:fillRect/>
          </a:stretch>
        </p:blipFill>
        <p:spPr>
          <a:xfrm>
            <a:off x="5829300" y="2240280"/>
            <a:ext cx="5829300" cy="3276600"/>
          </a:xfrm>
          <a:prstGeom prst="rect">
            <a:avLst/>
          </a:prstGeom>
        </p:spPr>
      </p:pic>
      <p:sp>
        <p:nvSpPr>
          <p:cNvPr id="9" name="TextBox 8"/>
          <p:cNvSpPr txBox="1"/>
          <p:nvPr/>
        </p:nvSpPr>
        <p:spPr>
          <a:xfrm>
            <a:off x="563880" y="2362200"/>
            <a:ext cx="4953000" cy="1760067"/>
          </a:xfrm>
          <a:prstGeom prst="rect">
            <a:avLst/>
          </a:prstGeom>
          <a:noFill/>
        </p:spPr>
        <p:txBody>
          <a:bodyPr wrap="none" lIns="0" rIns="0" tIns="0" bIns="0">
            <a:spAutoFit/>
          </a:bodyPr>
          <a:lstStyle/>
          <a:p>
            <a:pPr>
              <a:lnSpc>
                <a:spcPts val="4419"/>
              </a:lnSpc>
              <a:spcBef>
                <a:spcPts val="0"/>
              </a:spcBef>
              <a:spcAft>
                <a:spcPts val="0"/>
              </a:spcAft>
              <a:defRPr sz="3479" b="1">
                <a:solidFill>
                  <a:srgbClr val="F5F2EA"/>
                </a:solidFill>
                <a:latin typeface="DejaVu Sans"/>
              </a:defRPr>
            </a:pPr>
            <a:r>
              <a:t>Can an image</a:t>
            </a:r>
          </a:p>
          <a:p>
            <a:pPr>
              <a:lnSpc>
                <a:spcPts val="4419"/>
              </a:lnSpc>
              <a:spcBef>
                <a:spcPts val="0"/>
              </a:spcBef>
              <a:spcAft>
                <a:spcPts val="0"/>
              </a:spcAft>
              <a:defRPr sz="3479" b="1">
                <a:solidFill>
                  <a:srgbClr val="F5F2EA"/>
                </a:solidFill>
                <a:latin typeface="DejaVu Sans"/>
              </a:defRPr>
            </a:pPr>
            <a:r>
              <a:t>look right</a:t>
            </a:r>
          </a:p>
          <a:p>
            <a:pPr>
              <a:lnSpc>
                <a:spcPts val="4419"/>
              </a:lnSpc>
              <a:spcBef>
                <a:spcPts val="0"/>
              </a:spcBef>
              <a:spcAft>
                <a:spcPts val="0"/>
              </a:spcAft>
              <a:defRPr sz="3479" b="1">
                <a:solidFill>
                  <a:srgbClr val="F5F2EA"/>
                </a:solidFill>
                <a:latin typeface="DejaVu Sans"/>
              </a:defRPr>
            </a:pPr>
            <a:r>
              <a:t>and still be wrong?</a:t>
            </a:r>
          </a:p>
        </p:txBody>
      </p:sp>
      <p:sp>
        <p:nvSpPr>
          <p:cNvPr id="10" name="TextBox 9"/>
          <p:cNvSpPr txBox="1"/>
          <p:nvPr/>
        </p:nvSpPr>
        <p:spPr>
          <a:xfrm>
            <a:off x="594360" y="5036820"/>
            <a:ext cx="49530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7AE0C5"/>
                </a:solidFill>
                <a:latin typeface="DejaVu Sans"/>
              </a:defRPr>
            </a:pPr>
            <a:r>
              <a:t>Tianruo Rose Xu</a:t>
            </a:r>
          </a:p>
        </p:txBody>
      </p:sp>
      <p:cxnSp>
        <p:nvCxnSpPr>
          <p:cNvPr id="11" name="Connector 1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cover; Rose website</a:t>
            </a:r>
          </a:p>
        </p:txBody>
      </p:sp>
      <p:sp>
        <p:nvSpPr>
          <p:cNvPr id="13" name="TextBox 1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Hi, I’m Rose.</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From UWCSEA Dover to Cornell</a:t>
            </a:r>
          </a:p>
        </p:txBody>
      </p:sp>
      <p:sp>
        <p:nvSpPr>
          <p:cNvPr id="8" name="TextBox 7"/>
          <p:cNvSpPr txBox="1"/>
          <p:nvPr/>
        </p:nvSpPr>
        <p:spPr>
          <a:xfrm>
            <a:off x="556260" y="1866899"/>
            <a:ext cx="10972800" cy="327812"/>
          </a:xfrm>
          <a:prstGeom prst="rect">
            <a:avLst/>
          </a:prstGeom>
          <a:noFill/>
        </p:spPr>
        <p:txBody>
          <a:bodyPr wrap="none" lIns="0" rIns="0" tIns="0" bIns="0">
            <a:spAutoFit/>
          </a:bodyPr>
          <a:lstStyle/>
          <a:p>
            <a:pPr>
              <a:lnSpc>
                <a:spcPts val="1981"/>
              </a:lnSpc>
              <a:spcBef>
                <a:spcPts val="0"/>
              </a:spcBef>
              <a:spcAft>
                <a:spcPts val="0"/>
              </a:spcAft>
              <a:defRPr sz="1560" b="1">
                <a:solidFill>
                  <a:srgbClr val="007F7C"/>
                </a:solidFill>
                <a:latin typeface="DejaVu Sans"/>
              </a:defRPr>
            </a:pPr>
            <a:r>
              <a:rPr>
                <a:hlinkClick r:id="rId2"/>
              </a:rPr>
              <a:t>Personal website · https://xtrose29.github.io/</a:t>
            </a:r>
          </a:p>
        </p:txBody>
      </p:sp>
      <p:pic>
        <p:nvPicPr>
          <p:cNvPr id="9" name="Picture 8" descr="rose.png"/>
          <p:cNvPicPr>
            <a:picLocks noChangeAspect="1"/>
          </p:cNvPicPr>
          <p:nvPr/>
        </p:nvPicPr>
        <p:blipFill>
          <a:blip r:embed="rId3"/>
          <a:srcRect l="16667" r="16667"/>
          <a:stretch>
            <a:fillRect/>
          </a:stretch>
        </p:blipFill>
        <p:spPr>
          <a:xfrm>
            <a:off x="647700" y="2286000"/>
            <a:ext cx="3048000" cy="3048000"/>
          </a:xfrm>
          <a:prstGeom prst="rect">
            <a:avLst/>
          </a:prstGeom>
        </p:spPr>
      </p:pic>
      <p:sp>
        <p:nvSpPr>
          <p:cNvPr id="10" name="TextBox 9"/>
          <p:cNvSpPr txBox="1"/>
          <p:nvPr/>
        </p:nvSpPr>
        <p:spPr>
          <a:xfrm>
            <a:off x="647700" y="5440680"/>
            <a:ext cx="32766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Tianruo Rose Xu</a:t>
            </a:r>
          </a:p>
        </p:txBody>
      </p:sp>
      <p:sp>
        <p:nvSpPr>
          <p:cNvPr id="11" name="TextBox 10"/>
          <p:cNvSpPr txBox="1"/>
          <p:nvPr/>
        </p:nvSpPr>
        <p:spPr>
          <a:xfrm>
            <a:off x="647700" y="5791200"/>
            <a:ext cx="32766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53696A"/>
                </a:solidFill>
                <a:latin typeface="DejaVu Sans"/>
              </a:defRPr>
            </a:pPr>
            <a:r>
              <a:t>Rawlings Presidential</a:t>
            </a:r>
          </a:p>
          <a:p>
            <a:pPr>
              <a:lnSpc>
                <a:spcPts val="1600"/>
              </a:lnSpc>
              <a:spcBef>
                <a:spcPts val="0"/>
              </a:spcBef>
              <a:spcAft>
                <a:spcPts val="0"/>
              </a:spcAft>
              <a:defRPr sz="1260" b="0">
                <a:solidFill>
                  <a:srgbClr val="53696A"/>
                </a:solidFill>
                <a:latin typeface="DejaVu Sans"/>
              </a:defRPr>
            </a:pPr>
            <a:r>
              <a:t>Research Scholar</a:t>
            </a:r>
          </a:p>
        </p:txBody>
      </p:sp>
      <p:sp>
        <p:nvSpPr>
          <p:cNvPr id="12" name="Rounded Rectangle 11"/>
          <p:cNvSpPr/>
          <p:nvPr/>
        </p:nvSpPr>
        <p:spPr>
          <a:xfrm>
            <a:off x="4229100" y="2286000"/>
            <a:ext cx="7429500" cy="14401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9600" y="2461260"/>
            <a:ext cx="33528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UWCSEA Dover</a:t>
            </a:r>
          </a:p>
        </p:txBody>
      </p:sp>
      <p:sp>
        <p:nvSpPr>
          <p:cNvPr id="14" name="TextBox 13"/>
          <p:cNvSpPr txBox="1"/>
          <p:nvPr/>
        </p:nvSpPr>
        <p:spPr>
          <a:xfrm>
            <a:off x="4419600" y="2849880"/>
            <a:ext cx="33528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Graduated May 2024</a:t>
            </a:r>
          </a:p>
        </p:txBody>
      </p:sp>
      <p:sp>
        <p:nvSpPr>
          <p:cNvPr id="15" name="TextBox 14"/>
          <p:cNvSpPr txBox="1"/>
          <p:nvPr/>
        </p:nvSpPr>
        <p:spPr>
          <a:xfrm>
            <a:off x="8039099" y="2461260"/>
            <a:ext cx="33528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Cornell University</a:t>
            </a:r>
          </a:p>
        </p:txBody>
      </p:sp>
      <p:sp>
        <p:nvSpPr>
          <p:cNvPr id="16" name="TextBox 15"/>
          <p:cNvSpPr txBox="1"/>
          <p:nvPr/>
        </p:nvSpPr>
        <p:spPr>
          <a:xfrm>
            <a:off x="8039099" y="2849880"/>
            <a:ext cx="33528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Computer Science &amp; Mathematics</a:t>
            </a:r>
          </a:p>
        </p:txBody>
      </p:sp>
      <p:sp>
        <p:nvSpPr>
          <p:cNvPr id="17" name="TextBox 16"/>
          <p:cNvSpPr txBox="1"/>
          <p:nvPr/>
        </p:nvSpPr>
        <p:spPr>
          <a:xfrm>
            <a:off x="8039099" y="3154680"/>
            <a:ext cx="33528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Undergraduate</a:t>
            </a:r>
          </a:p>
        </p:txBody>
      </p:sp>
      <p:sp>
        <p:nvSpPr>
          <p:cNvPr id="18" name="TextBox 17"/>
          <p:cNvSpPr txBox="1"/>
          <p:nvPr/>
        </p:nvSpPr>
        <p:spPr>
          <a:xfrm>
            <a:off x="8039099" y="3398520"/>
            <a:ext cx="33528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007F7C"/>
                </a:solidFill>
                <a:latin typeface="DejaVu Sans"/>
              </a:defRPr>
            </a:pPr>
            <a:r>
              <a:t>Expected graduation · May 2027</a:t>
            </a:r>
          </a:p>
        </p:txBody>
      </p:sp>
      <p:cxnSp>
        <p:nvCxnSpPr>
          <p:cNvPr id="19" name="Connector 18"/>
          <p:cNvCxnSpPr/>
          <p:nvPr/>
        </p:nvCxnSpPr>
        <p:spPr>
          <a:xfrm>
            <a:off x="7848600" y="2491740"/>
            <a:ext cx="0" cy="105918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67200" y="3931920"/>
            <a:ext cx="7162800" cy="289102"/>
          </a:xfrm>
          <a:prstGeom prst="rect">
            <a:avLst/>
          </a:prstGeom>
          <a:noFill/>
        </p:spPr>
        <p:txBody>
          <a:bodyPr wrap="none" lIns="0" rIns="0" tIns="0" bIns="0">
            <a:spAutoFit/>
          </a:bodyPr>
          <a:lstStyle/>
          <a:p>
            <a:pPr>
              <a:lnSpc>
                <a:spcPts val="1676"/>
              </a:lnSpc>
              <a:spcBef>
                <a:spcPts val="0"/>
              </a:spcBef>
              <a:spcAft>
                <a:spcPts val="0"/>
              </a:spcAft>
              <a:defRPr sz="1320" b="1">
                <a:solidFill>
                  <a:srgbClr val="007F7C"/>
                </a:solidFill>
                <a:latin typeface="DejaVu Sans"/>
              </a:defRPr>
            </a:pPr>
            <a:r>
              <a:t>MY RESEARCH</a:t>
            </a:r>
          </a:p>
        </p:txBody>
      </p:sp>
      <p:sp>
        <p:nvSpPr>
          <p:cNvPr id="21" name="Oval 20"/>
          <p:cNvSpPr/>
          <p:nvPr/>
        </p:nvSpPr>
        <p:spPr>
          <a:xfrm>
            <a:off x="4282440" y="4343400"/>
            <a:ext cx="91440" cy="9144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3420" y="4251960"/>
            <a:ext cx="70104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Trustworthy AI</a:t>
            </a:r>
          </a:p>
        </p:txBody>
      </p:sp>
      <p:sp>
        <p:nvSpPr>
          <p:cNvPr id="23" name="TextBox 22"/>
          <p:cNvSpPr txBox="1"/>
          <p:nvPr/>
        </p:nvSpPr>
        <p:spPr>
          <a:xfrm>
            <a:off x="4503420" y="4549140"/>
            <a:ext cx="70104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Uncertainty, factual accuracy and how we evaluate AI</a:t>
            </a:r>
          </a:p>
        </p:txBody>
      </p:sp>
      <p:sp>
        <p:nvSpPr>
          <p:cNvPr id="24" name="Oval 23"/>
          <p:cNvSpPr/>
          <p:nvPr/>
        </p:nvSpPr>
        <p:spPr>
          <a:xfrm>
            <a:off x="4282440" y="4953000"/>
            <a:ext cx="91440" cy="9144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03420" y="4861560"/>
            <a:ext cx="70104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Multimodal AI</a:t>
            </a:r>
          </a:p>
        </p:txBody>
      </p:sp>
      <p:sp>
        <p:nvSpPr>
          <p:cNvPr id="26" name="TextBox 25"/>
          <p:cNvSpPr txBox="1"/>
          <p:nvPr/>
        </p:nvSpPr>
        <p:spPr>
          <a:xfrm>
            <a:off x="4503420" y="5158740"/>
            <a:ext cx="70104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Connecting language, images and intelligent agents</a:t>
            </a:r>
          </a:p>
        </p:txBody>
      </p:sp>
      <p:sp>
        <p:nvSpPr>
          <p:cNvPr id="27" name="Oval 26"/>
          <p:cNvSpPr/>
          <p:nvPr/>
        </p:nvSpPr>
        <p:spPr>
          <a:xfrm>
            <a:off x="4282440" y="5562600"/>
            <a:ext cx="91440" cy="9144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3420" y="5471160"/>
            <a:ext cx="70104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SimWorld / RT-SAFE</a:t>
            </a:r>
          </a:p>
        </p:txBody>
      </p:sp>
      <p:sp>
        <p:nvSpPr>
          <p:cNvPr id="29" name="TextBox 28"/>
          <p:cNvSpPr txBox="1"/>
          <p:nvPr/>
        </p:nvSpPr>
        <p:spPr>
          <a:xfrm>
            <a:off x="4503420" y="5768340"/>
            <a:ext cx="70104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Testing agent safety in a world that keeps moving</a:t>
            </a:r>
          </a:p>
        </p:txBody>
      </p:sp>
      <p:cxnSp>
        <p:nvCxnSpPr>
          <p:cNvPr id="30" name="Connector 2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Rose’s supplied education dates; https://xtrose29.github.io/</a:t>
            </a:r>
          </a:p>
        </p:txBody>
      </p:sp>
      <p:sp>
        <p:nvSpPr>
          <p:cNvPr id="32" name="TextBox 3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One question. Five steps.</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Which image-generation workflow should Visionary Studios trust?</a:t>
            </a:r>
          </a:p>
        </p:txBody>
      </p:sp>
      <p:pic>
        <p:nvPicPr>
          <p:cNvPr id="8" name="Picture 7" descr="campaign-ai.png"/>
          <p:cNvPicPr>
            <a:picLocks noChangeAspect="1"/>
          </p:cNvPicPr>
          <p:nvPr/>
        </p:nvPicPr>
        <p:blipFill>
          <a:blip r:embed="rId2"/>
          <a:stretch>
            <a:fillRect/>
          </a:stretch>
        </p:blipFill>
        <p:spPr>
          <a:xfrm>
            <a:off x="533400" y="2400370"/>
            <a:ext cx="4305300" cy="2423018"/>
          </a:xfrm>
          <a:prstGeom prst="rect">
            <a:avLst/>
          </a:prstGeom>
        </p:spPr>
      </p:pic>
      <p:sp>
        <p:nvSpPr>
          <p:cNvPr id="9" name="TextBox 8"/>
          <p:cNvSpPr txBox="1"/>
          <p:nvPr/>
        </p:nvSpPr>
        <p:spPr>
          <a:xfrm>
            <a:off x="647700" y="5036820"/>
            <a:ext cx="4190999" cy="308457"/>
          </a:xfrm>
          <a:prstGeom prst="rect">
            <a:avLst/>
          </a:prstGeom>
          <a:noFill/>
        </p:spPr>
        <p:txBody>
          <a:bodyPr wrap="none" lIns="0" rIns="0" tIns="0" bIns="0">
            <a:spAutoFit/>
          </a:bodyPr>
          <a:lstStyle/>
          <a:p>
            <a:pPr>
              <a:lnSpc>
                <a:spcPts val="1828"/>
              </a:lnSpc>
              <a:spcBef>
                <a:spcPts val="0"/>
              </a:spcBef>
              <a:spcAft>
                <a:spcPts val="0"/>
              </a:spcAft>
              <a:defRPr sz="1439" b="1">
                <a:solidFill>
                  <a:srgbClr val="7AE0C5"/>
                </a:solidFill>
                <a:latin typeface="DejaVu Sans"/>
              </a:defRPr>
            </a:pPr>
            <a:r>
              <a:t>ONE CAMPAIGN</a:t>
            </a:r>
          </a:p>
        </p:txBody>
      </p:sp>
      <p:sp>
        <p:nvSpPr>
          <p:cNvPr id="10" name="TextBox 9"/>
          <p:cNvSpPr txBox="1"/>
          <p:nvPr/>
        </p:nvSpPr>
        <p:spPr>
          <a:xfrm>
            <a:off x="647700" y="5402580"/>
            <a:ext cx="42291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F5F2EA"/>
                </a:solidFill>
                <a:latin typeface="DejaVu Sans"/>
              </a:defRPr>
            </a:pPr>
            <a:r>
              <a:t>Control → evidence → choice</a:t>
            </a:r>
          </a:p>
        </p:txBody>
      </p:sp>
      <p:sp>
        <p:nvSpPr>
          <p:cNvPr id="11" name="Oval 10"/>
          <p:cNvSpPr/>
          <p:nvPr/>
        </p:nvSpPr>
        <p:spPr>
          <a:xfrm>
            <a:off x="5311140" y="2278380"/>
            <a:ext cx="426720" cy="426720"/>
          </a:xfrm>
          <a:prstGeom prst="ellipse">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55920" y="2331720"/>
            <a:ext cx="381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1</a:t>
            </a:r>
          </a:p>
        </p:txBody>
      </p:sp>
      <p:sp>
        <p:nvSpPr>
          <p:cNvPr id="13" name="TextBox 12"/>
          <p:cNvSpPr txBox="1"/>
          <p:nvPr/>
        </p:nvSpPr>
        <p:spPr>
          <a:xfrm>
            <a:off x="5943600" y="2240280"/>
            <a:ext cx="5638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F5F2EA"/>
                </a:solidFill>
                <a:latin typeface="DejaVu Sans"/>
              </a:defRPr>
            </a:pPr>
            <a:r>
              <a:t>Brief &amp; control</a:t>
            </a:r>
          </a:p>
        </p:txBody>
      </p:sp>
      <p:sp>
        <p:nvSpPr>
          <p:cNvPr id="14" name="TextBox 13"/>
          <p:cNvSpPr txBox="1"/>
          <p:nvPr/>
        </p:nvSpPr>
        <p:spPr>
          <a:xfrm>
            <a:off x="5943600" y="2560320"/>
            <a:ext cx="56388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BDD1C9"/>
                </a:solidFill>
                <a:latin typeface="DejaVu Sans"/>
              </a:defRPr>
            </a:pPr>
            <a:r>
              <a:t>What must our image do?</a:t>
            </a:r>
          </a:p>
        </p:txBody>
      </p:sp>
      <p:sp>
        <p:nvSpPr>
          <p:cNvPr id="15" name="Oval 14"/>
          <p:cNvSpPr/>
          <p:nvPr/>
        </p:nvSpPr>
        <p:spPr>
          <a:xfrm>
            <a:off x="5311140" y="3040380"/>
            <a:ext cx="426720" cy="426720"/>
          </a:xfrm>
          <a:prstGeom prst="ellipse">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55920" y="3093720"/>
            <a:ext cx="381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2</a:t>
            </a:r>
          </a:p>
        </p:txBody>
      </p:sp>
      <p:sp>
        <p:nvSpPr>
          <p:cNvPr id="17" name="TextBox 16"/>
          <p:cNvSpPr txBox="1"/>
          <p:nvPr/>
        </p:nvSpPr>
        <p:spPr>
          <a:xfrm>
            <a:off x="5943600" y="3002280"/>
            <a:ext cx="5638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F5F2EA"/>
                </a:solidFill>
                <a:latin typeface="DejaVu Sans"/>
              </a:defRPr>
            </a:pPr>
            <a:r>
              <a:t>How diffusion works</a:t>
            </a:r>
          </a:p>
        </p:txBody>
      </p:sp>
      <p:sp>
        <p:nvSpPr>
          <p:cNvPr id="18" name="TextBox 17"/>
          <p:cNvSpPr txBox="1"/>
          <p:nvPr/>
        </p:nvSpPr>
        <p:spPr>
          <a:xfrm>
            <a:off x="5943600" y="3322320"/>
            <a:ext cx="56388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BDD1C9"/>
                </a:solidFill>
                <a:latin typeface="DejaVu Sans"/>
              </a:defRPr>
            </a:pPr>
            <a:r>
              <a:t>How does noise become an image?</a:t>
            </a:r>
          </a:p>
        </p:txBody>
      </p:sp>
      <p:sp>
        <p:nvSpPr>
          <p:cNvPr id="19" name="Oval 18"/>
          <p:cNvSpPr/>
          <p:nvPr/>
        </p:nvSpPr>
        <p:spPr>
          <a:xfrm>
            <a:off x="5311140" y="3802380"/>
            <a:ext cx="426720" cy="426720"/>
          </a:xfrm>
          <a:prstGeom prst="ellipse">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55920" y="3855720"/>
            <a:ext cx="381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3</a:t>
            </a:r>
          </a:p>
        </p:txBody>
      </p:sp>
      <p:sp>
        <p:nvSpPr>
          <p:cNvPr id="21" name="TextBox 20"/>
          <p:cNvSpPr txBox="1"/>
          <p:nvPr/>
        </p:nvSpPr>
        <p:spPr>
          <a:xfrm>
            <a:off x="5943600" y="3764279"/>
            <a:ext cx="5638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F5F2EA"/>
                </a:solidFill>
                <a:latin typeface="DejaVu Sans"/>
              </a:defRPr>
            </a:pPr>
            <a:r>
              <a:t>Evidence &amp; trust</a:t>
            </a:r>
          </a:p>
        </p:txBody>
      </p:sp>
      <p:sp>
        <p:nvSpPr>
          <p:cNvPr id="22" name="TextBox 21"/>
          <p:cNvSpPr txBox="1"/>
          <p:nvPr/>
        </p:nvSpPr>
        <p:spPr>
          <a:xfrm>
            <a:off x="5943600" y="4084320"/>
            <a:ext cx="56388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BDD1C9"/>
                </a:solidFill>
                <a:latin typeface="DejaVu Sans"/>
              </a:defRPr>
            </a:pPr>
            <a:r>
              <a:t>What makes a result usable?</a:t>
            </a:r>
          </a:p>
        </p:txBody>
      </p:sp>
      <p:sp>
        <p:nvSpPr>
          <p:cNvPr id="23" name="Oval 22"/>
          <p:cNvSpPr/>
          <p:nvPr/>
        </p:nvSpPr>
        <p:spPr>
          <a:xfrm>
            <a:off x="5311140" y="4564380"/>
            <a:ext cx="426720" cy="426720"/>
          </a:xfrm>
          <a:prstGeom prst="ellipse">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55920" y="4617720"/>
            <a:ext cx="381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4</a:t>
            </a:r>
          </a:p>
        </p:txBody>
      </p:sp>
      <p:sp>
        <p:nvSpPr>
          <p:cNvPr id="25" name="TextBox 24"/>
          <p:cNvSpPr txBox="1"/>
          <p:nvPr/>
        </p:nvSpPr>
        <p:spPr>
          <a:xfrm>
            <a:off x="5943600" y="4526280"/>
            <a:ext cx="5638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F5F2EA"/>
                </a:solidFill>
                <a:latin typeface="DejaVu Sans"/>
              </a:defRPr>
            </a:pPr>
            <a:r>
              <a:t>Model choices · HL</a:t>
            </a:r>
          </a:p>
        </p:txBody>
      </p:sp>
      <p:sp>
        <p:nvSpPr>
          <p:cNvPr id="26" name="TextBox 25"/>
          <p:cNvSpPr txBox="1"/>
          <p:nvPr/>
        </p:nvSpPr>
        <p:spPr>
          <a:xfrm>
            <a:off x="5943600" y="4846320"/>
            <a:ext cx="56388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BDD1C9"/>
                </a:solidFill>
                <a:latin typeface="DejaVu Sans"/>
              </a:defRPr>
            </a:pPr>
            <a:r>
              <a:t>Which design fits the bottleneck?</a:t>
            </a:r>
          </a:p>
        </p:txBody>
      </p:sp>
      <p:sp>
        <p:nvSpPr>
          <p:cNvPr id="27" name="Oval 26"/>
          <p:cNvSpPr/>
          <p:nvPr/>
        </p:nvSpPr>
        <p:spPr>
          <a:xfrm>
            <a:off x="5311140" y="5326380"/>
            <a:ext cx="426720" cy="42672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55920" y="5379720"/>
            <a:ext cx="381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5</a:t>
            </a:r>
          </a:p>
        </p:txBody>
      </p:sp>
      <p:sp>
        <p:nvSpPr>
          <p:cNvPr id="29" name="TextBox 28"/>
          <p:cNvSpPr txBox="1"/>
          <p:nvPr/>
        </p:nvSpPr>
        <p:spPr>
          <a:xfrm>
            <a:off x="5943600" y="5288280"/>
            <a:ext cx="5638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F5F2EA"/>
                </a:solidFill>
                <a:latin typeface="DejaVu Sans"/>
              </a:defRPr>
            </a:pPr>
            <a:r>
              <a:t>Your recommendation</a:t>
            </a:r>
          </a:p>
        </p:txBody>
      </p:sp>
      <p:sp>
        <p:nvSpPr>
          <p:cNvPr id="30" name="TextBox 29"/>
          <p:cNvSpPr txBox="1"/>
          <p:nvPr/>
        </p:nvSpPr>
        <p:spPr>
          <a:xfrm>
            <a:off x="5943600" y="5608320"/>
            <a:ext cx="56388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BDD1C9"/>
                </a:solidFill>
                <a:latin typeface="DejaVu Sans"/>
              </a:defRPr>
            </a:pPr>
            <a:r>
              <a:t>What should the studio pilot?</a:t>
            </a:r>
          </a:p>
        </p:txBody>
      </p:sp>
      <p:cxnSp>
        <p:nvCxnSpPr>
          <p:cNvPr id="31" name="Connector 3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case study · Visionary Studios · original teaching framework</a:t>
            </a:r>
          </a:p>
        </p:txBody>
      </p:sp>
      <p:sp>
        <p:nvSpPr>
          <p:cNvPr id="33" name="TextBox 3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Your brief: one campaign, many decisions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Visionary Studios · a fictional bottle campaign</a:t>
            </a:r>
          </a:p>
        </p:txBody>
      </p:sp>
      <p:pic>
        <p:nvPicPr>
          <p:cNvPr id="14" name="Picture 13" descr="campaign-ai.png"/>
          <p:cNvPicPr>
            <a:picLocks noChangeAspect="1"/>
          </p:cNvPicPr>
          <p:nvPr/>
        </p:nvPicPr>
        <p:blipFill>
          <a:blip r:embed="rId2"/>
          <a:stretch>
            <a:fillRect/>
          </a:stretch>
        </p:blipFill>
        <p:spPr>
          <a:xfrm>
            <a:off x="547935" y="2286000"/>
            <a:ext cx="6905129" cy="3886199"/>
          </a:xfrm>
          <a:prstGeom prst="rect">
            <a:avLst/>
          </a:prstGeom>
        </p:spPr>
      </p:pic>
      <p:sp>
        <p:nvSpPr>
          <p:cNvPr id="15" name="Rounded Rectangle 14"/>
          <p:cNvSpPr/>
          <p:nvPr/>
        </p:nvSpPr>
        <p:spPr>
          <a:xfrm>
            <a:off x="7924799" y="2324100"/>
            <a:ext cx="3733799" cy="1066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2920" y="2499360"/>
            <a:ext cx="3352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01 · Advert</a:t>
            </a:r>
          </a:p>
        </p:txBody>
      </p:sp>
      <p:sp>
        <p:nvSpPr>
          <p:cNvPr id="17" name="TextBox 16"/>
          <p:cNvSpPr txBox="1"/>
          <p:nvPr/>
        </p:nvSpPr>
        <p:spPr>
          <a:xfrm>
            <a:off x="8122920" y="2926080"/>
            <a:ext cx="335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Match the brief</a:t>
            </a:r>
          </a:p>
        </p:txBody>
      </p:sp>
      <p:sp>
        <p:nvSpPr>
          <p:cNvPr id="18" name="Rounded Rectangle 17"/>
          <p:cNvSpPr/>
          <p:nvPr/>
        </p:nvSpPr>
        <p:spPr>
          <a:xfrm>
            <a:off x="7924799" y="3528060"/>
            <a:ext cx="3733799" cy="1066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2920" y="3703320"/>
            <a:ext cx="3352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02 · Concept art</a:t>
            </a:r>
          </a:p>
        </p:txBody>
      </p:sp>
      <p:sp>
        <p:nvSpPr>
          <p:cNvPr id="20" name="TextBox 19"/>
          <p:cNvSpPr txBox="1"/>
          <p:nvPr/>
        </p:nvSpPr>
        <p:spPr>
          <a:xfrm>
            <a:off x="8122920" y="4130040"/>
            <a:ext cx="335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Explore alternatives</a:t>
            </a:r>
          </a:p>
        </p:txBody>
      </p:sp>
      <p:sp>
        <p:nvSpPr>
          <p:cNvPr id="21" name="Rounded Rectangle 20"/>
          <p:cNvSpPr/>
          <p:nvPr/>
        </p:nvSpPr>
        <p:spPr>
          <a:xfrm>
            <a:off x="7924799" y="4732020"/>
            <a:ext cx="3733799" cy="1066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2920" y="4907280"/>
            <a:ext cx="33528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03 · Campaign</a:t>
            </a:r>
          </a:p>
        </p:txBody>
      </p:sp>
      <p:sp>
        <p:nvSpPr>
          <p:cNvPr id="23" name="TextBox 22"/>
          <p:cNvSpPr txBox="1"/>
          <p:nvPr/>
        </p:nvSpPr>
        <p:spPr>
          <a:xfrm>
            <a:off x="8122920" y="5334000"/>
            <a:ext cx="335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Repeat consistently</a:t>
            </a:r>
          </a:p>
        </p:txBody>
      </p:sp>
      <p:cxnSp>
        <p:nvCxnSpPr>
          <p:cNvPr id="24" name="Connector 23"/>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3, 7</a:t>
            </a:r>
          </a:p>
        </p:txBody>
      </p:sp>
      <p:sp>
        <p:nvSpPr>
          <p:cNvPr id="26" name="TextBox 25"/>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What if you could enter the image?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Google DeepMind · Genie 3 · official demonstration</a:t>
            </a:r>
          </a:p>
        </p:txBody>
      </p:sp>
      <p:pic>
        <p:nvPicPr>
          <p:cNvPr id="14" name="Picture 13" descr="genie-demo.jpg"/>
          <p:cNvPicPr>
            <a:picLocks noChangeAspect="1"/>
          </p:cNvPicPr>
          <p:nvPr/>
        </p:nvPicPr>
        <p:blipFill>
          <a:blip r:embed="rId2"/>
          <a:stretch>
            <a:fillRect/>
          </a:stretch>
        </p:blipFill>
        <p:spPr>
          <a:xfrm>
            <a:off x="533400" y="2286000"/>
            <a:ext cx="6858000" cy="3857625"/>
          </a:xfrm>
          <a:prstGeom prst="rect">
            <a:avLst/>
          </a:prstGeom>
        </p:spPr>
      </p:pic>
      <p:sp>
        <p:nvSpPr>
          <p:cNvPr id="15" name="TextBox 14"/>
          <p:cNvSpPr txBox="1"/>
          <p:nvPr/>
        </p:nvSpPr>
        <p:spPr>
          <a:xfrm>
            <a:off x="8077200" y="244602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01</a:t>
            </a:r>
          </a:p>
        </p:txBody>
      </p:sp>
      <p:sp>
        <p:nvSpPr>
          <p:cNvPr id="16" name="TextBox 15"/>
          <p:cNvSpPr txBox="1"/>
          <p:nvPr/>
        </p:nvSpPr>
        <p:spPr>
          <a:xfrm>
            <a:off x="8077200" y="272796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Actions guide what comes</a:t>
            </a:r>
          </a:p>
          <a:p>
            <a:pPr>
              <a:lnSpc>
                <a:spcPts val="2362"/>
              </a:lnSpc>
              <a:spcBef>
                <a:spcPts val="0"/>
              </a:spcBef>
              <a:spcAft>
                <a:spcPts val="0"/>
              </a:spcAft>
              <a:defRPr sz="1859" b="1">
                <a:solidFill>
                  <a:srgbClr val="142F35"/>
                </a:solidFill>
                <a:latin typeface="DejaVu Sans"/>
              </a:defRPr>
            </a:pPr>
            <a:r>
              <a:t>next</a:t>
            </a:r>
          </a:p>
        </p:txBody>
      </p:sp>
      <p:sp>
        <p:nvSpPr>
          <p:cNvPr id="17" name="TextBox 16"/>
          <p:cNvSpPr txBox="1"/>
          <p:nvPr/>
        </p:nvSpPr>
        <p:spPr>
          <a:xfrm>
            <a:off x="8077200" y="349758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02</a:t>
            </a:r>
          </a:p>
        </p:txBody>
      </p:sp>
      <p:sp>
        <p:nvSpPr>
          <p:cNvPr id="18" name="TextBox 17"/>
          <p:cNvSpPr txBox="1"/>
          <p:nvPr/>
        </p:nvSpPr>
        <p:spPr>
          <a:xfrm>
            <a:off x="8077200" y="377952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Does the world stay</a:t>
            </a:r>
          </a:p>
          <a:p>
            <a:pPr>
              <a:lnSpc>
                <a:spcPts val="2362"/>
              </a:lnSpc>
              <a:spcBef>
                <a:spcPts val="0"/>
              </a:spcBef>
              <a:spcAft>
                <a:spcPts val="0"/>
              </a:spcAft>
              <a:defRPr sz="1859" b="1">
                <a:solidFill>
                  <a:srgbClr val="142F35"/>
                </a:solidFill>
                <a:latin typeface="DejaVu Sans"/>
              </a:defRPr>
            </a:pPr>
            <a:r>
              <a:t>consistent?</a:t>
            </a:r>
          </a:p>
        </p:txBody>
      </p:sp>
      <p:sp>
        <p:nvSpPr>
          <p:cNvPr id="19" name="TextBox 18"/>
          <p:cNvSpPr txBox="1"/>
          <p:nvPr/>
        </p:nvSpPr>
        <p:spPr>
          <a:xfrm>
            <a:off x="8077200" y="454914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03</a:t>
            </a:r>
          </a:p>
        </p:txBody>
      </p:sp>
      <p:sp>
        <p:nvSpPr>
          <p:cNvPr id="20" name="TextBox 19"/>
          <p:cNvSpPr txBox="1"/>
          <p:nvPr/>
        </p:nvSpPr>
        <p:spPr>
          <a:xfrm>
            <a:off x="8077200" y="483108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A demo is a starting point</a:t>
            </a:r>
          </a:p>
          <a:p>
            <a:pPr>
              <a:lnSpc>
                <a:spcPts val="2362"/>
              </a:lnSpc>
              <a:spcBef>
                <a:spcPts val="0"/>
              </a:spcBef>
              <a:spcAft>
                <a:spcPts val="0"/>
              </a:spcAft>
              <a:defRPr sz="1859" b="1">
                <a:solidFill>
                  <a:srgbClr val="142F35"/>
                </a:solidFill>
                <a:latin typeface="DejaVu Sans"/>
              </a:defRPr>
            </a:pPr>
            <a:r>
              <a:t>for testing</a:t>
            </a:r>
          </a:p>
        </p:txBody>
      </p:sp>
      <p:sp>
        <p:nvSpPr>
          <p:cNvPr id="21" name="TextBox 20"/>
          <p:cNvSpPr txBox="1"/>
          <p:nvPr/>
        </p:nvSpPr>
        <p:spPr>
          <a:xfrm>
            <a:off x="8077200" y="5699760"/>
            <a:ext cx="3505200" cy="521360"/>
          </a:xfrm>
          <a:prstGeom prst="rect">
            <a:avLst/>
          </a:prstGeom>
          <a:noFill/>
        </p:spPr>
        <p:txBody>
          <a:bodyPr wrap="none" lIns="0" rIns="0" tIns="0" bIns="0">
            <a:spAutoFit/>
          </a:bodyPr>
          <a:lstStyle/>
          <a:p>
            <a:pPr>
              <a:lnSpc>
                <a:spcPts val="1752"/>
              </a:lnSpc>
              <a:spcBef>
                <a:spcPts val="0"/>
              </a:spcBef>
              <a:spcAft>
                <a:spcPts val="0"/>
              </a:spcAft>
              <a:defRPr sz="1380" b="0">
                <a:solidFill>
                  <a:srgbClr val="007F7C"/>
                </a:solidFill>
                <a:latin typeface="DejaVu Sans"/>
              </a:defRPr>
            </a:pPr>
            <a:r>
              <a:t>Watch the short clip.</a:t>
            </a:r>
          </a:p>
          <a:p>
            <a:pPr>
              <a:lnSpc>
                <a:spcPts val="1752"/>
              </a:lnSpc>
              <a:spcBef>
                <a:spcPts val="0"/>
              </a:spcBef>
              <a:spcAft>
                <a:spcPts val="0"/>
              </a:spcAft>
              <a:defRPr sz="1380" b="0">
                <a:solidFill>
                  <a:srgbClr val="007F7C"/>
                </a:solidFill>
                <a:latin typeface="DejaVu Sans"/>
              </a:defRPr>
            </a:pPr>
            <a:r>
              <a:t>What would you test?</a:t>
            </a:r>
          </a:p>
        </p:txBody>
      </p:sp>
      <p:sp>
        <p:nvSpPr>
          <p:cNvPr id="22" name="TextBox 21"/>
          <p:cNvSpPr txBox="1"/>
          <p:nvPr/>
        </p:nvSpPr>
        <p:spPr>
          <a:xfrm>
            <a:off x="624840" y="6195060"/>
            <a:ext cx="11125200" cy="192328"/>
          </a:xfrm>
          <a:prstGeom prst="rect">
            <a:avLst/>
          </a:prstGeom>
          <a:noFill/>
        </p:spPr>
        <p:txBody>
          <a:bodyPr wrap="none" lIns="0" rIns="0" tIns="0" bIns="0">
            <a:spAutoFit/>
          </a:bodyPr>
          <a:lstStyle/>
          <a:p>
            <a:pPr>
              <a:lnSpc>
                <a:spcPts val="914"/>
              </a:lnSpc>
              <a:spcBef>
                <a:spcPts val="0"/>
              </a:spcBef>
              <a:spcAft>
                <a:spcPts val="0"/>
              </a:spcAft>
              <a:defRPr sz="719" b="0">
                <a:solidFill>
                  <a:srgbClr val="53696A"/>
                </a:solidFill>
                <a:latin typeface="DejaVu Sans"/>
              </a:defRPr>
            </a:pPr>
            <a:r>
              <a:t>Google DeepMind · Genie 3 · Amazon aviator demo excerpt</a:t>
            </a:r>
          </a:p>
        </p:txBody>
      </p:sp>
      <p:pic>
        <p:nvPicPr>
          <p:cNvPr id="23" name="genie-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33400" y="2286000"/>
            <a:ext cx="6858000" cy="3857625"/>
          </a:xfrm>
          <a:prstGeom prst="rect">
            <a:avLst/>
          </a:prstGeom>
        </p:spPr>
      </p:pic>
      <p:cxnSp>
        <p:nvCxnSpPr>
          <p:cNvPr id="24" name="Connector 23"/>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deepmind.google/models/genie/ · recorded official demo; not a live interaction</a:t>
            </a:r>
          </a:p>
        </p:txBody>
      </p:sp>
      <p:sp>
        <p:nvSpPr>
          <p:cNvPr id="26" name="TextBox 25"/>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Learning ≠ generating</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Watch what changes: the weights or the inputs?</a:t>
            </a:r>
          </a:p>
        </p:txBody>
      </p:sp>
      <p:sp>
        <p:nvSpPr>
          <p:cNvPr id="14" name="Rounded Rectangle 13"/>
          <p:cNvSpPr/>
          <p:nvPr/>
        </p:nvSpPr>
        <p:spPr>
          <a:xfrm>
            <a:off x="533400" y="2324100"/>
            <a:ext cx="11125200" cy="1676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33400" y="4229100"/>
            <a:ext cx="11125200" cy="1676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438400"/>
            <a:ext cx="1295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TRAIN</a:t>
            </a:r>
          </a:p>
        </p:txBody>
      </p:sp>
      <p:sp>
        <p:nvSpPr>
          <p:cNvPr id="17" name="TextBox 16"/>
          <p:cNvSpPr txBox="1"/>
          <p:nvPr/>
        </p:nvSpPr>
        <p:spPr>
          <a:xfrm>
            <a:off x="723900" y="4343400"/>
            <a:ext cx="1295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USE</a:t>
            </a:r>
          </a:p>
        </p:txBody>
      </p:sp>
      <p:sp>
        <p:nvSpPr>
          <p:cNvPr id="18" name="Rounded Rectangle 17"/>
          <p:cNvSpPr/>
          <p:nvPr/>
        </p:nvSpPr>
        <p:spPr>
          <a:xfrm>
            <a:off x="2298954" y="2681477"/>
            <a:ext cx="321945" cy="678561"/>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353437" y="2592324"/>
            <a:ext cx="212979" cy="12877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2373249" y="2770632"/>
            <a:ext cx="0" cy="401193"/>
          </a:xfrm>
          <a:prstGeom prst="line">
            <a:avLst/>
          </a:prstGeom>
          <a:ln w="14859">
            <a:solidFill>
              <a:srgbClr val="A5CEC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2516886" y="2577465"/>
            <a:ext cx="168402" cy="168402"/>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51557" y="2612136"/>
            <a:ext cx="99060" cy="990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756154" y="2681477"/>
            <a:ext cx="321945" cy="678561"/>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10637" y="2592324"/>
            <a:ext cx="212979" cy="12877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2830449" y="2770632"/>
            <a:ext cx="0" cy="401193"/>
          </a:xfrm>
          <a:prstGeom prst="line">
            <a:avLst/>
          </a:prstGeom>
          <a:ln w="14859">
            <a:solidFill>
              <a:srgbClr val="A5CEC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974086" y="2577465"/>
            <a:ext cx="168402" cy="168402"/>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08757" y="2612136"/>
            <a:ext cx="99060" cy="990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213354" y="2681477"/>
            <a:ext cx="321945" cy="678561"/>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67837" y="2592324"/>
            <a:ext cx="212979" cy="12877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3287649" y="2770632"/>
            <a:ext cx="0" cy="401193"/>
          </a:xfrm>
          <a:prstGeom prst="line">
            <a:avLst/>
          </a:prstGeom>
          <a:ln w="14859">
            <a:solidFill>
              <a:srgbClr val="A5CEC3"/>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431286" y="2577465"/>
            <a:ext cx="168402" cy="168402"/>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465957" y="2612136"/>
            <a:ext cx="99060" cy="990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3886200" y="3124200"/>
            <a:ext cx="11049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880663" y="31242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4880663" y="30564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372100" y="2617470"/>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372100" y="2771775"/>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72100" y="2771775"/>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372100" y="2617470"/>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372100" y="3028950"/>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72100" y="3286125"/>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72200" y="2617470"/>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72200" y="2617470"/>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172200" y="2771775"/>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72200" y="3028950"/>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72200" y="2771775"/>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72200" y="3286125"/>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5280660" y="268033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280660" y="319468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080760" y="252603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080760" y="293751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080760" y="334899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880860" y="268033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880860" y="319468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7124700" y="3124200"/>
            <a:ext cx="10668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081063" y="31242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8081063" y="30564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86800" y="2743200"/>
            <a:ext cx="25908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Update weights</a:t>
            </a:r>
          </a:p>
        </p:txBody>
      </p:sp>
      <p:sp>
        <p:nvSpPr>
          <p:cNvPr id="59" name="TextBox 58"/>
          <p:cNvSpPr txBox="1"/>
          <p:nvPr/>
        </p:nvSpPr>
        <p:spPr>
          <a:xfrm>
            <a:off x="8686800" y="3208020"/>
            <a:ext cx="25908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error → learning</a:t>
            </a:r>
          </a:p>
        </p:txBody>
      </p:sp>
      <p:sp>
        <p:nvSpPr>
          <p:cNvPr id="60" name="TextBox 59"/>
          <p:cNvSpPr txBox="1"/>
          <p:nvPr/>
        </p:nvSpPr>
        <p:spPr>
          <a:xfrm>
            <a:off x="2286000" y="4564380"/>
            <a:ext cx="25146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Prompt + noise</a:t>
            </a:r>
          </a:p>
        </p:txBody>
      </p:sp>
      <p:cxnSp>
        <p:nvCxnSpPr>
          <p:cNvPr id="61" name="Connector 60"/>
          <p:cNvCxnSpPr/>
          <p:nvPr/>
        </p:nvCxnSpPr>
        <p:spPr>
          <a:xfrm>
            <a:off x="4572000" y="5067300"/>
            <a:ext cx="5715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33063" y="50673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5033063" y="49995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372100" y="4522470"/>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372100" y="4676775"/>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372100" y="4676775"/>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372100" y="4522470"/>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372100" y="4933950"/>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372100" y="5191125"/>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172200" y="4522470"/>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72200" y="4522470"/>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172200" y="4676775"/>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72200" y="4933950"/>
            <a:ext cx="800100" cy="2571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172200" y="4676775"/>
            <a:ext cx="800100" cy="66865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172200" y="5191125"/>
            <a:ext cx="800100" cy="15430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5280660" y="458533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5280660" y="509968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80760" y="443103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080760" y="484251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80760" y="525399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880860" y="458533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880860" y="509968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7200900" y="5067300"/>
            <a:ext cx="1181099"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8271563" y="506730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8271563" y="499959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86" name="Picture 85" descr="campaign-ai.png"/>
          <p:cNvPicPr>
            <a:picLocks noChangeAspect="1"/>
          </p:cNvPicPr>
          <p:nvPr/>
        </p:nvPicPr>
        <p:blipFill>
          <a:blip r:embed="rId2"/>
          <a:stretch>
            <a:fillRect/>
          </a:stretch>
        </p:blipFill>
        <p:spPr>
          <a:xfrm>
            <a:off x="8910063" y="4503420"/>
            <a:ext cx="2220472" cy="1249680"/>
          </a:xfrm>
          <a:prstGeom prst="rect">
            <a:avLst/>
          </a:prstGeom>
        </p:spPr>
      </p:pic>
      <p:sp>
        <p:nvSpPr>
          <p:cNvPr id="87" name="TextBox 86"/>
          <p:cNvSpPr txBox="1"/>
          <p:nvPr/>
        </p:nvSpPr>
        <p:spPr>
          <a:xfrm>
            <a:off x="5501640" y="5562600"/>
            <a:ext cx="2438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007F7C"/>
                </a:solidFill>
                <a:latin typeface="DejaVu Sans"/>
              </a:defRPr>
            </a:pPr>
            <a:r>
              <a:t>Weights fixed</a:t>
            </a:r>
          </a:p>
        </p:txBody>
      </p:sp>
      <p:cxnSp>
        <p:nvCxnSpPr>
          <p:cNvPr id="88" name="Connector 87"/>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3–6; foundational model papers</a:t>
            </a:r>
          </a:p>
        </p:txBody>
      </p:sp>
      <p:sp>
        <p:nvSpPr>
          <p:cNvPr id="90" name="TextBox 89"/>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Three ways to steer an image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Words · shapes · regions</a:t>
            </a:r>
          </a:p>
        </p:txBody>
      </p:sp>
      <p:sp>
        <p:nvSpPr>
          <p:cNvPr id="14" name="Rounded Rectangle 13"/>
          <p:cNvSpPr/>
          <p:nvPr/>
        </p:nvSpPr>
        <p:spPr>
          <a:xfrm>
            <a:off x="533400" y="2286000"/>
            <a:ext cx="3581400" cy="30861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246888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TEXT</a:t>
            </a:r>
          </a:p>
        </p:txBody>
      </p:sp>
      <p:sp>
        <p:nvSpPr>
          <p:cNvPr id="16" name="Rounded Rectangle 15"/>
          <p:cNvSpPr/>
          <p:nvPr/>
        </p:nvSpPr>
        <p:spPr>
          <a:xfrm>
            <a:off x="4305300" y="2286000"/>
            <a:ext cx="3581400" cy="30861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3900" y="246888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SKETCH</a:t>
            </a:r>
          </a:p>
        </p:txBody>
      </p:sp>
      <p:sp>
        <p:nvSpPr>
          <p:cNvPr id="18" name="Rounded Rectangle 17"/>
          <p:cNvSpPr/>
          <p:nvPr/>
        </p:nvSpPr>
        <p:spPr>
          <a:xfrm>
            <a:off x="8077200" y="2286000"/>
            <a:ext cx="3581400" cy="30861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46888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SEGMENTATION</a:t>
            </a:r>
          </a:p>
        </p:txBody>
      </p:sp>
      <p:sp>
        <p:nvSpPr>
          <p:cNvPr id="20" name="Rounded Rectangle 19"/>
          <p:cNvSpPr/>
          <p:nvPr/>
        </p:nvSpPr>
        <p:spPr>
          <a:xfrm>
            <a:off x="800100" y="3124200"/>
            <a:ext cx="3009900" cy="1143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5360" y="3322320"/>
            <a:ext cx="2667000" cy="734263"/>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“Teal bottle,</a:t>
            </a:r>
          </a:p>
          <a:p>
            <a:pPr>
              <a:lnSpc>
                <a:spcPts val="2590"/>
              </a:lnSpc>
              <a:spcBef>
                <a:spcPts val="0"/>
              </a:spcBef>
              <a:spcAft>
                <a:spcPts val="0"/>
              </a:spcAft>
              <a:defRPr sz="2039" b="1">
                <a:solidFill>
                  <a:srgbClr val="142F35"/>
                </a:solidFill>
                <a:latin typeface="DejaVu Sans"/>
              </a:defRPr>
            </a:pPr>
            <a:r>
              <a:t>morning light”</a:t>
            </a:r>
          </a:p>
        </p:txBody>
      </p:sp>
      <p:sp>
        <p:nvSpPr>
          <p:cNvPr id="22" name="Rounded Rectangle 21"/>
          <p:cNvSpPr/>
          <p:nvPr/>
        </p:nvSpPr>
        <p:spPr>
          <a:xfrm>
            <a:off x="5753100" y="3284220"/>
            <a:ext cx="533400" cy="1158240"/>
          </a:xfrm>
          <a:prstGeom prst="roundRect">
            <a:avLst>
              <a:gd name="adj" fmla="val 5000"/>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867400" y="3124200"/>
            <a:ext cx="304800" cy="160020"/>
          </a:xfrm>
          <a:prstGeom prst="roundRect">
            <a:avLst>
              <a:gd name="adj" fmla="val 5000"/>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4953000" y="4648200"/>
            <a:ext cx="2438400" cy="0"/>
          </a:xfrm>
          <a:prstGeom prst="line">
            <a:avLst/>
          </a:prstGeom>
          <a:ln w="22859">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381999" y="3162300"/>
            <a:ext cx="2933700" cy="1562100"/>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81999" y="4267200"/>
            <a:ext cx="2933700" cy="457200"/>
          </a:xfrm>
          <a:prstGeom prst="rect">
            <a:avLst/>
          </a:prstGeom>
          <a:solidFill>
            <a:srgbClr val="D9B7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210800" y="3398520"/>
            <a:ext cx="579120" cy="115062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Conditioning guides the result. Unconditional generation has no requested-content condition.</a:t>
            </a:r>
          </a:p>
        </p:txBody>
      </p:sp>
      <p:cxnSp>
        <p:nvCxnSpPr>
          <p:cNvPr id="29" name="Connector 28"/>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3–4, 8</a:t>
            </a:r>
          </a:p>
        </p:txBody>
      </p:sp>
      <p:sp>
        <p:nvSpPr>
          <p:cNvPr id="31" name="TextBox 30"/>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One condition. Several possible images.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ControlNet · published examples with empty text prompts</a:t>
            </a:r>
          </a:p>
        </p:txBody>
      </p:sp>
      <p:sp>
        <p:nvSpPr>
          <p:cNvPr id="14" name="Rounded Rectangle 13"/>
          <p:cNvSpPr/>
          <p:nvPr/>
        </p:nvSpPr>
        <p:spPr>
          <a:xfrm>
            <a:off x="533400" y="2240280"/>
            <a:ext cx="3581400" cy="35280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80" y="2339340"/>
            <a:ext cx="32385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Sketch</a:t>
            </a:r>
          </a:p>
        </p:txBody>
      </p:sp>
      <p:pic>
        <p:nvPicPr>
          <p:cNvPr id="16" name="Picture 15" descr="controlnet-sketch-0.png"/>
          <p:cNvPicPr>
            <a:picLocks noChangeAspect="1"/>
          </p:cNvPicPr>
          <p:nvPr/>
        </p:nvPicPr>
        <p:blipFill>
          <a:blip r:embed="rId2"/>
          <a:stretch>
            <a:fillRect/>
          </a:stretch>
        </p:blipFill>
        <p:spPr>
          <a:xfrm>
            <a:off x="1714500" y="2689860"/>
            <a:ext cx="1219200" cy="1219200"/>
          </a:xfrm>
          <a:prstGeom prst="rect">
            <a:avLst/>
          </a:prstGeom>
        </p:spPr>
      </p:pic>
      <p:cxnSp>
        <p:nvCxnSpPr>
          <p:cNvPr id="17" name="Connector 16"/>
          <p:cNvCxnSpPr/>
          <p:nvPr/>
        </p:nvCxnSpPr>
        <p:spPr>
          <a:xfrm>
            <a:off x="2324100" y="3985260"/>
            <a:ext cx="0" cy="28194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2256391" y="4156763"/>
            <a:ext cx="67709"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24100" y="4156763"/>
            <a:ext cx="67708"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20" name="Picture 19" descr="controlnet-sketch-1.png"/>
          <p:cNvPicPr>
            <a:picLocks noChangeAspect="1"/>
          </p:cNvPicPr>
          <p:nvPr/>
        </p:nvPicPr>
        <p:blipFill>
          <a:blip r:embed="rId3"/>
          <a:stretch>
            <a:fillRect/>
          </a:stretch>
        </p:blipFill>
        <p:spPr>
          <a:xfrm>
            <a:off x="914400" y="4373880"/>
            <a:ext cx="1219200" cy="1219200"/>
          </a:xfrm>
          <a:prstGeom prst="rect">
            <a:avLst/>
          </a:prstGeom>
        </p:spPr>
      </p:pic>
      <p:pic>
        <p:nvPicPr>
          <p:cNvPr id="21" name="Picture 20" descr="controlnet-sketch-2.png"/>
          <p:cNvPicPr>
            <a:picLocks noChangeAspect="1"/>
          </p:cNvPicPr>
          <p:nvPr/>
        </p:nvPicPr>
        <p:blipFill>
          <a:blip r:embed="rId4"/>
          <a:stretch>
            <a:fillRect/>
          </a:stretch>
        </p:blipFill>
        <p:spPr>
          <a:xfrm>
            <a:off x="2590800" y="4373880"/>
            <a:ext cx="1219200" cy="1219200"/>
          </a:xfrm>
          <a:prstGeom prst="rect">
            <a:avLst/>
          </a:prstGeom>
        </p:spPr>
      </p:pic>
      <p:sp>
        <p:nvSpPr>
          <p:cNvPr id="22" name="Rounded Rectangle 21"/>
          <p:cNvSpPr/>
          <p:nvPr/>
        </p:nvSpPr>
        <p:spPr>
          <a:xfrm>
            <a:off x="4305300" y="2240280"/>
            <a:ext cx="3581400" cy="35280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8180" y="2339340"/>
            <a:ext cx="32385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Depth</a:t>
            </a:r>
          </a:p>
        </p:txBody>
      </p:sp>
      <p:pic>
        <p:nvPicPr>
          <p:cNvPr id="24" name="Picture 23" descr="controlnet-depth-0.png"/>
          <p:cNvPicPr>
            <a:picLocks noChangeAspect="1"/>
          </p:cNvPicPr>
          <p:nvPr/>
        </p:nvPicPr>
        <p:blipFill>
          <a:blip r:embed="rId5"/>
          <a:stretch>
            <a:fillRect/>
          </a:stretch>
        </p:blipFill>
        <p:spPr>
          <a:xfrm>
            <a:off x="5486400" y="2689860"/>
            <a:ext cx="1219200" cy="1219200"/>
          </a:xfrm>
          <a:prstGeom prst="rect">
            <a:avLst/>
          </a:prstGeom>
        </p:spPr>
      </p:pic>
      <p:cxnSp>
        <p:nvCxnSpPr>
          <p:cNvPr id="25" name="Connector 24"/>
          <p:cNvCxnSpPr/>
          <p:nvPr/>
        </p:nvCxnSpPr>
        <p:spPr>
          <a:xfrm>
            <a:off x="6096000" y="3985260"/>
            <a:ext cx="0" cy="28194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028291" y="4156763"/>
            <a:ext cx="67709"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96000" y="4156763"/>
            <a:ext cx="67708"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28" name="Picture 27" descr="controlnet-depth-1.png"/>
          <p:cNvPicPr>
            <a:picLocks noChangeAspect="1"/>
          </p:cNvPicPr>
          <p:nvPr/>
        </p:nvPicPr>
        <p:blipFill>
          <a:blip r:embed="rId6"/>
          <a:stretch>
            <a:fillRect/>
          </a:stretch>
        </p:blipFill>
        <p:spPr>
          <a:xfrm>
            <a:off x="4686300" y="4373880"/>
            <a:ext cx="1219200" cy="1219200"/>
          </a:xfrm>
          <a:prstGeom prst="rect">
            <a:avLst/>
          </a:prstGeom>
        </p:spPr>
      </p:pic>
      <p:pic>
        <p:nvPicPr>
          <p:cNvPr id="29" name="Picture 28" descr="controlnet-depth-2.png"/>
          <p:cNvPicPr>
            <a:picLocks noChangeAspect="1"/>
          </p:cNvPicPr>
          <p:nvPr/>
        </p:nvPicPr>
        <p:blipFill>
          <a:blip r:embed="rId7"/>
          <a:stretch>
            <a:fillRect/>
          </a:stretch>
        </p:blipFill>
        <p:spPr>
          <a:xfrm>
            <a:off x="6362700" y="4373880"/>
            <a:ext cx="1219200" cy="1219200"/>
          </a:xfrm>
          <a:prstGeom prst="rect">
            <a:avLst/>
          </a:prstGeom>
        </p:spPr>
      </p:pic>
      <p:sp>
        <p:nvSpPr>
          <p:cNvPr id="30" name="Rounded Rectangle 29"/>
          <p:cNvSpPr/>
          <p:nvPr/>
        </p:nvSpPr>
        <p:spPr>
          <a:xfrm>
            <a:off x="8077200" y="2240280"/>
            <a:ext cx="3581400" cy="35280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0080" y="2339340"/>
            <a:ext cx="32385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Segmentation</a:t>
            </a:r>
          </a:p>
        </p:txBody>
      </p:sp>
      <p:pic>
        <p:nvPicPr>
          <p:cNvPr id="32" name="Picture 31" descr="controlnet-segmentation-0.png"/>
          <p:cNvPicPr>
            <a:picLocks noChangeAspect="1"/>
          </p:cNvPicPr>
          <p:nvPr/>
        </p:nvPicPr>
        <p:blipFill>
          <a:blip r:embed="rId8"/>
          <a:stretch>
            <a:fillRect/>
          </a:stretch>
        </p:blipFill>
        <p:spPr>
          <a:xfrm>
            <a:off x="9258300" y="2689860"/>
            <a:ext cx="1219200" cy="1219200"/>
          </a:xfrm>
          <a:prstGeom prst="rect">
            <a:avLst/>
          </a:prstGeom>
        </p:spPr>
      </p:pic>
      <p:cxnSp>
        <p:nvCxnSpPr>
          <p:cNvPr id="33" name="Connector 32"/>
          <p:cNvCxnSpPr/>
          <p:nvPr/>
        </p:nvCxnSpPr>
        <p:spPr>
          <a:xfrm>
            <a:off x="9867900" y="3985260"/>
            <a:ext cx="0" cy="28194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9800191" y="4156763"/>
            <a:ext cx="67709"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867900" y="4156763"/>
            <a:ext cx="67708" cy="110437"/>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36" name="Picture 35" descr="controlnet-segmentation-1.png"/>
          <p:cNvPicPr>
            <a:picLocks noChangeAspect="1"/>
          </p:cNvPicPr>
          <p:nvPr/>
        </p:nvPicPr>
        <p:blipFill>
          <a:blip r:embed="rId9"/>
          <a:stretch>
            <a:fillRect/>
          </a:stretch>
        </p:blipFill>
        <p:spPr>
          <a:xfrm>
            <a:off x="8458200" y="4373880"/>
            <a:ext cx="1219200" cy="1219200"/>
          </a:xfrm>
          <a:prstGeom prst="rect">
            <a:avLst/>
          </a:prstGeom>
        </p:spPr>
      </p:pic>
      <p:pic>
        <p:nvPicPr>
          <p:cNvPr id="37" name="Picture 36" descr="controlnet-segmentation-2.png"/>
          <p:cNvPicPr>
            <a:picLocks noChangeAspect="1"/>
          </p:cNvPicPr>
          <p:nvPr/>
        </p:nvPicPr>
        <p:blipFill>
          <a:blip r:embed="rId10"/>
          <a:stretch>
            <a:fillRect/>
          </a:stretch>
        </p:blipFill>
        <p:spPr>
          <a:xfrm>
            <a:off x="10134600" y="4373880"/>
            <a:ext cx="1219200" cy="1219200"/>
          </a:xfrm>
          <a:prstGeom prst="rect">
            <a:avLst/>
          </a:prstGeom>
        </p:spPr>
      </p:pic>
      <p:sp>
        <p:nvSpPr>
          <p:cNvPr id="38" name="TextBox 37"/>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Top: condition. Below: two generated possibilities.</a:t>
            </a:r>
          </a:p>
        </p:txBody>
      </p:sp>
      <p:cxnSp>
        <p:nvCxnSpPr>
          <p:cNvPr id="39" name="Connector 38"/>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11"/>
              </a:rPr>
              <a:t>Zhang, Rao &amp; Agrawala (2023), ControlNet, Fig. 7 excerpts, p. 6 · arxiv.org/abs/2302.05543v3</a:t>
            </a:r>
          </a:p>
        </p:txBody>
      </p:sp>
      <p:sp>
        <p:nvSpPr>
          <p:cNvPr id="41" name="TextBox 40"/>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01 Brief &amp; control</a:t>
            </a:r>
          </a:p>
        </p:txBody>
      </p:sp>
      <p:sp>
        <p:nvSpPr>
          <p:cNvPr id="7" name="Rectangle 6"/>
          <p:cNvSpPr/>
          <p:nvPr/>
        </p:nvSpPr>
        <p:spPr>
          <a:xfrm>
            <a:off x="55626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Build the layout. Then generate the world.</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World Labs · Marble / Chisel · structure and appearance</a:t>
            </a:r>
          </a:p>
        </p:txBody>
      </p:sp>
      <p:sp>
        <p:nvSpPr>
          <p:cNvPr id="14" name="TextBox 13"/>
          <p:cNvSpPr txBox="1"/>
          <p:nvPr/>
        </p:nvSpPr>
        <p:spPr>
          <a:xfrm>
            <a:off x="571500" y="2240280"/>
            <a:ext cx="5334000" cy="308457"/>
          </a:xfrm>
          <a:prstGeom prst="rect">
            <a:avLst/>
          </a:prstGeom>
          <a:noFill/>
        </p:spPr>
        <p:txBody>
          <a:bodyPr wrap="none" lIns="0" rIns="0" tIns="0" bIns="0">
            <a:spAutoFit/>
          </a:bodyPr>
          <a:lstStyle/>
          <a:p>
            <a:pPr>
              <a:lnSpc>
                <a:spcPts val="1828"/>
              </a:lnSpc>
              <a:spcBef>
                <a:spcPts val="0"/>
              </a:spcBef>
              <a:spcAft>
                <a:spcPts val="0"/>
              </a:spcAft>
              <a:defRPr sz="1439" b="1">
                <a:solidFill>
                  <a:srgbClr val="007F7C"/>
                </a:solidFill>
                <a:latin typeface="DejaVu Sans"/>
              </a:defRPr>
            </a:pPr>
            <a:r>
              <a:t>COARSE 3D LAYOUT</a:t>
            </a:r>
          </a:p>
        </p:txBody>
      </p:sp>
      <p:sp>
        <p:nvSpPr>
          <p:cNvPr id="15" name="TextBox 14"/>
          <p:cNvSpPr txBox="1"/>
          <p:nvPr/>
        </p:nvSpPr>
        <p:spPr>
          <a:xfrm>
            <a:off x="6286500" y="2240280"/>
            <a:ext cx="5334000" cy="308457"/>
          </a:xfrm>
          <a:prstGeom prst="rect">
            <a:avLst/>
          </a:prstGeom>
          <a:noFill/>
        </p:spPr>
        <p:txBody>
          <a:bodyPr wrap="none" lIns="0" rIns="0" tIns="0" bIns="0">
            <a:spAutoFit/>
          </a:bodyPr>
          <a:lstStyle/>
          <a:p>
            <a:pPr>
              <a:lnSpc>
                <a:spcPts val="1828"/>
              </a:lnSpc>
              <a:spcBef>
                <a:spcPts val="0"/>
              </a:spcBef>
              <a:spcAft>
                <a:spcPts val="0"/>
              </a:spcAft>
              <a:defRPr sz="1439" b="1">
                <a:solidFill>
                  <a:srgbClr val="007F7C"/>
                </a:solidFill>
                <a:latin typeface="DejaVu Sans"/>
              </a:defRPr>
            </a:pPr>
            <a:r>
              <a:t>GENERATED WORLD</a:t>
            </a:r>
          </a:p>
        </p:txBody>
      </p:sp>
      <p:pic>
        <p:nvPicPr>
          <p:cNvPr id="16" name="Picture 15" descr="marble-demo.jpg"/>
          <p:cNvPicPr>
            <a:picLocks noChangeAspect="1"/>
          </p:cNvPicPr>
          <p:nvPr/>
        </p:nvPicPr>
        <p:blipFill>
          <a:blip r:embed="rId2"/>
          <a:stretch>
            <a:fillRect/>
          </a:stretch>
        </p:blipFill>
        <p:spPr>
          <a:xfrm>
            <a:off x="533400" y="2560320"/>
            <a:ext cx="11125200" cy="3128962"/>
          </a:xfrm>
          <a:prstGeom prst="rect">
            <a:avLst/>
          </a:prstGeom>
        </p:spPr>
      </p:pic>
      <p:sp>
        <p:nvSpPr>
          <p:cNvPr id="17" name="TextBox 16"/>
          <p:cNvSpPr txBox="1"/>
          <p:nvPr/>
        </p:nvSpPr>
        <p:spPr>
          <a:xfrm>
            <a:off x="571500" y="5798820"/>
            <a:ext cx="111252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Conditioning: specify structure and appearance, then check the result.</a:t>
            </a:r>
          </a:p>
        </p:txBody>
      </p:sp>
      <p:sp>
        <p:nvSpPr>
          <p:cNvPr id="18" name="TextBox 17"/>
          <p:cNvSpPr txBox="1"/>
          <p:nvPr/>
        </p:nvSpPr>
        <p:spPr>
          <a:xfrm>
            <a:off x="571500" y="6080760"/>
            <a:ext cx="11125200" cy="240715"/>
          </a:xfrm>
          <a:prstGeom prst="rect">
            <a:avLst/>
          </a:prstGeom>
          <a:noFill/>
        </p:spPr>
        <p:txBody>
          <a:bodyPr wrap="none" lIns="0" rIns="0" tIns="0" bIns="0">
            <a:spAutoFit/>
          </a:bodyPr>
          <a:lstStyle/>
          <a:p>
            <a:pPr>
              <a:lnSpc>
                <a:spcPts val="1295"/>
              </a:lnSpc>
              <a:spcBef>
                <a:spcPts val="0"/>
              </a:spcBef>
              <a:spcAft>
                <a:spcPts val="0"/>
              </a:spcAft>
              <a:defRPr sz="1019" b="0">
                <a:solidFill>
                  <a:srgbClr val="53696A"/>
                </a:solidFill>
                <a:latin typeface="DejaVu Sans"/>
              </a:defRPr>
            </a:pPr>
            <a:r>
              <a:t>World Labs · Marble / Chisel · paired official gallery demonstration</a:t>
            </a:r>
          </a:p>
        </p:txBody>
      </p:sp>
      <p:pic>
        <p:nvPicPr>
          <p:cNvPr id="19" name="marble-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33400" y="2560320"/>
            <a:ext cx="11125200" cy="3128962"/>
          </a:xfrm>
          <a:prstGeom prst="rect">
            <a:avLst/>
          </a:prstGeom>
        </p:spPr>
      </p:pic>
      <p:cxnSp>
        <p:nvCxnSpPr>
          <p:cNvPr id="20" name="Connector 1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worldlabs.ai/blog/marble-world-model · source demos shown side by side</a:t>
            </a:r>
          </a:p>
        </p:txBody>
      </p:sp>
      <p:sp>
        <p:nvSpPr>
          <p:cNvPr id="22" name="TextBox 2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09</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02 How diffusion works</a:t>
            </a:r>
          </a:p>
        </p:txBody>
      </p:sp>
      <p:sp>
        <p:nvSpPr>
          <p:cNvPr id="8" name="Rectangle 7"/>
          <p:cNvSpPr/>
          <p:nvPr/>
        </p:nvSpPr>
        <p:spPr>
          <a:xfrm>
            <a:off x="278130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02 / Open the model</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We know what to ask for. How can a system make it?</a:t>
            </a:r>
          </a:p>
        </p:txBody>
      </p:sp>
      <p:pic>
        <p:nvPicPr>
          <p:cNvPr id="14" name="Picture 13" descr="campaign-ai.png"/>
          <p:cNvPicPr>
            <a:picLocks noChangeAspect="1"/>
          </p:cNvPicPr>
          <p:nvPr/>
        </p:nvPicPr>
        <p:blipFill>
          <a:blip r:embed="rId2"/>
          <a:stretch>
            <a:fillRect/>
          </a:stretch>
        </p:blipFill>
        <p:spPr>
          <a:xfrm>
            <a:off x="533400" y="2576781"/>
            <a:ext cx="4572000" cy="2573117"/>
          </a:xfrm>
          <a:prstGeom prst="rect">
            <a:avLst/>
          </a:prstGeom>
        </p:spPr>
      </p:pic>
      <p:sp>
        <p:nvSpPr>
          <p:cNvPr id="15" name="TextBox 14"/>
          <p:cNvSpPr txBox="1"/>
          <p:nvPr/>
        </p:nvSpPr>
        <p:spPr>
          <a:xfrm>
            <a:off x="632460" y="5364480"/>
            <a:ext cx="4419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7AE0C5"/>
                </a:solidFill>
                <a:latin typeface="DejaVu Sans"/>
              </a:defRPr>
            </a:pPr>
            <a:r>
              <a:t>VISIONARY STUDIOS</a:t>
            </a:r>
          </a:p>
        </p:txBody>
      </p:sp>
      <p:sp>
        <p:nvSpPr>
          <p:cNvPr id="16" name="TextBox 15"/>
          <p:cNvSpPr txBox="1"/>
          <p:nvPr/>
        </p:nvSpPr>
        <p:spPr>
          <a:xfrm>
            <a:off x="5943600" y="2682240"/>
            <a:ext cx="5334000" cy="453618"/>
          </a:xfrm>
          <a:prstGeom prst="rect">
            <a:avLst/>
          </a:prstGeom>
          <a:noFill/>
        </p:spPr>
        <p:txBody>
          <a:bodyPr wrap="none" lIns="0" rIns="0" tIns="0" bIns="0">
            <a:spAutoFit/>
          </a:bodyPr>
          <a:lstStyle/>
          <a:p>
            <a:pPr>
              <a:lnSpc>
                <a:spcPts val="2971"/>
              </a:lnSpc>
              <a:spcBef>
                <a:spcPts val="0"/>
              </a:spcBef>
              <a:spcAft>
                <a:spcPts val="0"/>
              </a:spcAft>
              <a:defRPr sz="2340" b="1">
                <a:solidFill>
                  <a:srgbClr val="F5F2EA"/>
                </a:solidFill>
                <a:latin typeface="DejaVu Sans"/>
              </a:defRPr>
            </a:pPr>
            <a:r>
              <a:t>Specify the result</a:t>
            </a:r>
          </a:p>
        </p:txBody>
      </p:sp>
      <p:cxnSp>
        <p:nvCxnSpPr>
          <p:cNvPr id="17" name="Connector 16"/>
          <p:cNvCxnSpPr/>
          <p:nvPr/>
        </p:nvCxnSpPr>
        <p:spPr>
          <a:xfrm>
            <a:off x="6301740" y="3771900"/>
            <a:ext cx="0" cy="563880"/>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234031" y="4225343"/>
            <a:ext cx="67709"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301740" y="4225343"/>
            <a:ext cx="67708"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0" y="4632960"/>
            <a:ext cx="5334000" cy="492328"/>
          </a:xfrm>
          <a:prstGeom prst="rect">
            <a:avLst/>
          </a:prstGeom>
          <a:noFill/>
        </p:spPr>
        <p:txBody>
          <a:bodyPr wrap="none" lIns="0" rIns="0" tIns="0" bIns="0">
            <a:spAutoFit/>
          </a:bodyPr>
          <a:lstStyle/>
          <a:p>
            <a:pPr>
              <a:lnSpc>
                <a:spcPts val="3276"/>
              </a:lnSpc>
              <a:spcBef>
                <a:spcPts val="0"/>
              </a:spcBef>
              <a:spcAft>
                <a:spcPts val="0"/>
              </a:spcAft>
              <a:defRPr sz="2580" b="1">
                <a:solidFill>
                  <a:srgbClr val="7AE0C5"/>
                </a:solidFill>
                <a:latin typeface="DejaVu Sans"/>
              </a:defRPr>
            </a:pPr>
            <a:r>
              <a:t>Explain the mechanism</a:t>
            </a:r>
          </a:p>
        </p:txBody>
      </p:sp>
      <p:cxnSp>
        <p:nvCxnSpPr>
          <p:cNvPr id="21" name="Connector 2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case study · Visionary Studios · original teaching framework</a:t>
            </a:r>
          </a:p>
        </p:txBody>
      </p:sp>
      <p:sp>
        <p:nvSpPr>
          <p:cNvPr id="23" name="TextBox 2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02 How diffusion works</a:t>
            </a:r>
          </a:p>
        </p:txBody>
      </p:sp>
      <p:sp>
        <p:nvSpPr>
          <p:cNvPr id="8" name="Rectangle 7"/>
          <p:cNvSpPr/>
          <p:nvPr/>
        </p:nvSpPr>
        <p:spPr>
          <a:xfrm>
            <a:off x="278130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Diffusion: the paper behind the idea</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DDPM · Ho, Jain &amp; Abbeel (2020) · read the equation as “signal + noise”</a:t>
            </a:r>
          </a:p>
        </p:txBody>
      </p:sp>
      <p:sp>
        <p:nvSpPr>
          <p:cNvPr id="14" name="TextBox 13"/>
          <p:cNvSpPr txBox="1"/>
          <p:nvPr/>
        </p:nvSpPr>
        <p:spPr>
          <a:xfrm>
            <a:off x="571500" y="2087880"/>
            <a:ext cx="110490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007F7C"/>
                </a:solidFill>
                <a:latin typeface="DejaVu Sans"/>
              </a:defRPr>
            </a:pPr>
            <a:r>
              <a:t>ORIGINAL FIGURE 2 · learned generation runs left → right</a:t>
            </a:r>
          </a:p>
        </p:txBody>
      </p:sp>
      <p:sp>
        <p:nvSpPr>
          <p:cNvPr id="15" name="Rounded Rectangle 14"/>
          <p:cNvSpPr/>
          <p:nvPr/>
        </p:nvSpPr>
        <p:spPr>
          <a:xfrm>
            <a:off x="533400" y="2369820"/>
            <a:ext cx="11125200" cy="14859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dpm-figure-2.png"/>
          <p:cNvPicPr>
            <a:picLocks noChangeAspect="1"/>
          </p:cNvPicPr>
          <p:nvPr/>
        </p:nvPicPr>
        <p:blipFill>
          <a:blip r:embed="rId2"/>
          <a:stretch>
            <a:fillRect/>
          </a:stretch>
        </p:blipFill>
        <p:spPr>
          <a:xfrm>
            <a:off x="1986229" y="2423160"/>
            <a:ext cx="8219541" cy="1356360"/>
          </a:xfrm>
          <a:prstGeom prst="rect">
            <a:avLst/>
          </a:prstGeom>
        </p:spPr>
      </p:pic>
      <p:sp>
        <p:nvSpPr>
          <p:cNvPr id="17" name="TextBox 16"/>
          <p:cNvSpPr txBox="1"/>
          <p:nvPr/>
        </p:nvSpPr>
        <p:spPr>
          <a:xfrm>
            <a:off x="571500" y="3970020"/>
            <a:ext cx="10972800" cy="279425"/>
          </a:xfrm>
          <a:prstGeom prst="rect">
            <a:avLst/>
          </a:prstGeom>
          <a:noFill/>
        </p:spPr>
        <p:txBody>
          <a:bodyPr wrap="none" lIns="0" rIns="0" tIns="0" bIns="0">
            <a:spAutoFit/>
          </a:bodyPr>
          <a:lstStyle/>
          <a:p>
            <a:pPr>
              <a:lnSpc>
                <a:spcPts val="1600"/>
              </a:lnSpc>
              <a:spcBef>
                <a:spcPts val="0"/>
              </a:spcBef>
              <a:spcAft>
                <a:spcPts val="0"/>
              </a:spcAft>
              <a:defRPr sz="1260" b="1">
                <a:solidFill>
                  <a:srgbClr val="007F7C"/>
                </a:solidFill>
                <a:latin typeface="DejaVu Sans"/>
              </a:defRPr>
            </a:pPr>
            <a:r>
              <a:t>FORWARD NOISING · sampling form of Eq. 4, typeset for this lesson</a:t>
            </a:r>
          </a:p>
        </p:txBody>
      </p:sp>
      <p:pic>
        <p:nvPicPr>
          <p:cNvPr id="18" name="Picture 17" descr="ddpm-noising-formula.png"/>
          <p:cNvPicPr>
            <a:picLocks noChangeAspect="1"/>
          </p:cNvPicPr>
          <p:nvPr/>
        </p:nvPicPr>
        <p:blipFill>
          <a:blip r:embed="rId3"/>
          <a:stretch>
            <a:fillRect/>
          </a:stretch>
        </p:blipFill>
        <p:spPr>
          <a:xfrm>
            <a:off x="1299290" y="4229100"/>
            <a:ext cx="5173819" cy="838200"/>
          </a:xfrm>
          <a:prstGeom prst="rect">
            <a:avLst/>
          </a:prstGeom>
        </p:spPr>
      </p:pic>
      <p:sp>
        <p:nvSpPr>
          <p:cNvPr id="19" name="Rounded Rectangle 18"/>
          <p:cNvSpPr/>
          <p:nvPr/>
        </p:nvSpPr>
        <p:spPr>
          <a:xfrm>
            <a:off x="7467599" y="4221480"/>
            <a:ext cx="4190999" cy="838200"/>
          </a:xfrm>
          <a:prstGeom prst="roundRect">
            <a:avLst>
              <a:gd name="adj" fmla="val 5000"/>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0" y="4328160"/>
            <a:ext cx="3886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142F35"/>
                </a:solidFill>
                <a:latin typeface="DejaVu Sans"/>
              </a:defRPr>
            </a:pPr>
            <a:r>
              <a:t>Our example: signal level = 0.64</a:t>
            </a:r>
          </a:p>
        </p:txBody>
      </p:sp>
      <p:sp>
        <p:nvSpPr>
          <p:cNvPr id="21" name="TextBox 20"/>
          <p:cNvSpPr txBox="1"/>
          <p:nvPr/>
        </p:nvSpPr>
        <p:spPr>
          <a:xfrm>
            <a:off x="7620000" y="4671060"/>
            <a:ext cx="38862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007F7C"/>
                </a:solidFill>
                <a:latin typeface="DejaVu Sans"/>
              </a:defRPr>
            </a:pPr>
            <a:r>
              <a:t>0.8 × image + 0.6 × noise</a:t>
            </a:r>
          </a:p>
        </p:txBody>
      </p:sp>
      <p:sp>
        <p:nvSpPr>
          <p:cNvPr id="22" name="TextBox 21"/>
          <p:cNvSpPr txBox="1"/>
          <p:nvPr/>
        </p:nvSpPr>
        <p:spPr>
          <a:xfrm>
            <a:off x="571500" y="5250180"/>
            <a:ext cx="35814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x₀ · clean image</a:t>
            </a:r>
          </a:p>
        </p:txBody>
      </p:sp>
      <p:sp>
        <p:nvSpPr>
          <p:cNvPr id="23" name="TextBox 22"/>
          <p:cNvSpPr txBox="1"/>
          <p:nvPr/>
        </p:nvSpPr>
        <p:spPr>
          <a:xfrm>
            <a:off x="571500" y="5562600"/>
            <a:ext cx="3581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The training example</a:t>
            </a:r>
          </a:p>
        </p:txBody>
      </p:sp>
      <p:sp>
        <p:nvSpPr>
          <p:cNvPr id="24" name="TextBox 23"/>
          <p:cNvSpPr txBox="1"/>
          <p:nvPr/>
        </p:nvSpPr>
        <p:spPr>
          <a:xfrm>
            <a:off x="4305300" y="5250180"/>
            <a:ext cx="35814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ε · random noise</a:t>
            </a:r>
          </a:p>
        </p:txBody>
      </p:sp>
      <p:sp>
        <p:nvSpPr>
          <p:cNvPr id="25" name="TextBox 24"/>
          <p:cNvSpPr txBox="1"/>
          <p:nvPr/>
        </p:nvSpPr>
        <p:spPr>
          <a:xfrm>
            <a:off x="4305300" y="5562600"/>
            <a:ext cx="3581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A known training target</a:t>
            </a:r>
          </a:p>
        </p:txBody>
      </p:sp>
      <p:sp>
        <p:nvSpPr>
          <p:cNvPr id="26" name="TextBox 25"/>
          <p:cNvSpPr txBox="1"/>
          <p:nvPr/>
        </p:nvSpPr>
        <p:spPr>
          <a:xfrm>
            <a:off x="8039099" y="5250180"/>
            <a:ext cx="35814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ᾱₜ · signal level</a:t>
            </a:r>
          </a:p>
        </p:txBody>
      </p:sp>
      <p:sp>
        <p:nvSpPr>
          <p:cNvPr id="27" name="TextBox 26"/>
          <p:cNvSpPr txBox="1"/>
          <p:nvPr/>
        </p:nvSpPr>
        <p:spPr>
          <a:xfrm>
            <a:off x="8039099" y="5562600"/>
            <a:ext cx="3581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Controls the noise balance</a:t>
            </a:r>
          </a:p>
        </p:txBody>
      </p:sp>
      <p:sp>
        <p:nvSpPr>
          <p:cNvPr id="28" name="TextBox 27"/>
          <p:cNvSpPr txBox="1"/>
          <p:nvPr/>
        </p:nvSpPr>
        <p:spPr>
          <a:xfrm>
            <a:off x="571500" y="5974080"/>
            <a:ext cx="11049000" cy="269748"/>
          </a:xfrm>
          <a:prstGeom prst="rect">
            <a:avLst/>
          </a:prstGeom>
          <a:noFill/>
        </p:spPr>
        <p:txBody>
          <a:bodyPr wrap="none" lIns="0" rIns="0" tIns="0" bIns="0">
            <a:spAutoFit/>
          </a:bodyPr>
          <a:lstStyle/>
          <a:p>
            <a:pPr>
              <a:lnSpc>
                <a:spcPts val="1523"/>
              </a:lnSpc>
              <a:spcBef>
                <a:spcPts val="0"/>
              </a:spcBef>
              <a:spcAft>
                <a:spcPts val="0"/>
              </a:spcAft>
              <a:defRPr sz="1200" b="0">
                <a:solidFill>
                  <a:srgbClr val="007F7C"/>
                </a:solidFill>
                <a:latin typeface="DejaVu Sans"/>
              </a:defRPr>
            </a:pPr>
            <a:r>
              <a:rPr>
                <a:hlinkClick r:id="rId4"/>
              </a:rPr>
              <a:t>Earlier diffusion foundation: Sohl-Dickstein et al. (2015), ICML. Equations are enrichment.</a:t>
            </a:r>
          </a:p>
        </p:txBody>
      </p:sp>
      <p:cxnSp>
        <p:nvCxnSpPr>
          <p:cNvPr id="29" name="Connector 28"/>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5"/>
              </a:rPr>
              <a:t>Ho, Jain &amp; Abbeel (2020), DDPM, Fig. 2 (p. 2); Eq. 4 sampling form (p. 3) · arxiv.org/abs/2006.11239v2</a:t>
            </a:r>
          </a:p>
        </p:txBody>
      </p:sp>
      <p:sp>
        <p:nvSpPr>
          <p:cNvPr id="31" name="TextBox 30"/>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02 How diffusion works</a:t>
            </a:r>
          </a:p>
        </p:txBody>
      </p:sp>
      <p:sp>
        <p:nvSpPr>
          <p:cNvPr id="8" name="Rectangle 7"/>
          <p:cNvSpPr/>
          <p:nvPr/>
        </p:nvSpPr>
        <p:spPr>
          <a:xfrm>
            <a:off x="278130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What generation looked like in the paper</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DDPM · Figure 6 · actual published CIFAR-10 examples</a:t>
            </a:r>
          </a:p>
        </p:txBody>
      </p:sp>
      <p:sp>
        <p:nvSpPr>
          <p:cNvPr id="14" name="TextBox 13"/>
          <p:cNvSpPr txBox="1"/>
          <p:nvPr/>
        </p:nvSpPr>
        <p:spPr>
          <a:xfrm>
            <a:off x="571500" y="2141220"/>
            <a:ext cx="11049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007F7C"/>
                </a:solidFill>
                <a:latin typeface="DejaVu Sans"/>
              </a:defRPr>
            </a:pPr>
            <a:r>
              <a:t>Predicted clean images during sampling · read each row left → right</a:t>
            </a:r>
          </a:p>
        </p:txBody>
      </p:sp>
      <p:sp>
        <p:nvSpPr>
          <p:cNvPr id="15" name="Rounded Rectangle 14"/>
          <p:cNvSpPr/>
          <p:nvPr/>
        </p:nvSpPr>
        <p:spPr>
          <a:xfrm>
            <a:off x="533400" y="2522220"/>
            <a:ext cx="1112520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dpm-figure-6.png"/>
          <p:cNvPicPr>
            <a:picLocks noChangeAspect="1"/>
          </p:cNvPicPr>
          <p:nvPr/>
        </p:nvPicPr>
        <p:blipFill>
          <a:blip r:embed="rId2"/>
          <a:stretch>
            <a:fillRect/>
          </a:stretch>
        </p:blipFill>
        <p:spPr>
          <a:xfrm>
            <a:off x="1017372" y="2621280"/>
            <a:ext cx="10157254" cy="2087880"/>
          </a:xfrm>
          <a:prstGeom prst="rect">
            <a:avLst/>
          </a:prstGeom>
        </p:spPr>
      </p:pic>
      <p:sp>
        <p:nvSpPr>
          <p:cNvPr id="17" name="TextBox 16"/>
          <p:cNvSpPr txBox="1"/>
          <p:nvPr/>
        </p:nvSpPr>
        <p:spPr>
          <a:xfrm>
            <a:off x="571500" y="4899660"/>
            <a:ext cx="110490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Original 32 × 32 CIFAR-10 examples, enlarged. These are clean-image estimates, not raw noisy states.</a:t>
            </a:r>
          </a:p>
        </p:txBody>
      </p:sp>
      <p:sp>
        <p:nvSpPr>
          <p:cNvPr id="18" name="TextBox 17"/>
          <p:cNvSpPr txBox="1"/>
          <p:nvPr/>
        </p:nvSpPr>
        <p:spPr>
          <a:xfrm>
            <a:off x="571500" y="5326380"/>
            <a:ext cx="54102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Early: broad structure</a:t>
            </a:r>
          </a:p>
        </p:txBody>
      </p:sp>
      <p:sp>
        <p:nvSpPr>
          <p:cNvPr id="19" name="TextBox 18"/>
          <p:cNvSpPr txBox="1"/>
          <p:nvPr/>
        </p:nvSpPr>
        <p:spPr>
          <a:xfrm>
            <a:off x="571500" y="5715000"/>
            <a:ext cx="5410200" cy="337489"/>
          </a:xfrm>
          <a:prstGeom prst="rect">
            <a:avLst/>
          </a:prstGeom>
          <a:noFill/>
        </p:spPr>
        <p:txBody>
          <a:bodyPr wrap="none" lIns="0" rIns="0" tIns="0" bIns="0">
            <a:spAutoFit/>
          </a:bodyPr>
          <a:lstStyle/>
          <a:p>
            <a:pPr>
              <a:lnSpc>
                <a:spcPts val="2057"/>
              </a:lnSpc>
              <a:spcBef>
                <a:spcPts val="0"/>
              </a:spcBef>
              <a:spcAft>
                <a:spcPts val="0"/>
              </a:spcAft>
              <a:defRPr sz="1620" b="0">
                <a:solidFill>
                  <a:srgbClr val="007F7C"/>
                </a:solidFill>
                <a:latin typeface="DejaVu Sans"/>
              </a:defRPr>
            </a:pPr>
            <a:r>
              <a:t>Later: finer detail</a:t>
            </a:r>
          </a:p>
        </p:txBody>
      </p:sp>
      <p:sp>
        <p:nvSpPr>
          <p:cNvPr id="20" name="TextBox 19"/>
          <p:cNvSpPr txBox="1"/>
          <p:nvPr/>
        </p:nvSpPr>
        <p:spPr>
          <a:xfrm>
            <a:off x="6248400" y="5326380"/>
            <a:ext cx="54102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A published demonstration</a:t>
            </a:r>
          </a:p>
        </p:txBody>
      </p:sp>
      <p:sp>
        <p:nvSpPr>
          <p:cNvPr id="21" name="TextBox 20"/>
          <p:cNvSpPr txBox="1"/>
          <p:nvPr/>
        </p:nvSpPr>
        <p:spPr>
          <a:xfrm>
            <a:off x="6248400" y="5715000"/>
            <a:ext cx="5410200" cy="337489"/>
          </a:xfrm>
          <a:prstGeom prst="rect">
            <a:avLst/>
          </a:prstGeom>
          <a:noFill/>
        </p:spPr>
        <p:txBody>
          <a:bodyPr wrap="none" lIns="0" rIns="0" tIns="0" bIns="0">
            <a:spAutoFit/>
          </a:bodyPr>
          <a:lstStyle/>
          <a:p>
            <a:pPr>
              <a:lnSpc>
                <a:spcPts val="2057"/>
              </a:lnSpc>
              <a:spcBef>
                <a:spcPts val="0"/>
              </a:spcBef>
              <a:spcAft>
                <a:spcPts val="0"/>
              </a:spcAft>
              <a:defRPr sz="1620" b="0">
                <a:solidFill>
                  <a:srgbClr val="007F7C"/>
                </a:solidFill>
                <a:latin typeface="DejaVu Sans"/>
              </a:defRPr>
            </a:pPr>
            <a:r>
              <a:t>Still test your own task and constraints</a:t>
            </a:r>
          </a:p>
        </p:txBody>
      </p:sp>
      <p:cxnSp>
        <p:nvCxnSpPr>
          <p:cNvPr id="22" name="Connector 21"/>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3"/>
              </a:rPr>
              <a:t>Ho, Jain &amp; Abbeel (2020), Denoising Diffusion Probabilistic Models, Fig. 6, p. 7 · arxiv.org/abs/2006.11239v2</a:t>
            </a:r>
          </a:p>
        </p:txBody>
      </p:sp>
      <p:sp>
        <p:nvSpPr>
          <p:cNvPr id="24" name="TextBox 23"/>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02 How diffusion works</a:t>
            </a:r>
          </a:p>
        </p:txBody>
      </p:sp>
      <p:sp>
        <p:nvSpPr>
          <p:cNvPr id="8" name="Rectangle 7"/>
          <p:cNvSpPr/>
          <p:nvPr/>
        </p:nvSpPr>
        <p:spPr>
          <a:xfrm>
            <a:off x="278130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How a CNN sees local patterns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A filter moves; its weights are reused</a:t>
            </a:r>
          </a:p>
        </p:txBody>
      </p:sp>
      <p:sp>
        <p:nvSpPr>
          <p:cNvPr id="14" name="Rounded Rectangle 13"/>
          <p:cNvSpPr/>
          <p:nvPr/>
        </p:nvSpPr>
        <p:spPr>
          <a:xfrm>
            <a:off x="533400" y="2286000"/>
            <a:ext cx="4114800" cy="29337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97913" y="2879598"/>
            <a:ext cx="817245" cy="172250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736217" y="2653283"/>
            <a:ext cx="540639" cy="32689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786509" y="3105912"/>
            <a:ext cx="0" cy="1018413"/>
          </a:xfrm>
          <a:prstGeom prst="line">
            <a:avLst/>
          </a:prstGeom>
          <a:ln w="37718">
            <a:solidFill>
              <a:srgbClr val="A5CEC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151126" y="2615565"/>
            <a:ext cx="427482" cy="427482"/>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39137" y="2703576"/>
            <a:ext cx="251460" cy="2514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07820" y="3581400"/>
            <a:ext cx="723900" cy="723900"/>
          </a:xfrm>
          <a:prstGeom prst="rect">
            <a:avLst/>
          </a:prstGeom>
          <a:solidFill>
            <a:srgbClr val="E3EBE5"/>
          </a:solidFill>
          <a:ln>
            <a:solidFill>
              <a:srgbClr val="D56A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54880"/>
            <a:ext cx="33528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Local patch</a:t>
            </a:r>
          </a:p>
        </p:txBody>
      </p:sp>
      <p:cxnSp>
        <p:nvCxnSpPr>
          <p:cNvPr id="22" name="Connector 21"/>
          <p:cNvCxnSpPr/>
          <p:nvPr/>
        </p:nvCxnSpPr>
        <p:spPr>
          <a:xfrm>
            <a:off x="4876800" y="3733799"/>
            <a:ext cx="8763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642663" y="3733799"/>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5642663" y="3666091"/>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019800" y="2834640"/>
            <a:ext cx="1638300" cy="16383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2987040"/>
            <a:ext cx="388620" cy="38862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444240"/>
            <a:ext cx="388620" cy="38862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3901440"/>
            <a:ext cx="388620" cy="38862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29400" y="2987040"/>
            <a:ext cx="388620" cy="38862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29400" y="3444240"/>
            <a:ext cx="388620" cy="38862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29400" y="3901440"/>
            <a:ext cx="388620" cy="38862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86600" y="2987040"/>
            <a:ext cx="388620" cy="38862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86600" y="3444240"/>
            <a:ext cx="388620" cy="38862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086600" y="3901440"/>
            <a:ext cx="388620" cy="38862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19800" y="4701540"/>
            <a:ext cx="25908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Shared filter</a:t>
            </a:r>
          </a:p>
        </p:txBody>
      </p:sp>
      <p:cxnSp>
        <p:nvCxnSpPr>
          <p:cNvPr id="36" name="Connector 35"/>
          <p:cNvCxnSpPr/>
          <p:nvPr/>
        </p:nvCxnSpPr>
        <p:spPr>
          <a:xfrm>
            <a:off x="7848600" y="3733799"/>
            <a:ext cx="7620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500163" y="3733799"/>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500163" y="3666091"/>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915400" y="2590800"/>
            <a:ext cx="2628900" cy="23241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44000" y="27432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4400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44000" y="338328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44000" y="370332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14400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43434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94520" y="27432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49452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494520" y="338328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494520" y="370332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49452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494520" y="43434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45040" y="27432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4504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45040" y="338328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845040" y="370332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84504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845040" y="43434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195560" y="274320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19556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195560" y="338328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195560" y="370332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9556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195560" y="434340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546080" y="27432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54608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46080" y="338328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546080" y="370332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4608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546080" y="43434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896600" y="27432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896600" y="306324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896600" y="338328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896600" y="370332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96600" y="4023360"/>
            <a:ext cx="274320" cy="25146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896600" y="4343400"/>
            <a:ext cx="274320" cy="251460"/>
          </a:xfrm>
          <a:prstGeom prst="rect">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067800" y="5029200"/>
            <a:ext cx="25146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Feature map</a:t>
            </a:r>
          </a:p>
        </p:txBody>
      </p:sp>
      <p:sp>
        <p:nvSpPr>
          <p:cNvPr id="77" name="TextBox 76"/>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Noisy state + timestep + optional condition → denoiser</a:t>
            </a:r>
          </a:p>
        </p:txBody>
      </p:sp>
      <p:cxnSp>
        <p:nvCxnSpPr>
          <p:cNvPr id="78" name="Connector 77"/>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4; Peebles &amp; Xie, Diffusion Transformers</a:t>
            </a:r>
          </a:p>
        </p:txBody>
      </p:sp>
      <p:sp>
        <p:nvSpPr>
          <p:cNvPr id="80" name="TextBox 79"/>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02 How diffusion works</a:t>
            </a:r>
          </a:p>
        </p:txBody>
      </p:sp>
      <p:sp>
        <p:nvSpPr>
          <p:cNvPr id="8" name="Rectangle 7"/>
          <p:cNvSpPr/>
          <p:nvPr/>
        </p:nvSpPr>
        <p:spPr>
          <a:xfrm>
            <a:off x="278130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Quick check: what changes the model?</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Choose before revealing your answer.</a:t>
            </a:r>
          </a:p>
        </p:txBody>
      </p:sp>
      <p:sp>
        <p:nvSpPr>
          <p:cNvPr id="14" name="Rounded Rectangle 13"/>
          <p:cNvSpPr/>
          <p:nvPr/>
        </p:nvSpPr>
        <p:spPr>
          <a:xfrm>
            <a:off x="533400" y="2362200"/>
            <a:ext cx="11125200" cy="838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2575560"/>
            <a:ext cx="106984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A · A user changes a prompt</a:t>
            </a:r>
          </a:p>
        </p:txBody>
      </p:sp>
      <p:sp>
        <p:nvSpPr>
          <p:cNvPr id="16" name="Rounded Rectangle 15"/>
          <p:cNvSpPr/>
          <p:nvPr/>
        </p:nvSpPr>
        <p:spPr>
          <a:xfrm>
            <a:off x="533400" y="3368040"/>
            <a:ext cx="11125200" cy="838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760" y="3581400"/>
            <a:ext cx="106984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B · Training updates the weights</a:t>
            </a:r>
          </a:p>
        </p:txBody>
      </p:sp>
      <p:sp>
        <p:nvSpPr>
          <p:cNvPr id="18" name="Rounded Rectangle 17"/>
          <p:cNvSpPr/>
          <p:nvPr/>
        </p:nvSpPr>
        <p:spPr>
          <a:xfrm>
            <a:off x="533400" y="4373880"/>
            <a:ext cx="11125200" cy="838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4587240"/>
            <a:ext cx="106984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C · A user chooses another random seed</a:t>
            </a:r>
          </a:p>
        </p:txBody>
      </p:sp>
      <p:sp>
        <p:nvSpPr>
          <p:cNvPr id="20" name="TextBox 19"/>
          <p:cNvSpPr txBox="1"/>
          <p:nvPr/>
        </p:nvSpPr>
        <p:spPr>
          <a:xfrm>
            <a:off x="609600" y="5737860"/>
            <a:ext cx="108204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007F7C"/>
                </a:solidFill>
                <a:latin typeface="DejaVu Sans"/>
              </a:defRPr>
            </a:pPr>
            <a:r>
              <a:t>PAUSE → choose → explain why</a:t>
            </a:r>
          </a:p>
        </p:txBody>
      </p:sp>
      <p:cxnSp>
        <p:nvCxnSpPr>
          <p:cNvPr id="21" name="Connector 20"/>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3–4</a:t>
            </a:r>
          </a:p>
        </p:txBody>
      </p:sp>
      <p:sp>
        <p:nvSpPr>
          <p:cNvPr id="23" name="TextBox 2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03 / Test the whole workflow</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An attractive image is a candidate. Approval needs evidence.</a:t>
            </a:r>
          </a:p>
        </p:txBody>
      </p:sp>
      <p:pic>
        <p:nvPicPr>
          <p:cNvPr id="14" name="Picture 13" descr="campaign-ai.png"/>
          <p:cNvPicPr>
            <a:picLocks noChangeAspect="1"/>
          </p:cNvPicPr>
          <p:nvPr/>
        </p:nvPicPr>
        <p:blipFill>
          <a:blip r:embed="rId2"/>
          <a:stretch>
            <a:fillRect/>
          </a:stretch>
        </p:blipFill>
        <p:spPr>
          <a:xfrm>
            <a:off x="533400" y="2576781"/>
            <a:ext cx="4572000" cy="2573117"/>
          </a:xfrm>
          <a:prstGeom prst="rect">
            <a:avLst/>
          </a:prstGeom>
        </p:spPr>
      </p:pic>
      <p:sp>
        <p:nvSpPr>
          <p:cNvPr id="15" name="TextBox 14"/>
          <p:cNvSpPr txBox="1"/>
          <p:nvPr/>
        </p:nvSpPr>
        <p:spPr>
          <a:xfrm>
            <a:off x="632460" y="5364480"/>
            <a:ext cx="4419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7AE0C5"/>
                </a:solidFill>
                <a:latin typeface="DejaVu Sans"/>
              </a:defRPr>
            </a:pPr>
            <a:r>
              <a:t>VISIONARY STUDIOS</a:t>
            </a:r>
          </a:p>
        </p:txBody>
      </p:sp>
      <p:sp>
        <p:nvSpPr>
          <p:cNvPr id="16" name="TextBox 15"/>
          <p:cNvSpPr txBox="1"/>
          <p:nvPr/>
        </p:nvSpPr>
        <p:spPr>
          <a:xfrm>
            <a:off x="5943600" y="2682240"/>
            <a:ext cx="5334000" cy="453618"/>
          </a:xfrm>
          <a:prstGeom prst="rect">
            <a:avLst/>
          </a:prstGeom>
          <a:noFill/>
        </p:spPr>
        <p:txBody>
          <a:bodyPr wrap="none" lIns="0" rIns="0" tIns="0" bIns="0">
            <a:spAutoFit/>
          </a:bodyPr>
          <a:lstStyle/>
          <a:p>
            <a:pPr>
              <a:lnSpc>
                <a:spcPts val="2971"/>
              </a:lnSpc>
              <a:spcBef>
                <a:spcPts val="0"/>
              </a:spcBef>
              <a:spcAft>
                <a:spcPts val="0"/>
              </a:spcAft>
              <a:defRPr sz="2340" b="1">
                <a:solidFill>
                  <a:srgbClr val="F5F2EA"/>
                </a:solidFill>
                <a:latin typeface="DejaVu Sans"/>
              </a:defRPr>
            </a:pPr>
            <a:r>
              <a:t>Generate a candidate</a:t>
            </a:r>
          </a:p>
        </p:txBody>
      </p:sp>
      <p:cxnSp>
        <p:nvCxnSpPr>
          <p:cNvPr id="17" name="Connector 16"/>
          <p:cNvCxnSpPr/>
          <p:nvPr/>
        </p:nvCxnSpPr>
        <p:spPr>
          <a:xfrm>
            <a:off x="6301740" y="3771900"/>
            <a:ext cx="0" cy="563880"/>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234031" y="4225343"/>
            <a:ext cx="67709"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301740" y="4225343"/>
            <a:ext cx="67708"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0" y="4632960"/>
            <a:ext cx="5334000" cy="492328"/>
          </a:xfrm>
          <a:prstGeom prst="rect">
            <a:avLst/>
          </a:prstGeom>
          <a:noFill/>
        </p:spPr>
        <p:txBody>
          <a:bodyPr wrap="none" lIns="0" rIns="0" tIns="0" bIns="0">
            <a:spAutoFit/>
          </a:bodyPr>
          <a:lstStyle/>
          <a:p>
            <a:pPr>
              <a:lnSpc>
                <a:spcPts val="3276"/>
              </a:lnSpc>
              <a:spcBef>
                <a:spcPts val="0"/>
              </a:spcBef>
              <a:spcAft>
                <a:spcPts val="0"/>
              </a:spcAft>
              <a:defRPr sz="2580" b="1">
                <a:solidFill>
                  <a:srgbClr val="7AE0C5"/>
                </a:solidFill>
                <a:latin typeface="DejaVu Sans"/>
              </a:defRPr>
            </a:pPr>
            <a:r>
              <a:t>Decide whether it works</a:t>
            </a:r>
          </a:p>
        </p:txBody>
      </p:sp>
      <p:cxnSp>
        <p:nvCxnSpPr>
          <p:cNvPr id="21" name="Connector 2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case study · Visionary Studios · original teaching framework</a:t>
            </a:r>
          </a:p>
        </p:txBody>
      </p:sp>
      <p:sp>
        <p:nvSpPr>
          <p:cNvPr id="23" name="TextBox 2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Why can one image take so much compute?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Repeated denoiser evaluations add up.</a:t>
            </a:r>
          </a:p>
        </p:txBody>
      </p:sp>
      <p:sp>
        <p:nvSpPr>
          <p:cNvPr id="14" name="TextBox 13"/>
          <p:cNvSpPr txBox="1"/>
          <p:nvPr/>
        </p:nvSpPr>
        <p:spPr>
          <a:xfrm>
            <a:off x="647700" y="2415540"/>
            <a:ext cx="2286000" cy="1121359"/>
          </a:xfrm>
          <a:prstGeom prst="rect">
            <a:avLst/>
          </a:prstGeom>
          <a:noFill/>
        </p:spPr>
        <p:txBody>
          <a:bodyPr wrap="none" lIns="0" rIns="0" tIns="0" bIns="0">
            <a:spAutoFit/>
          </a:bodyPr>
          <a:lstStyle/>
          <a:p>
            <a:pPr>
              <a:lnSpc>
                <a:spcPts val="8229"/>
              </a:lnSpc>
              <a:spcBef>
                <a:spcPts val="0"/>
              </a:spcBef>
              <a:spcAft>
                <a:spcPts val="0"/>
              </a:spcAft>
              <a:defRPr sz="6480" b="1">
                <a:solidFill>
                  <a:srgbClr val="007F7C"/>
                </a:solidFill>
                <a:latin typeface="DejaVu Sans"/>
              </a:defRPr>
            </a:pPr>
            <a:r>
              <a:t>40</a:t>
            </a:r>
          </a:p>
        </p:txBody>
      </p:sp>
      <p:sp>
        <p:nvSpPr>
          <p:cNvPr id="15" name="TextBox 14"/>
          <p:cNvSpPr txBox="1"/>
          <p:nvPr/>
        </p:nvSpPr>
        <p:spPr>
          <a:xfrm>
            <a:off x="662940" y="3482340"/>
            <a:ext cx="42672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142F35"/>
                </a:solidFill>
                <a:latin typeface="DejaVu Sans"/>
              </a:defRPr>
            </a:pPr>
            <a:r>
              <a:t>sampling steps</a:t>
            </a:r>
          </a:p>
        </p:txBody>
      </p:sp>
      <p:sp>
        <p:nvSpPr>
          <p:cNvPr id="16" name="TextBox 15"/>
          <p:cNvSpPr txBox="1"/>
          <p:nvPr/>
        </p:nvSpPr>
        <p:spPr>
          <a:xfrm>
            <a:off x="6362700" y="2415540"/>
            <a:ext cx="2286000" cy="1121359"/>
          </a:xfrm>
          <a:prstGeom prst="rect">
            <a:avLst/>
          </a:prstGeom>
          <a:noFill/>
        </p:spPr>
        <p:txBody>
          <a:bodyPr wrap="none" lIns="0" rIns="0" tIns="0" bIns="0">
            <a:spAutoFit/>
          </a:bodyPr>
          <a:lstStyle/>
          <a:p>
            <a:pPr>
              <a:lnSpc>
                <a:spcPts val="8229"/>
              </a:lnSpc>
              <a:spcBef>
                <a:spcPts val="0"/>
              </a:spcBef>
              <a:spcAft>
                <a:spcPts val="0"/>
              </a:spcAft>
              <a:defRPr sz="6480" b="1">
                <a:solidFill>
                  <a:srgbClr val="D56A37"/>
                </a:solidFill>
                <a:latin typeface="DejaVu Sans"/>
              </a:defRPr>
            </a:pPr>
            <a:r>
              <a:t>20</a:t>
            </a:r>
          </a:p>
        </p:txBody>
      </p:sp>
      <p:sp>
        <p:nvSpPr>
          <p:cNvPr id="17" name="TextBox 16"/>
          <p:cNvSpPr txBox="1"/>
          <p:nvPr/>
        </p:nvSpPr>
        <p:spPr>
          <a:xfrm>
            <a:off x="6377940" y="3482340"/>
            <a:ext cx="42672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142F35"/>
                </a:solidFill>
                <a:latin typeface="DejaVu Sans"/>
              </a:defRPr>
            </a:pPr>
            <a:r>
              <a:t>sampling steps</a:t>
            </a:r>
          </a:p>
        </p:txBody>
      </p:sp>
      <p:sp>
        <p:nvSpPr>
          <p:cNvPr id="18" name="Rectangle 17"/>
          <p:cNvSpPr/>
          <p:nvPr/>
        </p:nvSpPr>
        <p:spPr>
          <a:xfrm>
            <a:off x="685800" y="4130040"/>
            <a:ext cx="4953000" cy="243840"/>
          </a:xfrm>
          <a:prstGeom prst="rect">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130040"/>
            <a:ext cx="2476500" cy="2438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48200"/>
            <a:ext cx="4724400" cy="502005"/>
          </a:xfrm>
          <a:prstGeom prst="rect">
            <a:avLst/>
          </a:prstGeom>
          <a:noFill/>
        </p:spPr>
        <p:txBody>
          <a:bodyPr wrap="none" lIns="0" rIns="0" tIns="0" bIns="0">
            <a:spAutoFit/>
          </a:bodyPr>
          <a:lstStyle/>
          <a:p>
            <a:pPr>
              <a:lnSpc>
                <a:spcPts val="3352"/>
              </a:lnSpc>
              <a:spcBef>
                <a:spcPts val="0"/>
              </a:spcBef>
              <a:spcAft>
                <a:spcPts val="0"/>
              </a:spcAft>
              <a:defRPr sz="2640" b="1">
                <a:solidFill>
                  <a:srgbClr val="142F35"/>
                </a:solidFill>
                <a:latin typeface="DejaVu Sans"/>
              </a:defRPr>
            </a:pPr>
            <a:r>
              <a:t>≈ 3.2 seconds</a:t>
            </a:r>
          </a:p>
        </p:txBody>
      </p:sp>
      <p:sp>
        <p:nvSpPr>
          <p:cNvPr id="21" name="TextBox 20"/>
          <p:cNvSpPr txBox="1"/>
          <p:nvPr/>
        </p:nvSpPr>
        <p:spPr>
          <a:xfrm>
            <a:off x="6400800" y="4648200"/>
            <a:ext cx="4724400" cy="502005"/>
          </a:xfrm>
          <a:prstGeom prst="rect">
            <a:avLst/>
          </a:prstGeom>
          <a:noFill/>
        </p:spPr>
        <p:txBody>
          <a:bodyPr wrap="none" lIns="0" rIns="0" tIns="0" bIns="0">
            <a:spAutoFit/>
          </a:bodyPr>
          <a:lstStyle/>
          <a:p>
            <a:pPr>
              <a:lnSpc>
                <a:spcPts val="3352"/>
              </a:lnSpc>
              <a:spcBef>
                <a:spcPts val="0"/>
              </a:spcBef>
              <a:spcAft>
                <a:spcPts val="0"/>
              </a:spcAft>
              <a:defRPr sz="2640" b="1">
                <a:solidFill>
                  <a:srgbClr val="142F35"/>
                </a:solidFill>
                <a:latin typeface="DejaVu Sans"/>
              </a:defRPr>
            </a:pPr>
            <a:r>
              <a:t>≈ 1.6 seconds</a:t>
            </a:r>
          </a:p>
        </p:txBody>
      </p:sp>
      <p:sp>
        <p:nvSpPr>
          <p:cNvPr id="22" name="TextBox 21"/>
          <p:cNvSpPr txBox="1"/>
          <p:nvPr/>
        </p:nvSpPr>
        <p:spPr>
          <a:xfrm>
            <a:off x="685800" y="5585460"/>
            <a:ext cx="10972800" cy="347167"/>
          </a:xfrm>
          <a:prstGeom prst="rect">
            <a:avLst/>
          </a:prstGeom>
          <a:noFill/>
        </p:spPr>
        <p:txBody>
          <a:bodyPr wrap="none" lIns="0" rIns="0" tIns="0" bIns="0">
            <a:spAutoFit/>
          </a:bodyPr>
          <a:lstStyle/>
          <a:p>
            <a:pPr>
              <a:lnSpc>
                <a:spcPts val="2133"/>
              </a:lnSpc>
              <a:spcBef>
                <a:spcPts val="0"/>
              </a:spcBef>
              <a:spcAft>
                <a:spcPts val="0"/>
              </a:spcAft>
              <a:defRPr sz="1680" b="0">
                <a:solidFill>
                  <a:srgbClr val="53696A"/>
                </a:solidFill>
                <a:latin typeface="DejaVu Sans"/>
              </a:defRPr>
            </a:pPr>
            <a:r>
              <a:t>Assume 0.08 s / step. Other costs omitted. Fewer steps may affect quality.</a:t>
            </a:r>
          </a:p>
        </p:txBody>
      </p:sp>
      <p:sp>
        <p:nvSpPr>
          <p:cNvPr id="23" name="TextBox 22"/>
          <p:cNvSpPr txBox="1"/>
          <p:nvPr/>
        </p:nvSpPr>
        <p:spPr>
          <a:xfrm>
            <a:off x="685800" y="5928360"/>
            <a:ext cx="10972800" cy="279425"/>
          </a:xfrm>
          <a:prstGeom prst="rect">
            <a:avLst/>
          </a:prstGeom>
          <a:noFill/>
        </p:spPr>
        <p:txBody>
          <a:bodyPr wrap="none" lIns="0" rIns="0" tIns="0" bIns="0">
            <a:spAutoFit/>
          </a:bodyPr>
          <a:lstStyle/>
          <a:p>
            <a:pPr>
              <a:lnSpc>
                <a:spcPts val="1600"/>
              </a:lnSpc>
              <a:spcBef>
                <a:spcPts val="0"/>
              </a:spcBef>
              <a:spcAft>
                <a:spcPts val="0"/>
              </a:spcAft>
              <a:defRPr sz="1260" b="1">
                <a:solidFill>
                  <a:srgbClr val="007F7C"/>
                </a:solidFill>
                <a:latin typeface="DejaVu Sans"/>
              </a:defRPr>
            </a:pPr>
            <a:r>
              <a:t>Illustrative arithmetic · not measured performance</a:t>
            </a:r>
          </a:p>
        </p:txBody>
      </p:sp>
      <p:cxnSp>
        <p:nvCxnSpPr>
          <p:cNvPr id="24" name="Connector 23"/>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4, 6; illustrative calculation</a:t>
            </a:r>
          </a:p>
        </p:txBody>
      </p:sp>
      <p:sp>
        <p:nvSpPr>
          <p:cNvPr id="26" name="TextBox 25"/>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Count approved images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Generation is only one part of the workflow</a:t>
            </a:r>
          </a:p>
        </p:txBody>
      </p:sp>
      <p:sp>
        <p:nvSpPr>
          <p:cNvPr id="14" name="Rounded Rectangle 13"/>
          <p:cNvSpPr/>
          <p:nvPr/>
        </p:nvSpPr>
        <p:spPr>
          <a:xfrm>
            <a:off x="762000" y="24384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4128" y="26883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91183" y="2578608"/>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115568" y="27980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292352" y="25603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35024" y="26029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24940" y="35204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424940" y="35204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66899" y="24384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129028" y="26883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96083" y="2578608"/>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2220468" y="27980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397252" y="25603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439924" y="26029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71800" y="24384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33928" y="26883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00984" y="2578608"/>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3325367" y="27980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502151" y="25603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544824" y="26029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634740" y="35204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3634740" y="35204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62000" y="40386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24128" y="42885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91183" y="4178807"/>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1115568" y="43982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292352" y="41605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35024" y="42031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424940" y="51206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424940" y="51206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866899" y="40386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129028" y="42885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196083" y="4178807"/>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2220468" y="43982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397252" y="41605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439924" y="42031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971800" y="4038600"/>
            <a:ext cx="952500" cy="1447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233928" y="4288536"/>
            <a:ext cx="396240" cy="835152"/>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300984" y="4178807"/>
            <a:ext cx="262128" cy="158496"/>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3325367" y="4398264"/>
            <a:ext cx="0" cy="493776"/>
          </a:xfrm>
          <a:prstGeom prst="line">
            <a:avLst/>
          </a:prstGeom>
          <a:ln w="18288">
            <a:solidFill>
              <a:srgbClr val="A5CEC3"/>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3502151" y="4160520"/>
            <a:ext cx="207264" cy="207264"/>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544824" y="4203192"/>
            <a:ext cx="121920" cy="121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3634740" y="51206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3634740" y="5120640"/>
            <a:ext cx="190500" cy="190500"/>
          </a:xfrm>
          <a:prstGeom prst="line">
            <a:avLst/>
          </a:prstGeom>
          <a:ln w="3048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495800" y="4152900"/>
            <a:ext cx="8763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261663" y="41529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5261663" y="40851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5600700" y="2705100"/>
            <a:ext cx="1562100" cy="1737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5829300" y="3086100"/>
            <a:ext cx="11049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829300" y="3505200"/>
            <a:ext cx="11049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829300" y="3924300"/>
            <a:ext cx="11049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829300" y="4343400"/>
            <a:ext cx="11049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6210300" y="3162300"/>
            <a:ext cx="914400" cy="91440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278880" y="3230880"/>
            <a:ext cx="777240" cy="777240"/>
          </a:xfrm>
          <a:prstGeom prst="ellipse">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7010400" y="3962399"/>
            <a:ext cx="495300" cy="495301"/>
          </a:xfrm>
          <a:prstGeom prst="line">
            <a:avLst/>
          </a:prstGeom>
          <a:ln w="91439">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37960" y="3604260"/>
            <a:ext cx="76200"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614160" y="351282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24500" y="4953000"/>
            <a:ext cx="3200400" cy="327812"/>
          </a:xfrm>
          <a:prstGeom prst="rect">
            <a:avLst/>
          </a:prstGeom>
          <a:noFill/>
        </p:spPr>
        <p:txBody>
          <a:bodyPr wrap="none" lIns="0" rIns="0" tIns="0" bIns="0">
            <a:spAutoFit/>
          </a:bodyPr>
          <a:lstStyle/>
          <a:p>
            <a:pPr>
              <a:lnSpc>
                <a:spcPts val="1981"/>
              </a:lnSpc>
              <a:spcBef>
                <a:spcPts val="0"/>
              </a:spcBef>
              <a:spcAft>
                <a:spcPts val="0"/>
              </a:spcAft>
              <a:defRPr sz="1560" b="1">
                <a:solidFill>
                  <a:srgbClr val="142F35"/>
                </a:solidFill>
                <a:latin typeface="DejaVu Sans"/>
              </a:defRPr>
            </a:pPr>
            <a:r>
              <a:t>REVIEW + REVISE</a:t>
            </a:r>
          </a:p>
        </p:txBody>
      </p:sp>
      <p:cxnSp>
        <p:nvCxnSpPr>
          <p:cNvPr id="72" name="Connector 71"/>
          <p:cNvCxnSpPr/>
          <p:nvPr/>
        </p:nvCxnSpPr>
        <p:spPr>
          <a:xfrm>
            <a:off x="7734300" y="4152900"/>
            <a:ext cx="8382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462063" y="41529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8462063" y="40851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8915400" y="2819400"/>
            <a:ext cx="121920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9281160" y="3383280"/>
            <a:ext cx="495299" cy="104394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9364980" y="3246120"/>
            <a:ext cx="327660" cy="198120"/>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9395460" y="3520440"/>
            <a:ext cx="0" cy="617220"/>
          </a:xfrm>
          <a:prstGeom prst="line">
            <a:avLst/>
          </a:prstGeom>
          <a:ln w="22859">
            <a:solidFill>
              <a:srgbClr val="A5CEC3"/>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9616440" y="3223260"/>
            <a:ext cx="259080" cy="2590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669780" y="3276600"/>
            <a:ext cx="152400" cy="1524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9372600" y="4739640"/>
            <a:ext cx="76200"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9448800" y="464820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10287000" y="2819400"/>
            <a:ext cx="121920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10652760" y="3383280"/>
            <a:ext cx="495299" cy="104394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0736580" y="3246120"/>
            <a:ext cx="327660" cy="198120"/>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0767060" y="3520440"/>
            <a:ext cx="0" cy="617220"/>
          </a:xfrm>
          <a:prstGeom prst="line">
            <a:avLst/>
          </a:prstGeom>
          <a:ln w="22859">
            <a:solidFill>
              <a:srgbClr val="A5CEC3"/>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988040" y="3223260"/>
            <a:ext cx="259080" cy="2590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041380" y="3276600"/>
            <a:ext cx="152400" cy="1524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10744200" y="4739640"/>
            <a:ext cx="76200"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820400" y="464820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Drafts → review → approved assets · classroom illustration</a:t>
            </a:r>
          </a:p>
        </p:txBody>
      </p:sp>
      <p:cxnSp>
        <p:nvCxnSpPr>
          <p:cNvPr id="92" name="Connector 91"/>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4, 6–7; lesson workflow analysis</a:t>
            </a:r>
          </a:p>
        </p:txBody>
      </p:sp>
      <p:sp>
        <p:nvSpPr>
          <p:cNvPr id="94" name="TextBox 93"/>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Same subject. Different scenes.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DreamBooth · a real personalization example</a:t>
            </a:r>
          </a:p>
        </p:txBody>
      </p:sp>
      <p:pic>
        <p:nvPicPr>
          <p:cNvPr id="14" name="Picture 13" descr="dreambooth-figure-1.png"/>
          <p:cNvPicPr>
            <a:picLocks noChangeAspect="1"/>
          </p:cNvPicPr>
          <p:nvPr/>
        </p:nvPicPr>
        <p:blipFill>
          <a:blip r:embed="rId2"/>
          <a:stretch>
            <a:fillRect/>
          </a:stretch>
        </p:blipFill>
        <p:spPr>
          <a:xfrm>
            <a:off x="533400" y="2324862"/>
            <a:ext cx="11125200" cy="3115055"/>
          </a:xfrm>
          <a:prstGeom prst="rect">
            <a:avLst/>
          </a:prstGeom>
        </p:spPr>
      </p:pic>
      <p:sp>
        <p:nvSpPr>
          <p:cNvPr id="15" name="TextBox 14"/>
          <p:cNvSpPr txBox="1"/>
          <p:nvPr/>
        </p:nvSpPr>
        <p:spPr>
          <a:xfrm>
            <a:off x="685800" y="5692140"/>
            <a:ext cx="52578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Identity: which subject?</a:t>
            </a:r>
          </a:p>
        </p:txBody>
      </p:sp>
      <p:sp>
        <p:nvSpPr>
          <p:cNvPr id="16" name="TextBox 15"/>
          <p:cNvSpPr txBox="1"/>
          <p:nvPr/>
        </p:nvSpPr>
        <p:spPr>
          <a:xfrm>
            <a:off x="6477000" y="5692140"/>
            <a:ext cx="51816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Style: how is it rendered?</a:t>
            </a:r>
          </a:p>
        </p:txBody>
      </p:sp>
      <p:cxnSp>
        <p:nvCxnSpPr>
          <p:cNvPr id="17" name="Connector 16"/>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3"/>
              </a:rPr>
              <a:t>Ruiz et al. (2023), DreamBooth, Fig. 1, p. 1 · arxiv.org/abs/2208.12242v2</a:t>
            </a:r>
          </a:p>
        </p:txBody>
      </p:sp>
      <p:sp>
        <p:nvSpPr>
          <p:cNvPr id="19" name="TextBox 18"/>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Build a test sheet</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One brief · several outputs · five criteria</a:t>
            </a:r>
          </a:p>
        </p:txBody>
      </p:sp>
      <p:sp>
        <p:nvSpPr>
          <p:cNvPr id="14" name="Rounded Rectangle 13"/>
          <p:cNvSpPr/>
          <p:nvPr/>
        </p:nvSpPr>
        <p:spPr>
          <a:xfrm>
            <a:off x="533400" y="2324100"/>
            <a:ext cx="4648200" cy="35585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mpaign-ai.png"/>
          <p:cNvPicPr>
            <a:picLocks noChangeAspect="1"/>
          </p:cNvPicPr>
          <p:nvPr/>
        </p:nvPicPr>
        <p:blipFill>
          <a:blip r:embed="rId2"/>
          <a:stretch>
            <a:fillRect/>
          </a:stretch>
        </p:blipFill>
        <p:spPr>
          <a:xfrm>
            <a:off x="725033" y="2514600"/>
            <a:ext cx="4264932" cy="2400300"/>
          </a:xfrm>
          <a:prstGeom prst="rect">
            <a:avLst/>
          </a:prstGeom>
        </p:spPr>
      </p:pic>
      <p:sp>
        <p:nvSpPr>
          <p:cNvPr id="16" name="TextBox 15"/>
          <p:cNvSpPr txBox="1"/>
          <p:nvPr/>
        </p:nvSpPr>
        <p:spPr>
          <a:xfrm>
            <a:off x="762000" y="5265420"/>
            <a:ext cx="41529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Judge the set, not the winner.</a:t>
            </a:r>
          </a:p>
        </p:txBody>
      </p:sp>
      <p:sp>
        <p:nvSpPr>
          <p:cNvPr id="17" name="Rounded Rectangle 16"/>
          <p:cNvSpPr/>
          <p:nvPr/>
        </p:nvSpPr>
        <p:spPr>
          <a:xfrm>
            <a:off x="5715000" y="2324100"/>
            <a:ext cx="5943600" cy="594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20740" y="2491740"/>
            <a:ext cx="236220" cy="236220"/>
          </a:xfrm>
          <a:prstGeom prst="rect">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2407920"/>
            <a:ext cx="23622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Quality</a:t>
            </a:r>
          </a:p>
        </p:txBody>
      </p:sp>
      <p:sp>
        <p:nvSpPr>
          <p:cNvPr id="20" name="TextBox 19"/>
          <p:cNvSpPr txBox="1"/>
          <p:nvPr/>
        </p:nvSpPr>
        <p:spPr>
          <a:xfrm>
            <a:off x="8702040" y="2476500"/>
            <a:ext cx="2819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Matches the brief</a:t>
            </a:r>
          </a:p>
        </p:txBody>
      </p:sp>
      <p:sp>
        <p:nvSpPr>
          <p:cNvPr id="21" name="Rounded Rectangle 20"/>
          <p:cNvSpPr/>
          <p:nvPr/>
        </p:nvSpPr>
        <p:spPr>
          <a:xfrm>
            <a:off x="5715000" y="3017520"/>
            <a:ext cx="5943600" cy="594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20740" y="3185160"/>
            <a:ext cx="236220" cy="236220"/>
          </a:xfrm>
          <a:prstGeom prst="rect">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3101340"/>
            <a:ext cx="23622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Consistency</a:t>
            </a:r>
          </a:p>
        </p:txBody>
      </p:sp>
      <p:sp>
        <p:nvSpPr>
          <p:cNvPr id="24" name="TextBox 23"/>
          <p:cNvSpPr txBox="1"/>
          <p:nvPr/>
        </p:nvSpPr>
        <p:spPr>
          <a:xfrm>
            <a:off x="8702040" y="3169920"/>
            <a:ext cx="2819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Same identity / style</a:t>
            </a:r>
          </a:p>
        </p:txBody>
      </p:sp>
      <p:sp>
        <p:nvSpPr>
          <p:cNvPr id="25" name="Rounded Rectangle 24"/>
          <p:cNvSpPr/>
          <p:nvPr/>
        </p:nvSpPr>
        <p:spPr>
          <a:xfrm>
            <a:off x="5715000" y="3710940"/>
            <a:ext cx="5943600" cy="594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20740" y="3878579"/>
            <a:ext cx="236220" cy="236220"/>
          </a:xfrm>
          <a:prstGeom prst="rect">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600" y="3794760"/>
            <a:ext cx="23622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Efficiency</a:t>
            </a:r>
          </a:p>
        </p:txBody>
      </p:sp>
      <p:sp>
        <p:nvSpPr>
          <p:cNvPr id="28" name="TextBox 27"/>
          <p:cNvSpPr txBox="1"/>
          <p:nvPr/>
        </p:nvSpPr>
        <p:spPr>
          <a:xfrm>
            <a:off x="8702040" y="3863339"/>
            <a:ext cx="2819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Time / accepted asset</a:t>
            </a:r>
          </a:p>
        </p:txBody>
      </p:sp>
      <p:sp>
        <p:nvSpPr>
          <p:cNvPr id="29" name="Rounded Rectangle 28"/>
          <p:cNvSpPr/>
          <p:nvPr/>
        </p:nvSpPr>
        <p:spPr>
          <a:xfrm>
            <a:off x="5715000" y="4404360"/>
            <a:ext cx="5943600" cy="594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20740" y="4572000"/>
            <a:ext cx="236220" cy="236220"/>
          </a:xfrm>
          <a:prstGeom prst="rect">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4600" y="4488180"/>
            <a:ext cx="23622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Stability</a:t>
            </a:r>
          </a:p>
        </p:txBody>
      </p:sp>
      <p:sp>
        <p:nvSpPr>
          <p:cNvPr id="32" name="TextBox 31"/>
          <p:cNvSpPr txBox="1"/>
          <p:nvPr/>
        </p:nvSpPr>
        <p:spPr>
          <a:xfrm>
            <a:off x="8702040" y="4556760"/>
            <a:ext cx="2819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Training evidence</a:t>
            </a:r>
          </a:p>
        </p:txBody>
      </p:sp>
      <p:sp>
        <p:nvSpPr>
          <p:cNvPr id="33" name="Rounded Rectangle 32"/>
          <p:cNvSpPr/>
          <p:nvPr/>
        </p:nvSpPr>
        <p:spPr>
          <a:xfrm>
            <a:off x="5715000" y="5097780"/>
            <a:ext cx="5943600" cy="5943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20740" y="5265420"/>
            <a:ext cx="236220" cy="236220"/>
          </a:xfrm>
          <a:prstGeom prst="rect">
            <a:avLst/>
          </a:prstGeom>
          <a:solidFill>
            <a:srgbClr val="FFFFFF"/>
          </a:solidFill>
          <a:ln>
            <a:solidFill>
              <a:srgbClr val="007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24600" y="5181600"/>
            <a:ext cx="23622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Flexibility</a:t>
            </a:r>
          </a:p>
        </p:txBody>
      </p:sp>
      <p:sp>
        <p:nvSpPr>
          <p:cNvPr id="36" name="TextBox 35"/>
          <p:cNvSpPr txBox="1"/>
          <p:nvPr/>
        </p:nvSpPr>
        <p:spPr>
          <a:xfrm>
            <a:off x="8702040" y="5250180"/>
            <a:ext cx="28194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New briefs / larger loads</a:t>
            </a:r>
          </a:p>
        </p:txBody>
      </p:sp>
      <p:cxnSp>
        <p:nvCxnSpPr>
          <p:cNvPr id="37" name="Connector 36"/>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6</a:t>
            </a:r>
          </a:p>
        </p:txBody>
      </p:sp>
      <p:sp>
        <p:nvSpPr>
          <p:cNvPr id="39" name="TextBox 38"/>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Curate before you train</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Quality · labels · duplicates · provenance</a:t>
            </a:r>
          </a:p>
        </p:txBody>
      </p:sp>
      <p:sp>
        <p:nvSpPr>
          <p:cNvPr id="14" name="Rounded Rectangle 13"/>
          <p:cNvSpPr/>
          <p:nvPr/>
        </p:nvSpPr>
        <p:spPr>
          <a:xfrm>
            <a:off x="647700" y="2514600"/>
            <a:ext cx="1295400" cy="187451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69086" y="2911602"/>
            <a:ext cx="421005" cy="887349"/>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40333" y="2795016"/>
            <a:ext cx="278511" cy="168401"/>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166241" y="3028188"/>
            <a:ext cx="0" cy="524637"/>
          </a:xfrm>
          <a:prstGeom prst="line">
            <a:avLst/>
          </a:prstGeom>
          <a:ln w="19430">
            <a:solidFill>
              <a:srgbClr val="A5CEC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354074" y="2775585"/>
            <a:ext cx="220217" cy="220217"/>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99412" y="2820924"/>
            <a:ext cx="129540" cy="1295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4008120"/>
            <a:ext cx="11811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D56A37"/>
                </a:solidFill>
                <a:latin typeface="DejaVu Sans"/>
              </a:defRPr>
            </a:pPr>
            <a:r>
              <a:t>copy A</a:t>
            </a:r>
          </a:p>
        </p:txBody>
      </p:sp>
      <p:sp>
        <p:nvSpPr>
          <p:cNvPr id="21" name="Rounded Rectangle 20"/>
          <p:cNvSpPr/>
          <p:nvPr/>
        </p:nvSpPr>
        <p:spPr>
          <a:xfrm>
            <a:off x="2095499" y="2514600"/>
            <a:ext cx="1295400" cy="187451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16886" y="2911602"/>
            <a:ext cx="421005" cy="887349"/>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88132" y="2795016"/>
            <a:ext cx="278511" cy="168401"/>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2614041" y="3028188"/>
            <a:ext cx="0" cy="524637"/>
          </a:xfrm>
          <a:prstGeom prst="line">
            <a:avLst/>
          </a:prstGeom>
          <a:ln w="19430">
            <a:solidFill>
              <a:srgbClr val="A5CEC3"/>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801874" y="2775585"/>
            <a:ext cx="220217" cy="220217"/>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847213" y="2820924"/>
            <a:ext cx="129540" cy="1295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71700" y="4008120"/>
            <a:ext cx="11811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D56A37"/>
                </a:solidFill>
                <a:latin typeface="DejaVu Sans"/>
              </a:defRPr>
            </a:pPr>
            <a:r>
              <a:t>copy A</a:t>
            </a:r>
          </a:p>
        </p:txBody>
      </p:sp>
      <p:sp>
        <p:nvSpPr>
          <p:cNvPr id="28" name="Rounded Rectangle 27"/>
          <p:cNvSpPr/>
          <p:nvPr/>
        </p:nvSpPr>
        <p:spPr>
          <a:xfrm>
            <a:off x="3543300" y="2514600"/>
            <a:ext cx="1295400" cy="187451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64685" y="2911602"/>
            <a:ext cx="421005" cy="887349"/>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035932" y="2795016"/>
            <a:ext cx="278511" cy="168401"/>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4061840" y="3028188"/>
            <a:ext cx="0" cy="524637"/>
          </a:xfrm>
          <a:prstGeom prst="line">
            <a:avLst/>
          </a:prstGeom>
          <a:ln w="19430">
            <a:solidFill>
              <a:srgbClr val="A5CEC3"/>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249673" y="2775585"/>
            <a:ext cx="220217" cy="220217"/>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95013" y="2820924"/>
            <a:ext cx="129540" cy="1295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9500" y="4008120"/>
            <a:ext cx="11811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D56A37"/>
                </a:solidFill>
                <a:latin typeface="DejaVu Sans"/>
              </a:defRPr>
            </a:pPr>
            <a:r>
              <a:t>“red shoe”</a:t>
            </a:r>
          </a:p>
        </p:txBody>
      </p:sp>
      <p:sp>
        <p:nvSpPr>
          <p:cNvPr id="35" name="Rounded Rectangle 34"/>
          <p:cNvSpPr/>
          <p:nvPr/>
        </p:nvSpPr>
        <p:spPr>
          <a:xfrm>
            <a:off x="4991100" y="2514600"/>
            <a:ext cx="1295400" cy="187451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12486" y="2911602"/>
            <a:ext cx="421005" cy="887349"/>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83733" y="2795016"/>
            <a:ext cx="278511" cy="168401"/>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5509641" y="3028188"/>
            <a:ext cx="0" cy="524637"/>
          </a:xfrm>
          <a:prstGeom prst="line">
            <a:avLst/>
          </a:prstGeom>
          <a:ln w="19430">
            <a:solidFill>
              <a:srgbClr val="A5CEC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697474" y="2775585"/>
            <a:ext cx="220217" cy="220217"/>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742813" y="2820924"/>
            <a:ext cx="129540" cy="1295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67300" y="4008120"/>
            <a:ext cx="11811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D56A37"/>
                </a:solidFill>
                <a:latin typeface="DejaVu Sans"/>
              </a:defRPr>
            </a:pPr>
            <a:r>
              <a:t>source: ?</a:t>
            </a:r>
          </a:p>
        </p:txBody>
      </p:sp>
      <p:cxnSp>
        <p:nvCxnSpPr>
          <p:cNvPr id="42" name="Connector 41"/>
          <p:cNvCxnSpPr/>
          <p:nvPr/>
        </p:nvCxnSpPr>
        <p:spPr>
          <a:xfrm>
            <a:off x="6667500" y="3429000"/>
            <a:ext cx="9906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547663" y="34290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547663" y="33612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077200" y="2407920"/>
            <a:ext cx="3276600" cy="2438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8305800" y="2788920"/>
            <a:ext cx="2819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05800" y="3208020"/>
            <a:ext cx="2819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305800" y="3627120"/>
            <a:ext cx="2819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05800" y="4046220"/>
            <a:ext cx="2819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67699" y="2682240"/>
            <a:ext cx="76201"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343900" y="259080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67699" y="3223260"/>
            <a:ext cx="76201"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343900" y="313182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267699" y="3764279"/>
            <a:ext cx="76201" cy="91441"/>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343900" y="367284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915400" y="2628900"/>
            <a:ext cx="2286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Clean</a:t>
            </a:r>
          </a:p>
        </p:txBody>
      </p:sp>
      <p:sp>
        <p:nvSpPr>
          <p:cNvPr id="57" name="TextBox 56"/>
          <p:cNvSpPr txBox="1"/>
          <p:nvPr/>
        </p:nvSpPr>
        <p:spPr>
          <a:xfrm>
            <a:off x="8915400" y="3169920"/>
            <a:ext cx="2286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Label</a:t>
            </a:r>
          </a:p>
        </p:txBody>
      </p:sp>
      <p:sp>
        <p:nvSpPr>
          <p:cNvPr id="58" name="TextBox 57"/>
          <p:cNvSpPr txBox="1"/>
          <p:nvPr/>
        </p:nvSpPr>
        <p:spPr>
          <a:xfrm>
            <a:off x="8915400" y="3710940"/>
            <a:ext cx="2286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Document</a:t>
            </a:r>
          </a:p>
        </p:txBody>
      </p:sp>
      <p:sp>
        <p:nvSpPr>
          <p:cNvPr id="59" name="TextBox 58"/>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Separate evaluation data before testing. · illustrative records</a:t>
            </a:r>
          </a:p>
        </p:txBody>
      </p:sp>
      <p:cxnSp>
        <p:nvCxnSpPr>
          <p:cNvPr id="60" name="Connector 5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6–7</a:t>
            </a:r>
          </a:p>
        </p:txBody>
      </p:sp>
      <p:sp>
        <p:nvSpPr>
          <p:cNvPr id="62" name="TextBox 6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Who—or what—is missing?</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An audit loop, illustrated with a fictional dataset</a:t>
            </a:r>
          </a:p>
        </p:txBody>
      </p:sp>
      <p:sp>
        <p:nvSpPr>
          <p:cNvPr id="14" name="Rounded Rectangle 13"/>
          <p:cNvSpPr/>
          <p:nvPr/>
        </p:nvSpPr>
        <p:spPr>
          <a:xfrm>
            <a:off x="533400" y="2362200"/>
            <a:ext cx="4724400" cy="26517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529840"/>
            <a:ext cx="4343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Coverage now</a:t>
            </a:r>
          </a:p>
        </p:txBody>
      </p:sp>
      <p:sp>
        <p:nvSpPr>
          <p:cNvPr id="16" name="Rounded Rectangle 15"/>
          <p:cNvSpPr/>
          <p:nvPr/>
        </p:nvSpPr>
        <p:spPr>
          <a:xfrm>
            <a:off x="83820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3162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22504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1846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1188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0530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820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53162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22504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91846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61188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05300" y="3848099"/>
            <a:ext cx="556260" cy="556260"/>
          </a:xfrm>
          <a:prstGeom prst="roundRect">
            <a:avLst>
              <a:gd name="adj" fmla="val 5000"/>
            </a:avLst>
          </a:prstGeom>
          <a:solidFill>
            <a:srgbClr val="B292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934200" y="2362200"/>
            <a:ext cx="4724400" cy="26517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24700" y="2529840"/>
            <a:ext cx="4343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Coverage to investigate</a:t>
            </a:r>
          </a:p>
        </p:txBody>
      </p:sp>
      <p:sp>
        <p:nvSpPr>
          <p:cNvPr id="30" name="Rounded Rectangle 29"/>
          <p:cNvSpPr/>
          <p:nvPr/>
        </p:nvSpPr>
        <p:spPr>
          <a:xfrm>
            <a:off x="723900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932420" y="3124200"/>
            <a:ext cx="556260" cy="55626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625840" y="3124200"/>
            <a:ext cx="556260" cy="55626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319260" y="3124200"/>
            <a:ext cx="556260" cy="556260"/>
          </a:xfrm>
          <a:prstGeom prst="roundRect">
            <a:avLst>
              <a:gd name="adj" fmla="val 5000"/>
            </a:avLst>
          </a:prstGeom>
          <a:solidFill>
            <a:srgbClr val="B292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012680" y="3124200"/>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706100" y="3124200"/>
            <a:ext cx="556260" cy="55626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239000" y="3848099"/>
            <a:ext cx="556260" cy="55626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932420" y="3848099"/>
            <a:ext cx="556260" cy="556260"/>
          </a:xfrm>
          <a:prstGeom prst="roundRect">
            <a:avLst>
              <a:gd name="adj" fmla="val 5000"/>
            </a:avLst>
          </a:prstGeom>
          <a:solidFill>
            <a:srgbClr val="B292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25840" y="3848099"/>
            <a:ext cx="556260" cy="5562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319260" y="3848099"/>
            <a:ext cx="556260" cy="55626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012680" y="3848099"/>
            <a:ext cx="556260" cy="55626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706100" y="3848099"/>
            <a:ext cx="556260" cy="556260"/>
          </a:xfrm>
          <a:prstGeom prst="roundRect">
            <a:avLst>
              <a:gd name="adj" fmla="val 5000"/>
            </a:avLst>
          </a:prstGeom>
          <a:solidFill>
            <a:srgbClr val="B292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5562600" y="3642360"/>
            <a:ext cx="10668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18963" y="364236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6518963" y="357465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372100" y="2964180"/>
            <a:ext cx="13716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142F35"/>
                </a:solidFill>
                <a:latin typeface="DejaVu Sans"/>
              </a:defRPr>
            </a:pPr>
            <a:r>
              <a:t>Inspect</a:t>
            </a:r>
          </a:p>
        </p:txBody>
      </p:sp>
      <p:cxnSp>
        <p:nvCxnSpPr>
          <p:cNvPr id="46" name="Connector 45"/>
          <p:cNvCxnSpPr/>
          <p:nvPr/>
        </p:nvCxnSpPr>
        <p:spPr>
          <a:xfrm flipH="1">
            <a:off x="2819400" y="5334000"/>
            <a:ext cx="64008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819400" y="526629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819400" y="533400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038600" y="5516880"/>
            <a:ext cx="5029200" cy="376199"/>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Revise → retest → listen</a:t>
            </a:r>
          </a:p>
        </p:txBody>
      </p:sp>
      <p:sp>
        <p:nvSpPr>
          <p:cNvPr id="50" name="TextBox 49"/>
          <p:cNvSpPr txBox="1"/>
          <p:nvPr/>
        </p:nvSpPr>
        <p:spPr>
          <a:xfrm>
            <a:off x="609600" y="5996940"/>
            <a:ext cx="110490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53696A"/>
                </a:solidFill>
                <a:latin typeface="DejaVu Sans"/>
              </a:defRPr>
            </a:pPr>
            <a:r>
              <a:t>Fictional situations, not demographic data or measured model outputs.</a:t>
            </a:r>
          </a:p>
        </p:txBody>
      </p:sp>
      <p:cxnSp>
        <p:nvCxnSpPr>
          <p:cNvPr id="51" name="Connector 50"/>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6–7; lesson scenario</a:t>
            </a:r>
          </a:p>
        </p:txBody>
      </p:sp>
      <p:sp>
        <p:nvSpPr>
          <p:cNvPr id="53" name="TextBox 5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Follow the image’s journey</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Three places to check rights</a:t>
            </a:r>
          </a:p>
        </p:txBody>
      </p:sp>
      <p:sp>
        <p:nvSpPr>
          <p:cNvPr id="14" name="Rounded Rectangle 13"/>
          <p:cNvSpPr/>
          <p:nvPr/>
        </p:nvSpPr>
        <p:spPr>
          <a:xfrm>
            <a:off x="533400" y="2331720"/>
            <a:ext cx="3581400" cy="3124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DATA</a:t>
            </a:r>
          </a:p>
        </p:txBody>
      </p:sp>
      <p:sp>
        <p:nvSpPr>
          <p:cNvPr id="16" name="Rounded Rectangle 15"/>
          <p:cNvSpPr/>
          <p:nvPr/>
        </p:nvSpPr>
        <p:spPr>
          <a:xfrm>
            <a:off x="4305300" y="2331720"/>
            <a:ext cx="3581400" cy="3124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OUTPUT</a:t>
            </a:r>
          </a:p>
        </p:txBody>
      </p:sp>
      <p:sp>
        <p:nvSpPr>
          <p:cNvPr id="18" name="Rounded Rectangle 17"/>
          <p:cNvSpPr/>
          <p:nvPr/>
        </p:nvSpPr>
        <p:spPr>
          <a:xfrm>
            <a:off x="8077200" y="2331720"/>
            <a:ext cx="3581400" cy="3124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179"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CLIENT USE</a:t>
            </a:r>
          </a:p>
        </p:txBody>
      </p:sp>
      <p:sp>
        <p:nvSpPr>
          <p:cNvPr id="20" name="Rounded Rectangle 19"/>
          <p:cNvSpPr/>
          <p:nvPr/>
        </p:nvSpPr>
        <p:spPr>
          <a:xfrm>
            <a:off x="1417320" y="3070860"/>
            <a:ext cx="1676400" cy="16383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645920" y="3451860"/>
            <a:ext cx="12192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645920" y="3870960"/>
            <a:ext cx="12192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45920" y="4290060"/>
            <a:ext cx="12192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45920" y="4709160"/>
            <a:ext cx="12192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pic>
        <p:nvPicPr>
          <p:cNvPr id="25" name="Picture 24" descr="campaign-ai.png"/>
          <p:cNvPicPr>
            <a:picLocks noChangeAspect="1"/>
          </p:cNvPicPr>
          <p:nvPr/>
        </p:nvPicPr>
        <p:blipFill>
          <a:blip r:embed="rId2"/>
          <a:stretch>
            <a:fillRect/>
          </a:stretch>
        </p:blipFill>
        <p:spPr>
          <a:xfrm>
            <a:off x="4498342" y="3169920"/>
            <a:ext cx="3195314" cy="1798320"/>
          </a:xfrm>
          <a:prstGeom prst="rect">
            <a:avLst/>
          </a:prstGeom>
        </p:spPr>
      </p:pic>
      <p:sp>
        <p:nvSpPr>
          <p:cNvPr id="26" name="Rounded Rectangle 25"/>
          <p:cNvSpPr/>
          <p:nvPr/>
        </p:nvSpPr>
        <p:spPr>
          <a:xfrm>
            <a:off x="8968740" y="3093720"/>
            <a:ext cx="1752600" cy="15849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197340" y="3474720"/>
            <a:ext cx="1295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97340" y="3893820"/>
            <a:ext cx="1295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97340" y="4312920"/>
            <a:ext cx="1295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97340" y="4732020"/>
            <a:ext cx="1295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8200" y="5074920"/>
            <a:ext cx="3124200" cy="327812"/>
          </a:xfrm>
          <a:prstGeom prst="rect">
            <a:avLst/>
          </a:prstGeom>
          <a:noFill/>
        </p:spPr>
        <p:txBody>
          <a:bodyPr wrap="none" lIns="0" rIns="0" tIns="0" bIns="0">
            <a:spAutoFit/>
          </a:bodyPr>
          <a:lstStyle/>
          <a:p>
            <a:pPr>
              <a:lnSpc>
                <a:spcPts val="1981"/>
              </a:lnSpc>
              <a:spcBef>
                <a:spcPts val="0"/>
              </a:spcBef>
              <a:spcAft>
                <a:spcPts val="0"/>
              </a:spcAft>
              <a:defRPr sz="1560" b="1">
                <a:solidFill>
                  <a:srgbClr val="007F7C"/>
                </a:solidFill>
                <a:latin typeface="DejaVu Sans"/>
              </a:defRPr>
            </a:pPr>
            <a:r>
              <a:t>source / permission</a:t>
            </a:r>
          </a:p>
        </p:txBody>
      </p:sp>
      <p:sp>
        <p:nvSpPr>
          <p:cNvPr id="32" name="TextBox 31"/>
          <p:cNvSpPr txBox="1"/>
          <p:nvPr/>
        </p:nvSpPr>
        <p:spPr>
          <a:xfrm>
            <a:off x="4610100" y="5074920"/>
            <a:ext cx="3124200" cy="327812"/>
          </a:xfrm>
          <a:prstGeom prst="rect">
            <a:avLst/>
          </a:prstGeom>
          <a:noFill/>
        </p:spPr>
        <p:txBody>
          <a:bodyPr wrap="none" lIns="0" rIns="0" tIns="0" bIns="0">
            <a:spAutoFit/>
          </a:bodyPr>
          <a:lstStyle/>
          <a:p>
            <a:pPr>
              <a:lnSpc>
                <a:spcPts val="1981"/>
              </a:lnSpc>
              <a:spcBef>
                <a:spcPts val="0"/>
              </a:spcBef>
              <a:spcAft>
                <a:spcPts val="0"/>
              </a:spcAft>
              <a:defRPr sz="1560" b="1">
                <a:solidFill>
                  <a:srgbClr val="007F7C"/>
                </a:solidFill>
                <a:latin typeface="DejaVu Sans"/>
              </a:defRPr>
            </a:pPr>
            <a:r>
              <a:t>similarity / rights</a:t>
            </a:r>
          </a:p>
        </p:txBody>
      </p:sp>
      <p:sp>
        <p:nvSpPr>
          <p:cNvPr id="33" name="TextBox 32"/>
          <p:cNvSpPr txBox="1"/>
          <p:nvPr/>
        </p:nvSpPr>
        <p:spPr>
          <a:xfrm>
            <a:off x="8381999" y="5074920"/>
            <a:ext cx="3124200" cy="327812"/>
          </a:xfrm>
          <a:prstGeom prst="rect">
            <a:avLst/>
          </a:prstGeom>
          <a:noFill/>
        </p:spPr>
        <p:txBody>
          <a:bodyPr wrap="none" lIns="0" rIns="0" tIns="0" bIns="0">
            <a:spAutoFit/>
          </a:bodyPr>
          <a:lstStyle/>
          <a:p>
            <a:pPr>
              <a:lnSpc>
                <a:spcPts val="1981"/>
              </a:lnSpc>
              <a:spcBef>
                <a:spcPts val="0"/>
              </a:spcBef>
              <a:spcAft>
                <a:spcPts val="0"/>
              </a:spcAft>
              <a:defRPr sz="1560" b="1">
                <a:solidFill>
                  <a:srgbClr val="007F7C"/>
                </a:solidFill>
                <a:latin typeface="DejaVu Sans"/>
              </a:defRPr>
            </a:pPr>
            <a:r>
              <a:t>consent / terms</a:t>
            </a:r>
          </a:p>
        </p:txBody>
      </p:sp>
      <p:cxnSp>
        <p:nvCxnSpPr>
          <p:cNvPr id="34" name="Connector 33"/>
          <p:cNvCxnSpPr/>
          <p:nvPr/>
        </p:nvCxnSpPr>
        <p:spPr>
          <a:xfrm>
            <a:off x="3855720" y="3848099"/>
            <a:ext cx="35052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095803" y="3848099"/>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4095803" y="3780391"/>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627620" y="3848099"/>
            <a:ext cx="35052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867703" y="3848099"/>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7867703" y="3780391"/>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A cleared input does not automatically clear every output or use.</a:t>
            </a:r>
          </a:p>
        </p:txBody>
      </p:sp>
      <p:cxnSp>
        <p:nvCxnSpPr>
          <p:cNvPr id="41" name="Connector 40"/>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6; IPOS computational data analysis guidance; US Copyright Office AI reports</a:t>
            </a:r>
          </a:p>
        </p:txBody>
      </p:sp>
      <p:sp>
        <p:nvSpPr>
          <p:cNvPr id="43" name="TextBox 4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Show how the image was made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Disclosure + a production record</a:t>
            </a:r>
          </a:p>
        </p:txBody>
      </p:sp>
      <p:pic>
        <p:nvPicPr>
          <p:cNvPr id="14" name="Picture 13" descr="campaign-ai.png"/>
          <p:cNvPicPr>
            <a:picLocks noChangeAspect="1"/>
          </p:cNvPicPr>
          <p:nvPr/>
        </p:nvPicPr>
        <p:blipFill>
          <a:blip r:embed="rId2"/>
          <a:stretch>
            <a:fillRect/>
          </a:stretch>
        </p:blipFill>
        <p:spPr>
          <a:xfrm>
            <a:off x="1059916" y="2438400"/>
            <a:ext cx="5957366" cy="3352800"/>
          </a:xfrm>
          <a:prstGeom prst="rect">
            <a:avLst/>
          </a:prstGeom>
        </p:spPr>
      </p:pic>
      <p:sp>
        <p:nvSpPr>
          <p:cNvPr id="15" name="Rounded Rectangle 14"/>
          <p:cNvSpPr/>
          <p:nvPr/>
        </p:nvSpPr>
        <p:spPr>
          <a:xfrm>
            <a:off x="716280" y="2644140"/>
            <a:ext cx="2910840" cy="388620"/>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735580"/>
            <a:ext cx="2667000" cy="289102"/>
          </a:xfrm>
          <a:prstGeom prst="rect">
            <a:avLst/>
          </a:prstGeom>
          <a:noFill/>
        </p:spPr>
        <p:txBody>
          <a:bodyPr wrap="none" lIns="0" rIns="0" tIns="0" bIns="0">
            <a:spAutoFit/>
          </a:bodyPr>
          <a:lstStyle/>
          <a:p>
            <a:pPr>
              <a:lnSpc>
                <a:spcPts val="1676"/>
              </a:lnSpc>
              <a:spcBef>
                <a:spcPts val="0"/>
              </a:spcBef>
              <a:spcAft>
                <a:spcPts val="0"/>
              </a:spcAft>
              <a:defRPr sz="1320" b="1">
                <a:solidFill>
                  <a:srgbClr val="FFFFFF"/>
                </a:solidFill>
                <a:latin typeface="DejaVu Sans"/>
              </a:defRPr>
            </a:pPr>
            <a:r>
              <a:t>AI-GENERATED CONCEPT</a:t>
            </a:r>
          </a:p>
        </p:txBody>
      </p:sp>
      <p:sp>
        <p:nvSpPr>
          <p:cNvPr id="17" name="Rounded Rectangle 16"/>
          <p:cNvSpPr/>
          <p:nvPr/>
        </p:nvSpPr>
        <p:spPr>
          <a:xfrm>
            <a:off x="8001000" y="2369820"/>
            <a:ext cx="3657600" cy="32689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8229600" y="2750820"/>
            <a:ext cx="3200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3169920"/>
            <a:ext cx="3200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29600" y="3589020"/>
            <a:ext cx="3200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4008120"/>
            <a:ext cx="32004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05800" y="2560320"/>
            <a:ext cx="30099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Prompt</a:t>
            </a:r>
          </a:p>
        </p:txBody>
      </p:sp>
      <p:sp>
        <p:nvSpPr>
          <p:cNvPr id="23" name="TextBox 22"/>
          <p:cNvSpPr txBox="1"/>
          <p:nvPr/>
        </p:nvSpPr>
        <p:spPr>
          <a:xfrm>
            <a:off x="8305800" y="3200400"/>
            <a:ext cx="30099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Model + version</a:t>
            </a:r>
          </a:p>
        </p:txBody>
      </p:sp>
      <p:sp>
        <p:nvSpPr>
          <p:cNvPr id="24" name="TextBox 23"/>
          <p:cNvSpPr txBox="1"/>
          <p:nvPr/>
        </p:nvSpPr>
        <p:spPr>
          <a:xfrm>
            <a:off x="8305800" y="3840480"/>
            <a:ext cx="30099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References + edits</a:t>
            </a:r>
          </a:p>
        </p:txBody>
      </p:sp>
      <p:sp>
        <p:nvSpPr>
          <p:cNvPr id="25" name="TextBox 24"/>
          <p:cNvSpPr txBox="1"/>
          <p:nvPr/>
        </p:nvSpPr>
        <p:spPr>
          <a:xfrm>
            <a:off x="8305800" y="4480560"/>
            <a:ext cx="30099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Named reviewer</a:t>
            </a:r>
          </a:p>
        </p:txBody>
      </p:sp>
      <p:sp>
        <p:nvSpPr>
          <p:cNvPr id="26" name="TextBox 25"/>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A label + a traceable workflow</a:t>
            </a:r>
          </a:p>
        </p:txBody>
      </p:sp>
      <p:cxnSp>
        <p:nvCxnSpPr>
          <p:cNvPr id="27" name="Connector 26"/>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6; lesson production disclosure</a:t>
            </a:r>
          </a:p>
        </p:txBody>
      </p:sp>
      <p:sp>
        <p:nvSpPr>
          <p:cNvPr id="29" name="TextBox 28"/>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SimWorld: the world moves while AI thinks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My RT-SAFE research · from attractive scenes to agent evaluation</a:t>
            </a:r>
          </a:p>
        </p:txBody>
      </p:sp>
      <p:pic>
        <p:nvPicPr>
          <p:cNvPr id="14" name="Picture 13" descr="simworld-demo.jpg"/>
          <p:cNvPicPr>
            <a:picLocks noChangeAspect="1"/>
          </p:cNvPicPr>
          <p:nvPr/>
        </p:nvPicPr>
        <p:blipFill>
          <a:blip r:embed="rId2"/>
          <a:stretch>
            <a:fillRect/>
          </a:stretch>
        </p:blipFill>
        <p:spPr>
          <a:xfrm>
            <a:off x="533400" y="2286000"/>
            <a:ext cx="6858000" cy="3857625"/>
          </a:xfrm>
          <a:prstGeom prst="rect">
            <a:avLst/>
          </a:prstGeom>
        </p:spPr>
      </p:pic>
      <p:sp>
        <p:nvSpPr>
          <p:cNvPr id="15" name="TextBox 14"/>
          <p:cNvSpPr txBox="1"/>
          <p:nvPr/>
        </p:nvSpPr>
        <p:spPr>
          <a:xfrm>
            <a:off x="8077200" y="244602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01</a:t>
            </a:r>
          </a:p>
        </p:txBody>
      </p:sp>
      <p:sp>
        <p:nvSpPr>
          <p:cNvPr id="16" name="TextBox 15"/>
          <p:cNvSpPr txBox="1"/>
          <p:nvPr/>
        </p:nvSpPr>
        <p:spPr>
          <a:xfrm>
            <a:off x="8077200" y="272796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Observe the current</a:t>
            </a:r>
          </a:p>
          <a:p>
            <a:pPr>
              <a:lnSpc>
                <a:spcPts val="2362"/>
              </a:lnSpc>
              <a:spcBef>
                <a:spcPts val="0"/>
              </a:spcBef>
              <a:spcAft>
                <a:spcPts val="0"/>
              </a:spcAft>
              <a:defRPr sz="1859" b="1">
                <a:solidFill>
                  <a:srgbClr val="142F35"/>
                </a:solidFill>
                <a:latin typeface="DejaVu Sans"/>
              </a:defRPr>
            </a:pPr>
            <a:r>
              <a:t>scene</a:t>
            </a:r>
          </a:p>
        </p:txBody>
      </p:sp>
      <p:sp>
        <p:nvSpPr>
          <p:cNvPr id="17" name="TextBox 16"/>
          <p:cNvSpPr txBox="1"/>
          <p:nvPr/>
        </p:nvSpPr>
        <p:spPr>
          <a:xfrm>
            <a:off x="8077200" y="349758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02</a:t>
            </a:r>
          </a:p>
        </p:txBody>
      </p:sp>
      <p:sp>
        <p:nvSpPr>
          <p:cNvPr id="18" name="TextBox 17"/>
          <p:cNvSpPr txBox="1"/>
          <p:nvPr/>
        </p:nvSpPr>
        <p:spPr>
          <a:xfrm>
            <a:off x="8077200" y="377952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Think while the world</a:t>
            </a:r>
          </a:p>
          <a:p>
            <a:pPr>
              <a:lnSpc>
                <a:spcPts val="2362"/>
              </a:lnSpc>
              <a:spcBef>
                <a:spcPts val="0"/>
              </a:spcBef>
              <a:spcAft>
                <a:spcPts val="0"/>
              </a:spcAft>
              <a:defRPr sz="1859" b="1">
                <a:solidFill>
                  <a:srgbClr val="142F35"/>
                </a:solidFill>
                <a:latin typeface="DejaVu Sans"/>
              </a:defRPr>
            </a:pPr>
            <a:r>
              <a:t>moves</a:t>
            </a:r>
          </a:p>
        </p:txBody>
      </p:sp>
      <p:sp>
        <p:nvSpPr>
          <p:cNvPr id="19" name="TextBox 18"/>
          <p:cNvSpPr txBox="1"/>
          <p:nvPr/>
        </p:nvSpPr>
        <p:spPr>
          <a:xfrm>
            <a:off x="8077200" y="4549140"/>
            <a:ext cx="3276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03</a:t>
            </a:r>
          </a:p>
        </p:txBody>
      </p:sp>
      <p:sp>
        <p:nvSpPr>
          <p:cNvPr id="20" name="TextBox 19"/>
          <p:cNvSpPr txBox="1"/>
          <p:nvPr/>
        </p:nvSpPr>
        <p:spPr>
          <a:xfrm>
            <a:off x="8077200" y="4831080"/>
            <a:ext cx="3505200" cy="676198"/>
          </a:xfrm>
          <a:prstGeom prst="rect">
            <a:avLst/>
          </a:prstGeom>
          <a:noFill/>
        </p:spPr>
        <p:txBody>
          <a:bodyPr wrap="none" lIns="0" rIns="0" tIns="0" bIns="0">
            <a:spAutoFit/>
          </a:bodyPr>
          <a:lstStyle/>
          <a:p>
            <a:pPr>
              <a:lnSpc>
                <a:spcPts val="2362"/>
              </a:lnSpc>
              <a:spcBef>
                <a:spcPts val="0"/>
              </a:spcBef>
              <a:spcAft>
                <a:spcPts val="0"/>
              </a:spcAft>
              <a:defRPr sz="1859" b="1">
                <a:solidFill>
                  <a:srgbClr val="142F35"/>
                </a:solidFill>
                <a:latin typeface="DejaVu Sans"/>
              </a:defRPr>
            </a:pPr>
            <a:r>
              <a:t>Act on information that</a:t>
            </a:r>
          </a:p>
          <a:p>
            <a:pPr>
              <a:lnSpc>
                <a:spcPts val="2362"/>
              </a:lnSpc>
              <a:spcBef>
                <a:spcPts val="0"/>
              </a:spcBef>
              <a:spcAft>
                <a:spcPts val="0"/>
              </a:spcAft>
              <a:defRPr sz="1859" b="1">
                <a:solidFill>
                  <a:srgbClr val="142F35"/>
                </a:solidFill>
                <a:latin typeface="DejaVu Sans"/>
              </a:defRPr>
            </a:pPr>
            <a:r>
              <a:t>may be old</a:t>
            </a:r>
          </a:p>
        </p:txBody>
      </p:sp>
      <p:sp>
        <p:nvSpPr>
          <p:cNvPr id="21" name="TextBox 20"/>
          <p:cNvSpPr txBox="1"/>
          <p:nvPr/>
        </p:nvSpPr>
        <p:spPr>
          <a:xfrm>
            <a:off x="8077200" y="5699760"/>
            <a:ext cx="3505200" cy="521360"/>
          </a:xfrm>
          <a:prstGeom prst="rect">
            <a:avLst/>
          </a:prstGeom>
          <a:noFill/>
        </p:spPr>
        <p:txBody>
          <a:bodyPr wrap="none" lIns="0" rIns="0" tIns="0" bIns="0">
            <a:spAutoFit/>
          </a:bodyPr>
          <a:lstStyle/>
          <a:p>
            <a:pPr>
              <a:lnSpc>
                <a:spcPts val="1752"/>
              </a:lnSpc>
              <a:spcBef>
                <a:spcPts val="0"/>
              </a:spcBef>
              <a:spcAft>
                <a:spcPts val="0"/>
              </a:spcAft>
              <a:defRPr sz="1380" b="0">
                <a:solidFill>
                  <a:srgbClr val="007F7C"/>
                </a:solidFill>
                <a:latin typeface="DejaVu Sans"/>
              </a:defRPr>
            </a:pPr>
            <a:r>
              <a:t>Watch the short clip.</a:t>
            </a:r>
          </a:p>
          <a:p>
            <a:pPr>
              <a:lnSpc>
                <a:spcPts val="1752"/>
              </a:lnSpc>
              <a:spcBef>
                <a:spcPts val="0"/>
              </a:spcBef>
              <a:spcAft>
                <a:spcPts val="0"/>
              </a:spcAft>
              <a:defRPr sz="1380" b="0">
                <a:solidFill>
                  <a:srgbClr val="007F7C"/>
                </a:solidFill>
                <a:latin typeface="DejaVu Sans"/>
              </a:defRPr>
            </a:pPr>
            <a:r>
              <a:t>What would you test?</a:t>
            </a:r>
          </a:p>
        </p:txBody>
      </p:sp>
      <p:sp>
        <p:nvSpPr>
          <p:cNvPr id="22" name="TextBox 21"/>
          <p:cNvSpPr txBox="1"/>
          <p:nvPr/>
        </p:nvSpPr>
        <p:spPr>
          <a:xfrm>
            <a:off x="624840" y="6195060"/>
            <a:ext cx="11125200" cy="192328"/>
          </a:xfrm>
          <a:prstGeom prst="rect">
            <a:avLst/>
          </a:prstGeom>
          <a:noFill/>
        </p:spPr>
        <p:txBody>
          <a:bodyPr wrap="none" lIns="0" rIns="0" tIns="0" bIns="0">
            <a:spAutoFit/>
          </a:bodyPr>
          <a:lstStyle/>
          <a:p>
            <a:pPr>
              <a:lnSpc>
                <a:spcPts val="914"/>
              </a:lnSpc>
              <a:spcBef>
                <a:spcPts val="0"/>
              </a:spcBef>
              <a:spcAft>
                <a:spcPts val="0"/>
              </a:spcAft>
              <a:defRPr sz="719" b="0">
                <a:solidFill>
                  <a:srgbClr val="53696A"/>
                </a:solidFill>
                <a:latin typeface="DejaVu Sans"/>
              </a:defRPr>
            </a:pPr>
            <a:r>
              <a:t>Rose Xu · RT-SAFE project media · illustrative Unreal Engine city scene</a:t>
            </a:r>
          </a:p>
        </p:txBody>
      </p:sp>
      <p:pic>
        <p:nvPicPr>
          <p:cNvPr id="23" name="simworld-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33400" y="2286000"/>
            <a:ext cx="6858000" cy="3857625"/>
          </a:xfrm>
          <a:prstGeom prst="rect">
            <a:avLst/>
          </a:prstGeom>
        </p:spPr>
      </p:pic>
      <p:cxnSp>
        <p:nvCxnSpPr>
          <p:cNvPr id="24" name="Connector 23"/>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xtrose29.github.io/RT-SAFE/ · illustrative footage, not a benchmark result</a:t>
            </a:r>
          </a:p>
        </p:txBody>
      </p:sp>
      <p:sp>
        <p:nvSpPr>
          <p:cNvPr id="26" name="TextBox 25"/>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3"/>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03 Evidence &amp; trust</a:t>
            </a:r>
          </a:p>
        </p:txBody>
      </p:sp>
      <p:sp>
        <p:nvSpPr>
          <p:cNvPr id="9" name="Rectangle 8"/>
          <p:cNvSpPr/>
          <p:nvPr/>
        </p:nvSpPr>
        <p:spPr>
          <a:xfrm>
            <a:off x="500634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Three worlds. Three tests.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Match the evidence to the claim</a:t>
            </a:r>
          </a:p>
        </p:txBody>
      </p:sp>
      <p:sp>
        <p:nvSpPr>
          <p:cNvPr id="14" name="Rounded Rectangle 13"/>
          <p:cNvSpPr/>
          <p:nvPr/>
        </p:nvSpPr>
        <p:spPr>
          <a:xfrm>
            <a:off x="533400" y="2324100"/>
            <a:ext cx="3581400" cy="3276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48412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GENIE</a:t>
            </a:r>
          </a:p>
        </p:txBody>
      </p:sp>
      <p:pic>
        <p:nvPicPr>
          <p:cNvPr id="16" name="Picture 15" descr="genie-demo.jpg"/>
          <p:cNvPicPr>
            <a:picLocks noChangeAspect="1"/>
          </p:cNvPicPr>
          <p:nvPr/>
        </p:nvPicPr>
        <p:blipFill>
          <a:blip r:embed="rId2"/>
          <a:stretch>
            <a:fillRect/>
          </a:stretch>
        </p:blipFill>
        <p:spPr>
          <a:xfrm>
            <a:off x="647700" y="3084195"/>
            <a:ext cx="3352800" cy="1885950"/>
          </a:xfrm>
          <a:prstGeom prst="rect">
            <a:avLst/>
          </a:prstGeom>
        </p:spPr>
      </p:pic>
      <p:sp>
        <p:nvSpPr>
          <p:cNvPr id="17" name="TextBox 16"/>
          <p:cNvSpPr txBox="1"/>
          <p:nvPr/>
        </p:nvSpPr>
        <p:spPr>
          <a:xfrm>
            <a:off x="723900" y="5113020"/>
            <a:ext cx="32385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007F7C"/>
                </a:solidFill>
                <a:latin typeface="DejaVu Sans"/>
              </a:defRPr>
            </a:pPr>
            <a:r>
              <a:t>Revisit a landmark?</a:t>
            </a:r>
          </a:p>
        </p:txBody>
      </p:sp>
      <p:sp>
        <p:nvSpPr>
          <p:cNvPr id="18" name="Rounded Rectangle 17"/>
          <p:cNvSpPr/>
          <p:nvPr/>
        </p:nvSpPr>
        <p:spPr>
          <a:xfrm>
            <a:off x="4305300" y="2324100"/>
            <a:ext cx="3581400" cy="3276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5800" y="248412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MARBLE</a:t>
            </a:r>
          </a:p>
        </p:txBody>
      </p:sp>
      <p:pic>
        <p:nvPicPr>
          <p:cNvPr id="20" name="Picture 19" descr="marble-demo.jpg"/>
          <p:cNvPicPr>
            <a:picLocks noChangeAspect="1"/>
          </p:cNvPicPr>
          <p:nvPr/>
        </p:nvPicPr>
        <p:blipFill>
          <a:blip r:embed="rId3"/>
          <a:stretch>
            <a:fillRect/>
          </a:stretch>
        </p:blipFill>
        <p:spPr>
          <a:xfrm>
            <a:off x="4419600" y="3555682"/>
            <a:ext cx="3352800" cy="942975"/>
          </a:xfrm>
          <a:prstGeom prst="rect">
            <a:avLst/>
          </a:prstGeom>
        </p:spPr>
      </p:pic>
      <p:sp>
        <p:nvSpPr>
          <p:cNvPr id="21" name="TextBox 20"/>
          <p:cNvSpPr txBox="1"/>
          <p:nvPr/>
        </p:nvSpPr>
        <p:spPr>
          <a:xfrm>
            <a:off x="4495800" y="5113020"/>
            <a:ext cx="32385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007F7C"/>
                </a:solidFill>
                <a:latin typeface="DejaVu Sans"/>
              </a:defRPr>
            </a:pPr>
            <a:r>
              <a:t>Match the layout?</a:t>
            </a:r>
          </a:p>
        </p:txBody>
      </p:sp>
      <p:sp>
        <p:nvSpPr>
          <p:cNvPr id="22" name="Rounded Rectangle 21"/>
          <p:cNvSpPr/>
          <p:nvPr/>
        </p:nvSpPr>
        <p:spPr>
          <a:xfrm>
            <a:off x="8077200" y="2324100"/>
            <a:ext cx="3581400" cy="3276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7699" y="2484120"/>
            <a:ext cx="32004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SIMWORLD</a:t>
            </a:r>
          </a:p>
        </p:txBody>
      </p:sp>
      <p:pic>
        <p:nvPicPr>
          <p:cNvPr id="24" name="Picture 23" descr="simworld-demo.jpg"/>
          <p:cNvPicPr>
            <a:picLocks noChangeAspect="1"/>
          </p:cNvPicPr>
          <p:nvPr/>
        </p:nvPicPr>
        <p:blipFill>
          <a:blip r:embed="rId4"/>
          <a:stretch>
            <a:fillRect/>
          </a:stretch>
        </p:blipFill>
        <p:spPr>
          <a:xfrm>
            <a:off x="8191500" y="3084195"/>
            <a:ext cx="3352800" cy="1885950"/>
          </a:xfrm>
          <a:prstGeom prst="rect">
            <a:avLst/>
          </a:prstGeom>
        </p:spPr>
      </p:pic>
      <p:sp>
        <p:nvSpPr>
          <p:cNvPr id="25" name="TextBox 24"/>
          <p:cNvSpPr txBox="1"/>
          <p:nvPr/>
        </p:nvSpPr>
        <p:spPr>
          <a:xfrm>
            <a:off x="8267699" y="5113020"/>
            <a:ext cx="32385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007F7C"/>
                </a:solidFill>
                <a:latin typeface="DejaVu Sans"/>
              </a:defRPr>
            </a:pPr>
            <a:r>
              <a:t>Act safely in time?</a:t>
            </a:r>
          </a:p>
        </p:txBody>
      </p:sp>
      <p:sp>
        <p:nvSpPr>
          <p:cNvPr id="26" name="TextBox 25"/>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Different claims need different tests.</a:t>
            </a:r>
          </a:p>
        </p:txBody>
      </p:sp>
      <p:cxnSp>
        <p:nvCxnSpPr>
          <p:cNvPr id="27" name="Connector 26"/>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Google DeepMind Genie 3; World Labs Marble; Rose Xu RT-SAFE project</a:t>
            </a:r>
          </a:p>
        </p:txBody>
      </p:sp>
      <p:sp>
        <p:nvSpPr>
          <p:cNvPr id="29" name="TextBox 28"/>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HL TRANSITION</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04 / Choose a model for a reason</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HL model comparison · keep the studio brief and test sheet in view</a:t>
            </a:r>
          </a:p>
        </p:txBody>
      </p:sp>
      <p:pic>
        <p:nvPicPr>
          <p:cNvPr id="14" name="Picture 13" descr="campaign-ai.png"/>
          <p:cNvPicPr>
            <a:picLocks noChangeAspect="1"/>
          </p:cNvPicPr>
          <p:nvPr/>
        </p:nvPicPr>
        <p:blipFill>
          <a:blip r:embed="rId2"/>
          <a:stretch>
            <a:fillRect/>
          </a:stretch>
        </p:blipFill>
        <p:spPr>
          <a:xfrm>
            <a:off x="533400" y="2576781"/>
            <a:ext cx="4572000" cy="2573117"/>
          </a:xfrm>
          <a:prstGeom prst="rect">
            <a:avLst/>
          </a:prstGeom>
        </p:spPr>
      </p:pic>
      <p:sp>
        <p:nvSpPr>
          <p:cNvPr id="15" name="TextBox 14"/>
          <p:cNvSpPr txBox="1"/>
          <p:nvPr/>
        </p:nvSpPr>
        <p:spPr>
          <a:xfrm>
            <a:off x="632460" y="5364480"/>
            <a:ext cx="4419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7AE0C5"/>
                </a:solidFill>
                <a:latin typeface="DejaVu Sans"/>
              </a:defRPr>
            </a:pPr>
            <a:r>
              <a:t>VISIONARY STUDIOS</a:t>
            </a:r>
          </a:p>
        </p:txBody>
      </p:sp>
      <p:sp>
        <p:nvSpPr>
          <p:cNvPr id="16" name="TextBox 15"/>
          <p:cNvSpPr txBox="1"/>
          <p:nvPr/>
        </p:nvSpPr>
        <p:spPr>
          <a:xfrm>
            <a:off x="5943600" y="2682240"/>
            <a:ext cx="5334000" cy="453618"/>
          </a:xfrm>
          <a:prstGeom prst="rect">
            <a:avLst/>
          </a:prstGeom>
          <a:noFill/>
        </p:spPr>
        <p:txBody>
          <a:bodyPr wrap="none" lIns="0" rIns="0" tIns="0" bIns="0">
            <a:spAutoFit/>
          </a:bodyPr>
          <a:lstStyle/>
          <a:p>
            <a:pPr>
              <a:lnSpc>
                <a:spcPts val="2971"/>
              </a:lnSpc>
              <a:spcBef>
                <a:spcPts val="0"/>
              </a:spcBef>
              <a:spcAft>
                <a:spcPts val="0"/>
              </a:spcAft>
              <a:defRPr sz="2340" b="1">
                <a:solidFill>
                  <a:srgbClr val="F5F2EA"/>
                </a:solidFill>
                <a:latin typeface="DejaVu Sans"/>
              </a:defRPr>
            </a:pPr>
            <a:r>
              <a:t>Know the failure to measure</a:t>
            </a:r>
          </a:p>
        </p:txBody>
      </p:sp>
      <p:cxnSp>
        <p:nvCxnSpPr>
          <p:cNvPr id="17" name="Connector 16"/>
          <p:cNvCxnSpPr/>
          <p:nvPr/>
        </p:nvCxnSpPr>
        <p:spPr>
          <a:xfrm>
            <a:off x="6301740" y="3771900"/>
            <a:ext cx="0" cy="563880"/>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234031" y="4225343"/>
            <a:ext cx="67709"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301740" y="4225343"/>
            <a:ext cx="67708"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0" y="4632960"/>
            <a:ext cx="5334000" cy="492328"/>
          </a:xfrm>
          <a:prstGeom prst="rect">
            <a:avLst/>
          </a:prstGeom>
          <a:noFill/>
        </p:spPr>
        <p:txBody>
          <a:bodyPr wrap="none" lIns="0" rIns="0" tIns="0" bIns="0">
            <a:spAutoFit/>
          </a:bodyPr>
          <a:lstStyle/>
          <a:p>
            <a:pPr>
              <a:lnSpc>
                <a:spcPts val="3276"/>
              </a:lnSpc>
              <a:spcBef>
                <a:spcPts val="0"/>
              </a:spcBef>
              <a:spcAft>
                <a:spcPts val="0"/>
              </a:spcAft>
              <a:defRPr sz="2580" b="1">
                <a:solidFill>
                  <a:srgbClr val="7AE0C5"/>
                </a:solidFill>
                <a:latin typeface="DejaVu Sans"/>
              </a:defRPr>
            </a:pPr>
            <a:r>
              <a:t>Choose a design to test</a:t>
            </a:r>
          </a:p>
        </p:txBody>
      </p:sp>
      <p:cxnSp>
        <p:nvCxnSpPr>
          <p:cNvPr id="21" name="Connector 2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pp. 3–7; lesson synthesis</a:t>
            </a:r>
          </a:p>
        </p:txBody>
      </p:sp>
      <p:sp>
        <p:nvSpPr>
          <p:cNvPr id="23" name="TextBox 2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Choose a route to an image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HL · same brief, different trade-offs</a:t>
            </a:r>
          </a:p>
        </p:txBody>
      </p:sp>
      <p:sp>
        <p:nvSpPr>
          <p:cNvPr id="14" name="Rounded Rectangle 13"/>
          <p:cNvSpPr/>
          <p:nvPr/>
        </p:nvSpPr>
        <p:spPr>
          <a:xfrm>
            <a:off x="533400" y="2324100"/>
            <a:ext cx="3581400" cy="307086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DIFFUSION</a:t>
            </a:r>
          </a:p>
        </p:txBody>
      </p:sp>
      <p:sp>
        <p:nvSpPr>
          <p:cNvPr id="16" name="Rounded Rectangle 15"/>
          <p:cNvSpPr/>
          <p:nvPr/>
        </p:nvSpPr>
        <p:spPr>
          <a:xfrm>
            <a:off x="4305300" y="2324100"/>
            <a:ext cx="3581400" cy="307086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3900"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GAN</a:t>
            </a:r>
          </a:p>
        </p:txBody>
      </p:sp>
      <p:sp>
        <p:nvSpPr>
          <p:cNvPr id="18" name="Rounded Rectangle 17"/>
          <p:cNvSpPr/>
          <p:nvPr/>
        </p:nvSpPr>
        <p:spPr>
          <a:xfrm>
            <a:off x="8077200" y="2324100"/>
            <a:ext cx="3581400" cy="307086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06980"/>
            <a:ext cx="3124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F5F2EA"/>
                </a:solidFill>
                <a:latin typeface="DejaVu Sans"/>
              </a:defRPr>
            </a:pPr>
            <a:r>
              <a:t>HYBRID</a:t>
            </a:r>
          </a:p>
        </p:txBody>
      </p:sp>
      <p:pic>
        <p:nvPicPr>
          <p:cNvPr id="20" name="Picture 19" descr="noise-3.png"/>
          <p:cNvPicPr>
            <a:picLocks noChangeAspect="1"/>
          </p:cNvPicPr>
          <p:nvPr/>
        </p:nvPicPr>
        <p:blipFill>
          <a:blip r:embed="rId2"/>
          <a:stretch>
            <a:fillRect/>
          </a:stretch>
        </p:blipFill>
        <p:spPr>
          <a:xfrm>
            <a:off x="777240" y="3406140"/>
            <a:ext cx="777240" cy="777240"/>
          </a:xfrm>
          <a:prstGeom prst="rect">
            <a:avLst/>
          </a:prstGeom>
        </p:spPr>
      </p:pic>
      <p:cxnSp>
        <p:nvCxnSpPr>
          <p:cNvPr id="21" name="Connector 20"/>
          <p:cNvCxnSpPr/>
          <p:nvPr/>
        </p:nvCxnSpPr>
        <p:spPr>
          <a:xfrm>
            <a:off x="1600200" y="3794760"/>
            <a:ext cx="1905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80263" y="379476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680263" y="372705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24" name="Picture 23" descr="noise-1.png"/>
          <p:cNvPicPr>
            <a:picLocks noChangeAspect="1"/>
          </p:cNvPicPr>
          <p:nvPr/>
        </p:nvPicPr>
        <p:blipFill>
          <a:blip r:embed="rId3"/>
          <a:stretch>
            <a:fillRect/>
          </a:stretch>
        </p:blipFill>
        <p:spPr>
          <a:xfrm>
            <a:off x="1844040" y="3406140"/>
            <a:ext cx="777240" cy="777240"/>
          </a:xfrm>
          <a:prstGeom prst="rect">
            <a:avLst/>
          </a:prstGeom>
        </p:spPr>
      </p:pic>
      <p:cxnSp>
        <p:nvCxnSpPr>
          <p:cNvPr id="25" name="Connector 24"/>
          <p:cNvCxnSpPr/>
          <p:nvPr/>
        </p:nvCxnSpPr>
        <p:spPr>
          <a:xfrm>
            <a:off x="2667000" y="3794760"/>
            <a:ext cx="1905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747063" y="379476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747063" y="372705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pic>
        <p:nvPicPr>
          <p:cNvPr id="28" name="Picture 27" descr="noise-0.png"/>
          <p:cNvPicPr>
            <a:picLocks noChangeAspect="1"/>
          </p:cNvPicPr>
          <p:nvPr/>
        </p:nvPicPr>
        <p:blipFill>
          <a:blip r:embed="rId4"/>
          <a:stretch>
            <a:fillRect/>
          </a:stretch>
        </p:blipFill>
        <p:spPr>
          <a:xfrm>
            <a:off x="2910840" y="3406140"/>
            <a:ext cx="777240" cy="777240"/>
          </a:xfrm>
          <a:prstGeom prst="rect">
            <a:avLst/>
          </a:prstGeom>
        </p:spPr>
      </p:pic>
      <p:cxnSp>
        <p:nvCxnSpPr>
          <p:cNvPr id="29" name="Connector 28"/>
          <p:cNvCxnSpPr/>
          <p:nvPr/>
        </p:nvCxnSpPr>
        <p:spPr>
          <a:xfrm flipV="1">
            <a:off x="4762500" y="3299460"/>
            <a:ext cx="666750" cy="1485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62500" y="3448050"/>
            <a:ext cx="6667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62500" y="3448050"/>
            <a:ext cx="666750" cy="6438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762500" y="3299460"/>
            <a:ext cx="666750" cy="6438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762500" y="3695700"/>
            <a:ext cx="6667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62500" y="3943350"/>
            <a:ext cx="666750" cy="1485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29250" y="3299460"/>
            <a:ext cx="666750" cy="1485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29250" y="3299460"/>
            <a:ext cx="666750" cy="6438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429250" y="3448050"/>
            <a:ext cx="6667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429250" y="3695700"/>
            <a:ext cx="6667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429250" y="3448050"/>
            <a:ext cx="666750" cy="6438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29250" y="3943350"/>
            <a:ext cx="666750" cy="1485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4671060" y="33566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71060" y="38519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37810" y="320802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337810" y="360426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337810" y="400050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004560" y="33566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004560" y="38519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6537960" y="3299460"/>
            <a:ext cx="476250" cy="1485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537960" y="3448050"/>
            <a:ext cx="4762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537960" y="3448050"/>
            <a:ext cx="476250" cy="6438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537960" y="3299460"/>
            <a:ext cx="476250" cy="6438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537960" y="3695700"/>
            <a:ext cx="4762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537960" y="3943350"/>
            <a:ext cx="476250" cy="1485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014210" y="3299460"/>
            <a:ext cx="476250" cy="1485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014210" y="3299460"/>
            <a:ext cx="476250" cy="64389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7014210" y="3448050"/>
            <a:ext cx="4762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014210" y="3695700"/>
            <a:ext cx="476250" cy="2476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014210" y="3448050"/>
            <a:ext cx="476250" cy="6438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014210" y="3943350"/>
            <a:ext cx="476250" cy="148589"/>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446520" y="33566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446520" y="38519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922770" y="320802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922770" y="360426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922770" y="400050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399020" y="33566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399020" y="38519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6187440" y="3810000"/>
            <a:ext cx="2286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305603" y="38100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6305603" y="37422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8381999" y="3375660"/>
            <a:ext cx="792480" cy="86106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9387840" y="3375660"/>
            <a:ext cx="792480" cy="86106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393680" y="3375660"/>
            <a:ext cx="792480" cy="86106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2480" y="48387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F5F2EA"/>
                </a:solidFill>
                <a:latin typeface="DejaVu Sans"/>
              </a:defRPr>
            </a:pPr>
            <a:r>
              <a:t>Refine</a:t>
            </a:r>
          </a:p>
        </p:txBody>
      </p:sp>
      <p:sp>
        <p:nvSpPr>
          <p:cNvPr id="74" name="TextBox 73"/>
          <p:cNvSpPr txBox="1"/>
          <p:nvPr/>
        </p:nvSpPr>
        <p:spPr>
          <a:xfrm>
            <a:off x="4610100" y="48387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F5F2EA"/>
                </a:solidFill>
                <a:latin typeface="DejaVu Sans"/>
              </a:defRPr>
            </a:pPr>
            <a:r>
              <a:t>Compete</a:t>
            </a:r>
          </a:p>
        </p:txBody>
      </p:sp>
      <p:sp>
        <p:nvSpPr>
          <p:cNvPr id="75" name="TextBox 74"/>
          <p:cNvSpPr txBox="1"/>
          <p:nvPr/>
        </p:nvSpPr>
        <p:spPr>
          <a:xfrm>
            <a:off x="8381999" y="48387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F5F2EA"/>
                </a:solidFill>
                <a:latin typeface="DejaVu Sans"/>
              </a:defRPr>
            </a:pPr>
            <a:r>
              <a:t>Combine</a:t>
            </a:r>
          </a:p>
        </p:txBody>
      </p:sp>
      <p:sp>
        <p:nvSpPr>
          <p:cNvPr id="76" name="TextBox 75"/>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7AE0C5"/>
                </a:solidFill>
                <a:latin typeface="DejaVu Sans"/>
              </a:defRPr>
            </a:pPr>
            <a:r>
              <a:t>Mechanism first. Trade-off second.</a:t>
            </a:r>
          </a:p>
        </p:txBody>
      </p:sp>
      <p:cxnSp>
        <p:nvCxnSpPr>
          <p:cNvPr id="77" name="Connector 76"/>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pp. 5, 7–8</a:t>
            </a:r>
          </a:p>
        </p:txBody>
      </p:sp>
      <p:sp>
        <p:nvSpPr>
          <p:cNvPr id="79" name="TextBox 78"/>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GAN: two networks, opposing objectives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Goodfellow et al. (2014) · the original minimax objective</a:t>
            </a:r>
          </a:p>
        </p:txBody>
      </p:sp>
      <p:sp>
        <p:nvSpPr>
          <p:cNvPr id="14" name="TextBox 13"/>
          <p:cNvSpPr txBox="1"/>
          <p:nvPr/>
        </p:nvSpPr>
        <p:spPr>
          <a:xfrm>
            <a:off x="571500" y="215646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ORIGINAL EQUATION 1 · read the roles before the symbols</a:t>
            </a:r>
          </a:p>
        </p:txBody>
      </p:sp>
      <p:sp>
        <p:nvSpPr>
          <p:cNvPr id="15" name="Rounded Rectangle 14"/>
          <p:cNvSpPr/>
          <p:nvPr/>
        </p:nvSpPr>
        <p:spPr>
          <a:xfrm>
            <a:off x="533400" y="2529840"/>
            <a:ext cx="11125200" cy="10287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an-equation-1.png"/>
          <p:cNvPicPr>
            <a:picLocks noChangeAspect="1"/>
          </p:cNvPicPr>
          <p:nvPr/>
        </p:nvPicPr>
        <p:blipFill>
          <a:blip r:embed="rId2"/>
          <a:stretch>
            <a:fillRect/>
          </a:stretch>
        </p:blipFill>
        <p:spPr>
          <a:xfrm>
            <a:off x="685800" y="2672859"/>
            <a:ext cx="10820400" cy="727421"/>
          </a:xfrm>
          <a:prstGeom prst="rect">
            <a:avLst/>
          </a:prstGeom>
        </p:spPr>
      </p:pic>
      <p:sp>
        <p:nvSpPr>
          <p:cNvPr id="17" name="Rounded Rectangle 16"/>
          <p:cNvSpPr/>
          <p:nvPr/>
        </p:nvSpPr>
        <p:spPr>
          <a:xfrm>
            <a:off x="533400" y="3825240"/>
            <a:ext cx="3581400" cy="16078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403860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G · generator</a:t>
            </a:r>
          </a:p>
        </p:txBody>
      </p:sp>
      <p:sp>
        <p:nvSpPr>
          <p:cNvPr id="19" name="TextBox 18"/>
          <p:cNvSpPr txBox="1"/>
          <p:nvPr/>
        </p:nvSpPr>
        <p:spPr>
          <a:xfrm>
            <a:off x="746760" y="4558131"/>
            <a:ext cx="3154680" cy="618134"/>
          </a:xfrm>
          <a:prstGeom prst="rect">
            <a:avLst/>
          </a:prstGeom>
          <a:noFill/>
        </p:spPr>
        <p:txBody>
          <a:bodyPr wrap="none" lIns="0" rIns="0" tIns="0" bIns="0">
            <a:spAutoFit/>
          </a:bodyPr>
          <a:lstStyle/>
          <a:p>
            <a:pPr>
              <a:lnSpc>
                <a:spcPts val="2133"/>
              </a:lnSpc>
              <a:spcBef>
                <a:spcPts val="0"/>
              </a:spcBef>
              <a:spcAft>
                <a:spcPts val="0"/>
              </a:spcAft>
              <a:defRPr sz="1680" b="0">
                <a:solidFill>
                  <a:srgbClr val="53696A"/>
                </a:solidFill>
                <a:latin typeface="DejaVu Sans"/>
              </a:defRPr>
            </a:pPr>
            <a:r>
              <a:t>Random vector → image</a:t>
            </a:r>
          </a:p>
          <a:p>
            <a:pPr>
              <a:lnSpc>
                <a:spcPts val="2133"/>
              </a:lnSpc>
              <a:spcBef>
                <a:spcPts val="0"/>
              </a:spcBef>
              <a:spcAft>
                <a:spcPts val="0"/>
              </a:spcAft>
              <a:defRPr sz="1680" b="0">
                <a:solidFill>
                  <a:srgbClr val="53696A"/>
                </a:solidFill>
                <a:latin typeface="DejaVu Sans"/>
              </a:defRPr>
            </a:pPr>
            <a:r>
              <a:t>Minimizes this objective</a:t>
            </a:r>
          </a:p>
        </p:txBody>
      </p:sp>
      <p:sp>
        <p:nvSpPr>
          <p:cNvPr id="20" name="Rounded Rectangle 19"/>
          <p:cNvSpPr/>
          <p:nvPr/>
        </p:nvSpPr>
        <p:spPr>
          <a:xfrm>
            <a:off x="4305300" y="3825240"/>
            <a:ext cx="3581400" cy="16078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8660" y="403860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D · discriminator</a:t>
            </a:r>
          </a:p>
        </p:txBody>
      </p:sp>
      <p:sp>
        <p:nvSpPr>
          <p:cNvPr id="22" name="TextBox 21"/>
          <p:cNvSpPr txBox="1"/>
          <p:nvPr/>
        </p:nvSpPr>
        <p:spPr>
          <a:xfrm>
            <a:off x="4518660" y="4558131"/>
            <a:ext cx="3154680" cy="618134"/>
          </a:xfrm>
          <a:prstGeom prst="rect">
            <a:avLst/>
          </a:prstGeom>
          <a:noFill/>
        </p:spPr>
        <p:txBody>
          <a:bodyPr wrap="none" lIns="0" rIns="0" tIns="0" bIns="0">
            <a:spAutoFit/>
          </a:bodyPr>
          <a:lstStyle/>
          <a:p>
            <a:pPr>
              <a:lnSpc>
                <a:spcPts val="2133"/>
              </a:lnSpc>
              <a:spcBef>
                <a:spcPts val="0"/>
              </a:spcBef>
              <a:spcAft>
                <a:spcPts val="0"/>
              </a:spcAft>
              <a:defRPr sz="1680" b="0">
                <a:solidFill>
                  <a:srgbClr val="53696A"/>
                </a:solidFill>
                <a:latin typeface="DejaVu Sans"/>
              </a:defRPr>
            </a:pPr>
            <a:r>
              <a:t>Scores real vs. generated</a:t>
            </a:r>
          </a:p>
          <a:p>
            <a:pPr>
              <a:lnSpc>
                <a:spcPts val="2133"/>
              </a:lnSpc>
              <a:spcBef>
                <a:spcPts val="0"/>
              </a:spcBef>
              <a:spcAft>
                <a:spcPts val="0"/>
              </a:spcAft>
              <a:defRPr sz="1680" b="0">
                <a:solidFill>
                  <a:srgbClr val="53696A"/>
                </a:solidFill>
                <a:latin typeface="DejaVu Sans"/>
              </a:defRPr>
            </a:pPr>
            <a:r>
              <a:t>Maximizes this objective</a:t>
            </a:r>
          </a:p>
        </p:txBody>
      </p:sp>
      <p:sp>
        <p:nvSpPr>
          <p:cNvPr id="23" name="Rounded Rectangle 22"/>
          <p:cNvSpPr/>
          <p:nvPr/>
        </p:nvSpPr>
        <p:spPr>
          <a:xfrm>
            <a:off x="8077200" y="3825240"/>
            <a:ext cx="3581400" cy="16078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403860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E · expectation</a:t>
            </a:r>
          </a:p>
        </p:txBody>
      </p:sp>
      <p:sp>
        <p:nvSpPr>
          <p:cNvPr id="25" name="TextBox 24"/>
          <p:cNvSpPr txBox="1"/>
          <p:nvPr/>
        </p:nvSpPr>
        <p:spPr>
          <a:xfrm>
            <a:off x="8290560" y="4558131"/>
            <a:ext cx="3154680" cy="618134"/>
          </a:xfrm>
          <a:prstGeom prst="rect">
            <a:avLst/>
          </a:prstGeom>
          <a:noFill/>
        </p:spPr>
        <p:txBody>
          <a:bodyPr wrap="none" lIns="0" rIns="0" tIns="0" bIns="0">
            <a:spAutoFit/>
          </a:bodyPr>
          <a:lstStyle/>
          <a:p>
            <a:pPr>
              <a:lnSpc>
                <a:spcPts val="2133"/>
              </a:lnSpc>
              <a:spcBef>
                <a:spcPts val="0"/>
              </a:spcBef>
              <a:spcAft>
                <a:spcPts val="0"/>
              </a:spcAft>
              <a:defRPr sz="1680" b="0">
                <a:solidFill>
                  <a:srgbClr val="53696A"/>
                </a:solidFill>
                <a:latin typeface="DejaVu Sans"/>
              </a:defRPr>
            </a:pPr>
            <a:r>
              <a:t>Average over examples</a:t>
            </a:r>
          </a:p>
          <a:p>
            <a:pPr>
              <a:lnSpc>
                <a:spcPts val="2133"/>
              </a:lnSpc>
              <a:spcBef>
                <a:spcPts val="0"/>
              </a:spcBef>
              <a:spcAft>
                <a:spcPts val="0"/>
              </a:spcAft>
              <a:defRPr sz="1680" b="0">
                <a:solidFill>
                  <a:srgbClr val="53696A"/>
                </a:solidFill>
                <a:latin typeface="DejaVu Sans"/>
              </a:defRPr>
            </a:pPr>
            <a:r>
              <a:t>Real data + generated data</a:t>
            </a:r>
          </a:p>
        </p:txBody>
      </p:sp>
      <p:sp>
        <p:nvSpPr>
          <p:cNvPr id="26" name="TextBox 25"/>
          <p:cNvSpPr txBox="1"/>
          <p:nvPr/>
        </p:nvSpPr>
        <p:spPr>
          <a:xfrm>
            <a:off x="571500" y="5745480"/>
            <a:ext cx="110490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007F7C"/>
                </a:solidFill>
                <a:latin typeface="DejaVu Sans"/>
              </a:defRPr>
            </a:pPr>
            <a:r>
              <a:t>Training: update both networks. Generation: normally use the trained G.</a:t>
            </a:r>
          </a:p>
        </p:txBody>
      </p:sp>
      <p:sp>
        <p:nvSpPr>
          <p:cNvPr id="27" name="TextBox 26"/>
          <p:cNvSpPr txBox="1"/>
          <p:nvPr/>
        </p:nvSpPr>
        <p:spPr>
          <a:xfrm>
            <a:off x="571500" y="6065520"/>
            <a:ext cx="11049000" cy="250393"/>
          </a:xfrm>
          <a:prstGeom prst="rect">
            <a:avLst/>
          </a:prstGeom>
          <a:noFill/>
        </p:spPr>
        <p:txBody>
          <a:bodyPr wrap="none" lIns="0" rIns="0" tIns="0" bIns="0">
            <a:spAutoFit/>
          </a:bodyPr>
          <a:lstStyle/>
          <a:p>
            <a:pPr>
              <a:lnSpc>
                <a:spcPts val="1371"/>
              </a:lnSpc>
              <a:spcBef>
                <a:spcPts val="0"/>
              </a:spcBef>
              <a:spcAft>
                <a:spcPts val="0"/>
              </a:spcAft>
              <a:defRPr sz="1080" b="0">
                <a:solidFill>
                  <a:srgbClr val="53696A"/>
                </a:solidFill>
                <a:latin typeface="DejaVu Sans"/>
              </a:defRPr>
            </a:pPr>
            <a:r>
              <a:t>This is the foundational minimax form; the paper also discusses an alternative generator loss.</a:t>
            </a:r>
          </a:p>
        </p:txBody>
      </p:sp>
      <p:cxnSp>
        <p:nvCxnSpPr>
          <p:cNvPr id="28" name="Connector 27"/>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3"/>
              </a:rPr>
              <a:t>Goodfellow et al. (2014), Generative Adversarial Nets, Eq. 1, p. 3 · arxiv.org/abs/1406.2661v1</a:t>
            </a:r>
          </a:p>
        </p:txBody>
      </p:sp>
      <p:sp>
        <p:nvSpPr>
          <p:cNvPr id="30" name="TextBox 29"/>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A noise vector is a list of numbers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A small input can generate a whole image</a:t>
            </a:r>
          </a:p>
        </p:txBody>
      </p:sp>
      <p:sp>
        <p:nvSpPr>
          <p:cNvPr id="14" name="Rounded Rectangle 13"/>
          <p:cNvSpPr/>
          <p:nvPr/>
        </p:nvSpPr>
        <p:spPr>
          <a:xfrm>
            <a:off x="609600" y="3108960"/>
            <a:ext cx="990599" cy="99059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80" y="3406140"/>
            <a:ext cx="876300" cy="443941"/>
          </a:xfrm>
          <a:prstGeom prst="rect">
            <a:avLst/>
          </a:prstGeom>
          <a:noFill/>
        </p:spPr>
        <p:txBody>
          <a:bodyPr wrap="none" lIns="0" rIns="0" tIns="0" bIns="0">
            <a:spAutoFit/>
          </a:bodyPr>
          <a:lstStyle/>
          <a:p>
            <a:pPr>
              <a:lnSpc>
                <a:spcPts val="2895"/>
              </a:lnSpc>
              <a:spcBef>
                <a:spcPts val="0"/>
              </a:spcBef>
              <a:spcAft>
                <a:spcPts val="0"/>
              </a:spcAft>
              <a:defRPr sz="2280" b="1">
                <a:solidFill>
                  <a:srgbClr val="142F35"/>
                </a:solidFill>
                <a:latin typeface="DejaVu Sans"/>
              </a:defRPr>
            </a:pPr>
            <a:r>
              <a:t>0.2</a:t>
            </a:r>
          </a:p>
        </p:txBody>
      </p:sp>
      <p:sp>
        <p:nvSpPr>
          <p:cNvPr id="16" name="Rounded Rectangle 15"/>
          <p:cNvSpPr/>
          <p:nvPr/>
        </p:nvSpPr>
        <p:spPr>
          <a:xfrm>
            <a:off x="1752600" y="3108960"/>
            <a:ext cx="990599" cy="99059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59280" y="3406140"/>
            <a:ext cx="876300" cy="443941"/>
          </a:xfrm>
          <a:prstGeom prst="rect">
            <a:avLst/>
          </a:prstGeom>
          <a:noFill/>
        </p:spPr>
        <p:txBody>
          <a:bodyPr wrap="none" lIns="0" rIns="0" tIns="0" bIns="0">
            <a:spAutoFit/>
          </a:bodyPr>
          <a:lstStyle/>
          <a:p>
            <a:pPr>
              <a:lnSpc>
                <a:spcPts val="2895"/>
              </a:lnSpc>
              <a:spcBef>
                <a:spcPts val="0"/>
              </a:spcBef>
              <a:spcAft>
                <a:spcPts val="0"/>
              </a:spcAft>
              <a:defRPr sz="2280" b="1">
                <a:solidFill>
                  <a:srgbClr val="142F35"/>
                </a:solidFill>
                <a:latin typeface="DejaVu Sans"/>
              </a:defRPr>
            </a:pPr>
            <a:r>
              <a:t>−1.1</a:t>
            </a:r>
          </a:p>
        </p:txBody>
      </p:sp>
      <p:sp>
        <p:nvSpPr>
          <p:cNvPr id="18" name="Rounded Rectangle 17"/>
          <p:cNvSpPr/>
          <p:nvPr/>
        </p:nvSpPr>
        <p:spPr>
          <a:xfrm>
            <a:off x="2895600" y="3108960"/>
            <a:ext cx="990599" cy="99059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02280" y="3406140"/>
            <a:ext cx="876300" cy="443941"/>
          </a:xfrm>
          <a:prstGeom prst="rect">
            <a:avLst/>
          </a:prstGeom>
          <a:noFill/>
        </p:spPr>
        <p:txBody>
          <a:bodyPr wrap="none" lIns="0" rIns="0" tIns="0" bIns="0">
            <a:spAutoFit/>
          </a:bodyPr>
          <a:lstStyle/>
          <a:p>
            <a:pPr>
              <a:lnSpc>
                <a:spcPts val="2895"/>
              </a:lnSpc>
              <a:spcBef>
                <a:spcPts val="0"/>
              </a:spcBef>
              <a:spcAft>
                <a:spcPts val="0"/>
              </a:spcAft>
              <a:defRPr sz="2280" b="1">
                <a:solidFill>
                  <a:srgbClr val="142F35"/>
                </a:solidFill>
                <a:latin typeface="DejaVu Sans"/>
              </a:defRPr>
            </a:pPr>
            <a:r>
              <a:t>0.7</a:t>
            </a:r>
          </a:p>
        </p:txBody>
      </p:sp>
      <p:sp>
        <p:nvSpPr>
          <p:cNvPr id="20" name="Rounded Rectangle 19"/>
          <p:cNvSpPr/>
          <p:nvPr/>
        </p:nvSpPr>
        <p:spPr>
          <a:xfrm>
            <a:off x="4038600" y="3108960"/>
            <a:ext cx="990599" cy="990599"/>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45280" y="3406140"/>
            <a:ext cx="876300" cy="443941"/>
          </a:xfrm>
          <a:prstGeom prst="rect">
            <a:avLst/>
          </a:prstGeom>
          <a:noFill/>
        </p:spPr>
        <p:txBody>
          <a:bodyPr wrap="none" lIns="0" rIns="0" tIns="0" bIns="0">
            <a:spAutoFit/>
          </a:bodyPr>
          <a:lstStyle/>
          <a:p>
            <a:pPr>
              <a:lnSpc>
                <a:spcPts val="2895"/>
              </a:lnSpc>
              <a:spcBef>
                <a:spcPts val="0"/>
              </a:spcBef>
              <a:spcAft>
                <a:spcPts val="0"/>
              </a:spcAft>
              <a:defRPr sz="2280" b="1">
                <a:solidFill>
                  <a:srgbClr val="142F35"/>
                </a:solidFill>
                <a:latin typeface="DejaVu Sans"/>
              </a:defRPr>
            </a:pPr>
            <a:r>
              <a:t>…</a:t>
            </a:r>
          </a:p>
        </p:txBody>
      </p:sp>
      <p:cxnSp>
        <p:nvCxnSpPr>
          <p:cNvPr id="22" name="Connector 21"/>
          <p:cNvCxnSpPr/>
          <p:nvPr/>
        </p:nvCxnSpPr>
        <p:spPr>
          <a:xfrm>
            <a:off x="5334000" y="3611880"/>
            <a:ext cx="6096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833163" y="361188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5833163" y="354417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316980" y="3040380"/>
            <a:ext cx="876300" cy="2171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316980" y="3257550"/>
            <a:ext cx="876300" cy="3619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316980" y="3257550"/>
            <a:ext cx="876300" cy="9410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16980" y="3040380"/>
            <a:ext cx="876300" cy="9410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316980" y="3619500"/>
            <a:ext cx="876300" cy="3619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316980" y="3981450"/>
            <a:ext cx="876300" cy="2171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193280" y="3040380"/>
            <a:ext cx="876299" cy="2171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93280" y="3040380"/>
            <a:ext cx="876299" cy="9410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193280" y="3257550"/>
            <a:ext cx="876299" cy="3619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193280" y="3619500"/>
            <a:ext cx="876299" cy="36195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193280" y="3257550"/>
            <a:ext cx="876299" cy="9410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193280" y="3981450"/>
            <a:ext cx="876299" cy="21717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225540" y="31661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225540" y="38900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01840" y="294894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01840" y="352806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101840" y="4107179"/>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978140" y="31661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978140" y="389001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8381999" y="3611880"/>
            <a:ext cx="609601"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881163" y="361188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8881163" y="354417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983724" y="3104388"/>
            <a:ext cx="693420" cy="1461515"/>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101071" y="2912364"/>
            <a:ext cx="458723" cy="27736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0143744" y="3296412"/>
            <a:ext cx="0" cy="864108"/>
          </a:xfrm>
          <a:prstGeom prst="line">
            <a:avLst/>
          </a:prstGeom>
          <a:ln w="32003">
            <a:solidFill>
              <a:srgbClr val="A5CEC3"/>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453116" y="2880360"/>
            <a:ext cx="362711" cy="362711"/>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527791" y="2955036"/>
            <a:ext cx="213360" cy="2133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4838700"/>
            <a:ext cx="3657600" cy="482650"/>
          </a:xfrm>
          <a:prstGeom prst="rect">
            <a:avLst/>
          </a:prstGeom>
          <a:noFill/>
        </p:spPr>
        <p:txBody>
          <a:bodyPr wrap="none" lIns="0" rIns="0" tIns="0" bIns="0">
            <a:spAutoFit/>
          </a:bodyPr>
          <a:lstStyle/>
          <a:p>
            <a:pPr>
              <a:lnSpc>
                <a:spcPts val="3200"/>
              </a:lnSpc>
              <a:spcBef>
                <a:spcPts val="0"/>
              </a:spcBef>
              <a:spcAft>
                <a:spcPts val="0"/>
              </a:spcAft>
              <a:defRPr sz="2520" b="1">
                <a:solidFill>
                  <a:srgbClr val="142F35"/>
                </a:solidFill>
                <a:latin typeface="DejaVu Sans"/>
              </a:defRPr>
            </a:pPr>
            <a:r>
              <a:t>D values</a:t>
            </a:r>
          </a:p>
        </p:txBody>
      </p:sp>
      <p:sp>
        <p:nvSpPr>
          <p:cNvPr id="53" name="TextBox 52"/>
          <p:cNvSpPr txBox="1"/>
          <p:nvPr/>
        </p:nvSpPr>
        <p:spPr>
          <a:xfrm>
            <a:off x="6278880" y="4838700"/>
            <a:ext cx="3200400" cy="424586"/>
          </a:xfrm>
          <a:prstGeom prst="rect">
            <a:avLst/>
          </a:prstGeom>
          <a:noFill/>
        </p:spPr>
        <p:txBody>
          <a:bodyPr wrap="none" lIns="0" rIns="0" tIns="0" bIns="0">
            <a:spAutoFit/>
          </a:bodyPr>
          <a:lstStyle/>
          <a:p>
            <a:pPr>
              <a:lnSpc>
                <a:spcPts val="2743"/>
              </a:lnSpc>
              <a:spcBef>
                <a:spcPts val="0"/>
              </a:spcBef>
              <a:spcAft>
                <a:spcPts val="0"/>
              </a:spcAft>
              <a:defRPr sz="2160" b="1">
                <a:solidFill>
                  <a:srgbClr val="142F35"/>
                </a:solidFill>
                <a:latin typeface="DejaVu Sans"/>
              </a:defRPr>
            </a:pPr>
            <a:r>
              <a:t>Generator</a:t>
            </a:r>
          </a:p>
        </p:txBody>
      </p:sp>
      <p:sp>
        <p:nvSpPr>
          <p:cNvPr id="54" name="TextBox 53"/>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Latent input values ≠ output pixels · teaching schematic</a:t>
            </a:r>
          </a:p>
        </p:txBody>
      </p:sp>
      <p:cxnSp>
        <p:nvCxnSpPr>
          <p:cNvPr id="55" name="Connector 54"/>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5</a:t>
            </a:r>
          </a:p>
        </p:txBody>
      </p:sp>
      <p:sp>
        <p:nvSpPr>
          <p:cNvPr id="57" name="TextBox 56"/>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Six inputs. Six lookalikes?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Mode collapse: plausible images, limited variety</a:t>
            </a:r>
          </a:p>
        </p:txBody>
      </p:sp>
      <p:sp>
        <p:nvSpPr>
          <p:cNvPr id="14" name="TextBox 13"/>
          <p:cNvSpPr txBox="1"/>
          <p:nvPr/>
        </p:nvSpPr>
        <p:spPr>
          <a:xfrm>
            <a:off x="533400" y="2209800"/>
            <a:ext cx="5410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Useful variety</a:t>
            </a:r>
          </a:p>
        </p:txBody>
      </p:sp>
      <p:sp>
        <p:nvSpPr>
          <p:cNvPr id="15" name="Rounded Rectangle 14"/>
          <p:cNvSpPr/>
          <p:nvPr/>
        </p:nvSpPr>
        <p:spPr>
          <a:xfrm>
            <a:off x="5334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57782" y="295335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273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2526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436065" y="282054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80337" y="286481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860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10382" y="2953359"/>
            <a:ext cx="411098" cy="86647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799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30052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0386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662982" y="2953359"/>
            <a:ext cx="411098" cy="86647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7325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7578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941265" y="282054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85537" y="286481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334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57782" y="454593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73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2526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2860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10382" y="4545939"/>
            <a:ext cx="411098" cy="86647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9799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30052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188665" y="441312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32937" y="445739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0386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62982" y="4545939"/>
            <a:ext cx="411098" cy="86647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7325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47578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77000" y="2209800"/>
            <a:ext cx="54102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Mode collapse</a:t>
            </a:r>
          </a:p>
        </p:txBody>
      </p:sp>
      <p:sp>
        <p:nvSpPr>
          <p:cNvPr id="46" name="Rounded Rectangle 45"/>
          <p:cNvSpPr/>
          <p:nvPr/>
        </p:nvSpPr>
        <p:spPr>
          <a:xfrm>
            <a:off x="64770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101382" y="295335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1709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71962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7379665" y="282054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423937" y="286481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2296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8853982" y="295335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9235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89488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132265" y="282054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176537" y="286481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982200" y="266700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0606582" y="295335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0676153" y="283951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0701451" y="306720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884865" y="282054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29137" y="286481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4770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101382" y="454593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1709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71962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379665" y="441312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423937" y="445739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2296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853982" y="454593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9235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89488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9132265" y="441312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176537" y="445739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9982200" y="4259580"/>
            <a:ext cx="1600200" cy="14554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10606582" y="4545939"/>
            <a:ext cx="411098" cy="86647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0676153" y="4432096"/>
            <a:ext cx="271957" cy="164439"/>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10701451" y="4659782"/>
            <a:ext cx="0" cy="512293"/>
          </a:xfrm>
          <a:prstGeom prst="line">
            <a:avLst/>
          </a:prstGeom>
          <a:ln w="18973">
            <a:solidFill>
              <a:srgbClr val="A5CEC3"/>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884865" y="4413123"/>
            <a:ext cx="215036" cy="215036"/>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929137" y="4457395"/>
            <a:ext cx="126491" cy="126491"/>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Original teaching drawings: many inputs can still produce very similar outputs.</a:t>
            </a:r>
          </a:p>
        </p:txBody>
      </p:sp>
      <p:cxnSp>
        <p:nvCxnSpPr>
          <p:cNvPr id="83" name="Connector 82"/>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5; Salimans et al., Improved Techniques for Training GANs</a:t>
            </a:r>
          </a:p>
        </p:txBody>
      </p:sp>
      <p:sp>
        <p:nvSpPr>
          <p:cNvPr id="85" name="TextBox 84"/>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Compress, sample, reconstruct</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VAE · a probabilistic latent representation</a:t>
            </a:r>
          </a:p>
        </p:txBody>
      </p:sp>
      <p:sp>
        <p:nvSpPr>
          <p:cNvPr id="14" name="Rounded Rectangle 13"/>
          <p:cNvSpPr/>
          <p:nvPr/>
        </p:nvSpPr>
        <p:spPr>
          <a:xfrm>
            <a:off x="1563624" y="3005328"/>
            <a:ext cx="693420" cy="1461515"/>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680972" y="2813304"/>
            <a:ext cx="458723" cy="277368"/>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723644" y="3197352"/>
            <a:ext cx="0" cy="864108"/>
          </a:xfrm>
          <a:prstGeom prst="line">
            <a:avLst/>
          </a:prstGeom>
          <a:ln w="32003">
            <a:solidFill>
              <a:srgbClr val="A5CEC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033016" y="2781300"/>
            <a:ext cx="362711" cy="362711"/>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107692" y="2855976"/>
            <a:ext cx="213360" cy="2133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413760" y="3710940"/>
            <a:ext cx="662939"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966263" y="371094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966263" y="364323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2971800"/>
            <a:ext cx="1600200" cy="144780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5800" y="3535680"/>
            <a:ext cx="14478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FFFFFF"/>
                </a:solidFill>
                <a:latin typeface="DejaVu Sans"/>
              </a:defRPr>
            </a:pPr>
            <a:r>
              <a:t>Encoder</a:t>
            </a:r>
          </a:p>
        </p:txBody>
      </p:sp>
      <p:cxnSp>
        <p:nvCxnSpPr>
          <p:cNvPr id="24" name="Connector 23"/>
          <p:cNvCxnSpPr/>
          <p:nvPr/>
        </p:nvCxnSpPr>
        <p:spPr>
          <a:xfrm>
            <a:off x="6035040" y="3710940"/>
            <a:ext cx="44196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366563" y="371094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366563" y="364323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949097" y="375425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10917" y="414414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482677" y="370228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268522" y="361531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7492" y="355045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423069" y="376180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06186" y="337594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162716" y="351642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94836" y="383179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15472" y="366152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20003" y="341220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5663" y="401657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353142" y="383508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00310" y="326322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090673" y="374819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167545" y="389094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096507" y="421891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349348" y="427694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46968" y="361950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973903" y="392661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447216" y="373402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287659" y="360771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080764" y="360171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15433" y="338845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195071" y="372468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456794" y="387353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290906" y="370178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619309" y="370178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963526" y="383217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113982" y="358734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049939" y="360016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94385" y="321455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487319" y="381434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073431" y="358334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091896" y="464699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313549" y="368614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015150" y="298677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214321" y="409512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416981" y="376384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031516" y="333536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202167" y="356299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897593" y="417443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947764" y="352385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585051" y="418914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142441" y="366228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117080" y="3634740"/>
            <a:ext cx="167640" cy="16764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44640" y="4663440"/>
            <a:ext cx="1676400" cy="337489"/>
          </a:xfrm>
          <a:prstGeom prst="rect">
            <a:avLst/>
          </a:prstGeom>
          <a:noFill/>
        </p:spPr>
        <p:txBody>
          <a:bodyPr wrap="none" lIns="0" rIns="0" tIns="0" bIns="0">
            <a:spAutoFit/>
          </a:bodyPr>
          <a:lstStyle/>
          <a:p>
            <a:pPr>
              <a:lnSpc>
                <a:spcPts val="2057"/>
              </a:lnSpc>
              <a:spcBef>
                <a:spcPts val="0"/>
              </a:spcBef>
              <a:spcAft>
                <a:spcPts val="0"/>
              </a:spcAft>
              <a:defRPr sz="1620" b="1">
                <a:solidFill>
                  <a:srgbClr val="142F35"/>
                </a:solidFill>
                <a:latin typeface="DejaVu Sans"/>
              </a:defRPr>
            </a:pPr>
            <a:r>
              <a:t>Sample z</a:t>
            </a:r>
          </a:p>
        </p:txBody>
      </p:sp>
      <p:cxnSp>
        <p:nvCxnSpPr>
          <p:cNvPr id="74" name="Connector 73"/>
          <p:cNvCxnSpPr/>
          <p:nvPr/>
        </p:nvCxnSpPr>
        <p:spPr>
          <a:xfrm>
            <a:off x="7955279" y="3710940"/>
            <a:ext cx="434341"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8279183" y="371094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279183" y="364323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8534400" y="2971800"/>
            <a:ext cx="1600200" cy="144780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86800" y="3535680"/>
            <a:ext cx="14478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FFFFFF"/>
                </a:solidFill>
                <a:latin typeface="DejaVu Sans"/>
              </a:defRPr>
            </a:pPr>
            <a:r>
              <a:t>Decoder</a:t>
            </a:r>
          </a:p>
        </p:txBody>
      </p:sp>
      <p:cxnSp>
        <p:nvCxnSpPr>
          <p:cNvPr id="79" name="Connector 78"/>
          <p:cNvCxnSpPr/>
          <p:nvPr/>
        </p:nvCxnSpPr>
        <p:spPr>
          <a:xfrm>
            <a:off x="10210800" y="3710940"/>
            <a:ext cx="3048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405163" y="371094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0405163" y="364323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10784585" y="3292602"/>
            <a:ext cx="421005" cy="887349"/>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10855833" y="3176016"/>
            <a:ext cx="278511" cy="168401"/>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0881741" y="3409187"/>
            <a:ext cx="0" cy="524637"/>
          </a:xfrm>
          <a:prstGeom prst="line">
            <a:avLst/>
          </a:prstGeom>
          <a:ln w="19430">
            <a:solidFill>
              <a:srgbClr val="A5CEC3"/>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Reconstruction + regularization · teaching schematic, not model output</a:t>
            </a:r>
          </a:p>
        </p:txBody>
      </p:sp>
      <p:cxnSp>
        <p:nvCxnSpPr>
          <p:cNvPr id="86" name="Connector 85"/>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5; Kingma &amp; Welling, Auto-Encoding Variational Bayes</a:t>
            </a:r>
          </a:p>
        </p:txBody>
      </p:sp>
      <p:sp>
        <p:nvSpPr>
          <p:cNvPr id="88" name="TextBox 87"/>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A reversible change of coordinates</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Flow · forward and inverse transforms</a:t>
            </a:r>
          </a:p>
        </p:txBody>
      </p:sp>
      <p:sp>
        <p:nvSpPr>
          <p:cNvPr id="14" name="Oval 13"/>
          <p:cNvSpPr/>
          <p:nvPr/>
        </p:nvSpPr>
        <p:spPr>
          <a:xfrm>
            <a:off x="2326263" y="348586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89063" y="351925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770379" y="308278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33179" y="353939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81923" y="319890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844723" y="333796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114525" y="334867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77325" y="347484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96447" y="362760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59247" y="367380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58810" y="310931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321610" y="325026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320543" y="409496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83343" y="403631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365534" y="318003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528334" y="325567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7395" y="336453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730195" y="462679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511455" y="349830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74255" y="353346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738327" y="383397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901127" y="390700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56410" y="420333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19210" y="430570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676497" y="315320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39297" y="329657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031727" y="321515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194527" y="341186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945246" y="378198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108046" y="402540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514816" y="411982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677616" y="406081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063515" y="370144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226315" y="408480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551167" y="357459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13967" y="360698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322055" y="361796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484855" y="363184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249742" y="387762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412542" y="386786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872410" y="310790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35210" y="338813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658872" y="347441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821672" y="356049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272554" y="298133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435354" y="310223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409063" y="359807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571863" y="451104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148593" y="340613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311393" y="350650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302178" y="316110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464978" y="324812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551454" y="427202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714254" y="419810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876403" y="381188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039203" y="398809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377884" y="365402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540684" y="365655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292963" y="350994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455763" y="354559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165991" y="333335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328791" y="343693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097370" y="398148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1260170" y="651575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649007" y="376806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9811807" y="380496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070995" y="365304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233795" y="375761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907569" y="356837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070369" y="380966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908658" y="340474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071458" y="367001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322904" y="396322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485704" y="392430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245427" y="321788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408227" y="331001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415801" y="353653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578601" y="444675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769768" y="368452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932568" y="380005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269855" y="360711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432655" y="363322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419293" y="320995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582093" y="327951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288176" y="393552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450976" y="390726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43737" y="363647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706537" y="365754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712611" y="303272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875411" y="321320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966736" y="324557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129536" y="359213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082877" y="413117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45677" y="415569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522394" y="3603796"/>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685194" y="362502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3093" y="312094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965893" y="334526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792482" y="477333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955282" y="473811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394743" y="370614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557543" y="370006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348595" y="420292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511395" y="412408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000558" y="376977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0163358" y="407160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027801" y="380328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190601" y="391295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430139" y="304159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592939" y="313717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294121" y="346916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0456921" y="420965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075080" y="286027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237880" y="338579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712955" y="324505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875755" y="339333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2852794" y="386923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015594" y="401718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540279" y="285468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703079" y="365946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074442" y="318148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237242" y="335589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966300" y="400157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129100" y="423237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651417" y="372287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814217" y="376772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111558" y="386106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10274358" y="427915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2971220" y="344763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10134020" y="376792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036359" y="405013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0199159" y="434875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2731133" y="429381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9893933" y="429244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925164" y="269681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9087964" y="305540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2573919" y="394769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9736719" y="392953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2332337" y="382792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495137" y="380827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2998989" y="345409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0161789" y="380240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2810488" y="398255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973288" y="408078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349629" y="433817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0512429" y="503791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2387527" y="369001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9550327" y="368660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2383225" y="326319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9546025" y="332507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944606" y="303133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9107406" y="332224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2911874" y="3921330"/>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0074674" y="411205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2715178" y="356578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9877978" y="366637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2410494" y="433831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573294" y="423564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186034" y="3960808"/>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10348834" y="446354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2757415" y="2634903"/>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9920215" y="2902589"/>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2703973" y="315195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9866773" y="3309555"/>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1868135" y="380338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030935" y="404594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1598656" y="273541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8761456" y="3469806"/>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2710208" y="409468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9873008" y="411185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2086938" y="376962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9249738" y="384692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2813113" y="433941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9975913" y="438512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1816164" y="331551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8978964" y="368569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2384528" y="417851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9547328" y="410071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2547393" y="388232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9710193" y="386681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2838583" y="4152642"/>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10001383" y="4246103"/>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2744628" y="318660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9907428" y="336219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2442123" y="348644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9604923" y="3514778"/>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2163065" y="3636995"/>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9325865" y="3695547"/>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2071889" y="361247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9234689" y="372269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2383927" y="467215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9546727" y="4519072"/>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2087719" y="3564581"/>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9250519" y="367270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2040822" y="3687899"/>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9203622" y="3806370"/>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2534045" y="3230517"/>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9696845" y="3311221"/>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2738923" y="3159934"/>
            <a:ext cx="60960" cy="6096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9901723" y="3336144"/>
            <a:ext cx="60960" cy="6096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4" name="Connector 213"/>
          <p:cNvCxnSpPr/>
          <p:nvPr/>
        </p:nvCxnSpPr>
        <p:spPr>
          <a:xfrm>
            <a:off x="4762500" y="3177540"/>
            <a:ext cx="2590799"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H="1">
            <a:off x="7242863" y="317754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H="1" flipV="1">
            <a:off x="7242863" y="310983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H="1">
            <a:off x="4762500" y="4312920"/>
            <a:ext cx="2590799"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762500" y="424521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4762500" y="431292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20" name="TextBox 219"/>
          <p:cNvSpPr txBox="1"/>
          <p:nvPr/>
        </p:nvSpPr>
        <p:spPr>
          <a:xfrm>
            <a:off x="5806440" y="2583180"/>
            <a:ext cx="685800" cy="598779"/>
          </a:xfrm>
          <a:prstGeom prst="rect">
            <a:avLst/>
          </a:prstGeom>
          <a:noFill/>
        </p:spPr>
        <p:txBody>
          <a:bodyPr wrap="none" lIns="0" rIns="0" tIns="0" bIns="0">
            <a:spAutoFit/>
          </a:bodyPr>
          <a:lstStyle/>
          <a:p>
            <a:pPr>
              <a:lnSpc>
                <a:spcPts val="4114"/>
              </a:lnSpc>
              <a:spcBef>
                <a:spcPts val="0"/>
              </a:spcBef>
              <a:spcAft>
                <a:spcPts val="0"/>
              </a:spcAft>
              <a:defRPr sz="3240" b="1">
                <a:solidFill>
                  <a:srgbClr val="142F35"/>
                </a:solidFill>
                <a:latin typeface="DejaVu Sans"/>
              </a:defRPr>
            </a:pPr>
            <a:r>
              <a:t>f</a:t>
            </a:r>
          </a:p>
        </p:txBody>
      </p:sp>
      <p:sp>
        <p:nvSpPr>
          <p:cNvPr id="221" name="TextBox 220"/>
          <p:cNvSpPr txBox="1"/>
          <p:nvPr/>
        </p:nvSpPr>
        <p:spPr>
          <a:xfrm>
            <a:off x="5638800" y="4625340"/>
            <a:ext cx="1371600" cy="550392"/>
          </a:xfrm>
          <a:prstGeom prst="rect">
            <a:avLst/>
          </a:prstGeom>
          <a:noFill/>
        </p:spPr>
        <p:txBody>
          <a:bodyPr wrap="none" lIns="0" rIns="0" tIns="0" bIns="0">
            <a:spAutoFit/>
          </a:bodyPr>
          <a:lstStyle/>
          <a:p>
            <a:pPr>
              <a:lnSpc>
                <a:spcPts val="3733"/>
              </a:lnSpc>
              <a:spcBef>
                <a:spcPts val="0"/>
              </a:spcBef>
              <a:spcAft>
                <a:spcPts val="0"/>
              </a:spcAft>
              <a:defRPr sz="2940" b="1">
                <a:solidFill>
                  <a:srgbClr val="142F35"/>
                </a:solidFill>
                <a:latin typeface="DejaVu Sans"/>
              </a:defRPr>
            </a:pPr>
            <a:r>
              <a:t>f⁻¹</a:t>
            </a:r>
          </a:p>
        </p:txBody>
      </p:sp>
      <p:sp>
        <p:nvSpPr>
          <p:cNvPr id="222" name="TextBox 221"/>
          <p:cNvSpPr txBox="1"/>
          <p:nvPr/>
        </p:nvSpPr>
        <p:spPr>
          <a:xfrm>
            <a:off x="685800" y="5326380"/>
            <a:ext cx="45720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Simple distribution</a:t>
            </a:r>
          </a:p>
        </p:txBody>
      </p:sp>
      <p:sp>
        <p:nvSpPr>
          <p:cNvPr id="223" name="TextBox 222"/>
          <p:cNvSpPr txBox="1"/>
          <p:nvPr/>
        </p:nvSpPr>
        <p:spPr>
          <a:xfrm>
            <a:off x="7620000" y="5326380"/>
            <a:ext cx="4190999"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142F35"/>
                </a:solidFill>
                <a:latin typeface="DejaVu Sans"/>
              </a:defRPr>
            </a:pPr>
            <a:r>
              <a:t>Transformed distribution</a:t>
            </a:r>
          </a:p>
        </p:txBody>
      </p:sp>
      <p:sp>
        <p:nvSpPr>
          <p:cNvPr id="224" name="TextBox 223"/>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Original schematic: reversible coordinates do not guarantee interpretable meaning.</a:t>
            </a:r>
          </a:p>
        </p:txBody>
      </p:sp>
      <p:cxnSp>
        <p:nvCxnSpPr>
          <p:cNvPr id="225" name="Connector 224"/>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 5; Dinh et al., Real NVP</a:t>
            </a:r>
          </a:p>
        </p:txBody>
      </p:sp>
      <p:sp>
        <p:nvSpPr>
          <p:cNvPr id="227" name="TextBox 226"/>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Latent diffusion: read a real architecture</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Rombach et al. (2022) · Figure 3 · High-Resolution Image Synthesis</a:t>
            </a:r>
          </a:p>
        </p:txBody>
      </p:sp>
      <p:pic>
        <p:nvPicPr>
          <p:cNvPr id="14" name="Picture 13" descr="ldm-figure-3.png"/>
          <p:cNvPicPr>
            <a:picLocks noChangeAspect="1"/>
          </p:cNvPicPr>
          <p:nvPr/>
        </p:nvPicPr>
        <p:blipFill>
          <a:blip r:embed="rId2"/>
          <a:stretch>
            <a:fillRect/>
          </a:stretch>
        </p:blipFill>
        <p:spPr>
          <a:xfrm>
            <a:off x="533400" y="2355153"/>
            <a:ext cx="7467599" cy="3686932"/>
          </a:xfrm>
          <a:prstGeom prst="rect">
            <a:avLst/>
          </a:prstGeom>
        </p:spPr>
      </p:pic>
      <p:sp>
        <p:nvSpPr>
          <p:cNvPr id="15" name="TextBox 14"/>
          <p:cNvSpPr txBox="1"/>
          <p:nvPr/>
        </p:nvSpPr>
        <p:spPr>
          <a:xfrm>
            <a:off x="8305800" y="2354580"/>
            <a:ext cx="32766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01 · Represent</a:t>
            </a:r>
          </a:p>
        </p:txBody>
      </p:sp>
      <p:sp>
        <p:nvSpPr>
          <p:cNvPr id="16" name="TextBox 15"/>
          <p:cNvSpPr txBox="1"/>
          <p:nvPr/>
        </p:nvSpPr>
        <p:spPr>
          <a:xfrm>
            <a:off x="8305800" y="2697480"/>
            <a:ext cx="32766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Pink: encode / decode pixels</a:t>
            </a:r>
          </a:p>
        </p:txBody>
      </p:sp>
      <p:sp>
        <p:nvSpPr>
          <p:cNvPr id="17" name="TextBox 16"/>
          <p:cNvSpPr txBox="1"/>
          <p:nvPr/>
        </p:nvSpPr>
        <p:spPr>
          <a:xfrm>
            <a:off x="8305800" y="3368040"/>
            <a:ext cx="32766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02 · Generate</a:t>
            </a:r>
          </a:p>
        </p:txBody>
      </p:sp>
      <p:sp>
        <p:nvSpPr>
          <p:cNvPr id="18" name="TextBox 17"/>
          <p:cNvSpPr txBox="1"/>
          <p:nvPr/>
        </p:nvSpPr>
        <p:spPr>
          <a:xfrm>
            <a:off x="8305800" y="3710940"/>
            <a:ext cx="32766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Green: denoise in latent space</a:t>
            </a:r>
          </a:p>
        </p:txBody>
      </p:sp>
      <p:sp>
        <p:nvSpPr>
          <p:cNvPr id="19" name="TextBox 18"/>
          <p:cNvSpPr txBox="1"/>
          <p:nvPr/>
        </p:nvSpPr>
        <p:spPr>
          <a:xfrm>
            <a:off x="8305800" y="4381500"/>
            <a:ext cx="32766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03 · Condition</a:t>
            </a:r>
          </a:p>
        </p:txBody>
      </p:sp>
      <p:sp>
        <p:nvSpPr>
          <p:cNvPr id="20" name="TextBox 19"/>
          <p:cNvSpPr txBox="1"/>
          <p:nvPr/>
        </p:nvSpPr>
        <p:spPr>
          <a:xfrm>
            <a:off x="8305800" y="4724400"/>
            <a:ext cx="32766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Right: guide with text or maps</a:t>
            </a:r>
          </a:p>
        </p:txBody>
      </p:sp>
      <p:sp>
        <p:nvSpPr>
          <p:cNvPr id="21" name="TextBox 20"/>
          <p:cNvSpPr txBox="1"/>
          <p:nvPr/>
        </p:nvSpPr>
        <p:spPr>
          <a:xfrm>
            <a:off x="8305800" y="5486400"/>
            <a:ext cx="3276600" cy="598779"/>
          </a:xfrm>
          <a:prstGeom prst="rect">
            <a:avLst/>
          </a:prstGeom>
          <a:noFill/>
        </p:spPr>
        <p:txBody>
          <a:bodyPr wrap="none" lIns="0" rIns="0" tIns="0" bIns="0">
            <a:spAutoFit/>
          </a:bodyPr>
          <a:lstStyle/>
          <a:p>
            <a:pPr>
              <a:lnSpc>
                <a:spcPts val="2057"/>
              </a:lnSpc>
              <a:spcBef>
                <a:spcPts val="0"/>
              </a:spcBef>
              <a:spcAft>
                <a:spcPts val="0"/>
              </a:spcAft>
              <a:defRPr sz="1620" b="1">
                <a:solidFill>
                  <a:srgbClr val="007F7C"/>
                </a:solidFill>
                <a:latin typeface="DejaVu Sans"/>
              </a:defRPr>
            </a:pPr>
            <a:r>
              <a:t>Text-to-image sampling</a:t>
            </a:r>
          </a:p>
          <a:p>
            <a:pPr>
              <a:lnSpc>
                <a:spcPts val="2057"/>
              </a:lnSpc>
              <a:spcBef>
                <a:spcPts val="0"/>
              </a:spcBef>
              <a:spcAft>
                <a:spcPts val="0"/>
              </a:spcAft>
              <a:defRPr sz="1620" b="1">
                <a:solidFill>
                  <a:srgbClr val="007F7C"/>
                </a:solidFill>
                <a:latin typeface="DejaVu Sans"/>
              </a:defRPr>
            </a:pPr>
            <a:r>
              <a:t>starts from latent noise.</a:t>
            </a:r>
          </a:p>
        </p:txBody>
      </p:sp>
      <p:sp>
        <p:nvSpPr>
          <p:cNvPr id="22" name="TextBox 21"/>
          <p:cNvSpPr txBox="1"/>
          <p:nvPr/>
        </p:nvSpPr>
        <p:spPr>
          <a:xfrm>
            <a:off x="571500" y="6073140"/>
            <a:ext cx="11049000" cy="250393"/>
          </a:xfrm>
          <a:prstGeom prst="rect">
            <a:avLst/>
          </a:prstGeom>
          <a:noFill/>
        </p:spPr>
        <p:txBody>
          <a:bodyPr wrap="none" lIns="0" rIns="0" tIns="0" bIns="0">
            <a:spAutoFit/>
          </a:bodyPr>
          <a:lstStyle/>
          <a:p>
            <a:pPr>
              <a:lnSpc>
                <a:spcPts val="1371"/>
              </a:lnSpc>
              <a:spcBef>
                <a:spcPts val="0"/>
              </a:spcBef>
              <a:spcAft>
                <a:spcPts val="0"/>
              </a:spcAft>
              <a:defRPr sz="1080" b="0">
                <a:solidFill>
                  <a:srgbClr val="53696A"/>
                </a:solidFill>
                <a:latin typeface="DejaVu Sans"/>
              </a:defRPr>
            </a:pPr>
            <a:r>
              <a:t>Original Figure 3, cropped to the diagram. Reading hints at right are ours.</a:t>
            </a:r>
          </a:p>
        </p:txBody>
      </p:sp>
      <p:cxnSp>
        <p:nvCxnSpPr>
          <p:cNvPr id="23" name="Connector 22"/>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rPr>
                <a:hlinkClick r:id="rId3"/>
              </a:rPr>
              <a:t>Rombach et al. (2022), High-Resolution Image Synthesis with Latent Diffusion Models, Fig. 3, p. 4 · arxiv:2112.10752v2</a:t>
            </a:r>
          </a:p>
        </p:txBody>
      </p:sp>
      <p:sp>
        <p:nvSpPr>
          <p:cNvPr id="25" name="TextBox 24"/>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Give each component a job</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A useful hybrid earns its extra complexity</a:t>
            </a:r>
          </a:p>
        </p:txBody>
      </p:sp>
      <p:sp>
        <p:nvSpPr>
          <p:cNvPr id="14" name="Rounded Rectangle 13"/>
          <p:cNvSpPr/>
          <p:nvPr/>
        </p:nvSpPr>
        <p:spPr>
          <a:xfrm>
            <a:off x="533400" y="2453640"/>
            <a:ext cx="3581400" cy="2667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95400" y="2849880"/>
            <a:ext cx="2057400" cy="952500"/>
          </a:xfrm>
          <a:prstGeom prst="roundRect">
            <a:avLst>
              <a:gd name="adj" fmla="val 5000"/>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4940" y="3116580"/>
            <a:ext cx="184404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FFFFFF"/>
                </a:solidFill>
                <a:latin typeface="DejaVu Sans"/>
              </a:defRPr>
            </a:pPr>
            <a:r>
              <a:t>Represent</a:t>
            </a:r>
          </a:p>
        </p:txBody>
      </p:sp>
      <p:sp>
        <p:nvSpPr>
          <p:cNvPr id="17" name="TextBox 16"/>
          <p:cNvSpPr txBox="1"/>
          <p:nvPr/>
        </p:nvSpPr>
        <p:spPr>
          <a:xfrm>
            <a:off x="800100" y="4320540"/>
            <a:ext cx="31242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Compact code</a:t>
            </a:r>
          </a:p>
        </p:txBody>
      </p:sp>
      <p:cxnSp>
        <p:nvCxnSpPr>
          <p:cNvPr id="18" name="Connector 17"/>
          <p:cNvCxnSpPr/>
          <p:nvPr/>
        </p:nvCxnSpPr>
        <p:spPr>
          <a:xfrm>
            <a:off x="4130040" y="3352800"/>
            <a:ext cx="16002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79623" y="33528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179623" y="32850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05300" y="2453640"/>
            <a:ext cx="3581400" cy="2667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67300" y="2849880"/>
            <a:ext cx="2057400" cy="952500"/>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96840" y="3116580"/>
            <a:ext cx="184404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FFFFFF"/>
                </a:solidFill>
                <a:latin typeface="DejaVu Sans"/>
              </a:defRPr>
            </a:pPr>
            <a:r>
              <a:t>Generate</a:t>
            </a:r>
          </a:p>
        </p:txBody>
      </p:sp>
      <p:sp>
        <p:nvSpPr>
          <p:cNvPr id="24" name="TextBox 23"/>
          <p:cNvSpPr txBox="1"/>
          <p:nvPr/>
        </p:nvSpPr>
        <p:spPr>
          <a:xfrm>
            <a:off x="4572000" y="4320540"/>
            <a:ext cx="31242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Latent denoising</a:t>
            </a:r>
          </a:p>
        </p:txBody>
      </p:sp>
      <p:cxnSp>
        <p:nvCxnSpPr>
          <p:cNvPr id="25" name="Connector 24"/>
          <p:cNvCxnSpPr/>
          <p:nvPr/>
        </p:nvCxnSpPr>
        <p:spPr>
          <a:xfrm>
            <a:off x="7901940" y="3352800"/>
            <a:ext cx="16002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951523" y="33528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7951523" y="32850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77200" y="2453640"/>
            <a:ext cx="3581400" cy="2667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39200" y="2849880"/>
            <a:ext cx="2057400" cy="952500"/>
          </a:xfrm>
          <a:prstGeom prst="roundRect">
            <a:avLst>
              <a:gd name="adj" fmla="val 5000"/>
            </a:avLst>
          </a:prstGeom>
          <a:solidFill>
            <a:srgbClr val="658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8740" y="3116580"/>
            <a:ext cx="184404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FFFFFF"/>
                </a:solidFill>
                <a:latin typeface="DejaVu Sans"/>
              </a:defRPr>
            </a:pPr>
            <a:r>
              <a:t>Decode</a:t>
            </a:r>
          </a:p>
        </p:txBody>
      </p:sp>
      <p:sp>
        <p:nvSpPr>
          <p:cNvPr id="31" name="TextBox 30"/>
          <p:cNvSpPr txBox="1"/>
          <p:nvPr/>
        </p:nvSpPr>
        <p:spPr>
          <a:xfrm>
            <a:off x="8343900" y="4320540"/>
            <a:ext cx="3124200" cy="366522"/>
          </a:xfrm>
          <a:prstGeom prst="rect">
            <a:avLst/>
          </a:prstGeom>
          <a:noFill/>
        </p:spPr>
        <p:txBody>
          <a:bodyPr wrap="none" lIns="0" rIns="0" tIns="0" bIns="0">
            <a:spAutoFit/>
          </a:bodyPr>
          <a:lstStyle/>
          <a:p>
            <a:pPr>
              <a:lnSpc>
                <a:spcPts val="2286"/>
              </a:lnSpc>
              <a:spcBef>
                <a:spcPts val="0"/>
              </a:spcBef>
              <a:spcAft>
                <a:spcPts val="0"/>
              </a:spcAft>
              <a:defRPr sz="1800" b="1">
                <a:solidFill>
                  <a:srgbClr val="142F35"/>
                </a:solidFill>
                <a:latin typeface="DejaVu Sans"/>
              </a:defRPr>
            </a:pPr>
            <a:r>
              <a:t>Back to pixels</a:t>
            </a:r>
          </a:p>
        </p:txBody>
      </p:sp>
      <p:sp>
        <p:nvSpPr>
          <p:cNvPr id="32" name="TextBox 31"/>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Added component → measurable benefit?</a:t>
            </a:r>
          </a:p>
        </p:txBody>
      </p:sp>
      <p:cxnSp>
        <p:nvCxnSpPr>
          <p:cNvPr id="33" name="Connector 32"/>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5–7; foundational model papers</a:t>
            </a:r>
          </a:p>
        </p:txBody>
      </p:sp>
      <p:sp>
        <p:nvSpPr>
          <p:cNvPr id="35" name="TextBox 34"/>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HL ONLY</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04 Model choices · HL</a:t>
            </a:r>
          </a:p>
        </p:txBody>
      </p:sp>
      <p:sp>
        <p:nvSpPr>
          <p:cNvPr id="10" name="Rectangle 9"/>
          <p:cNvSpPr/>
          <p:nvPr/>
        </p:nvSpPr>
        <p:spPr>
          <a:xfrm>
            <a:off x="723138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05 Your recommendation</a:t>
            </a: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Match the model to the bottleneck</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Compare actual systems on the same brief</a:t>
            </a:r>
          </a:p>
        </p:txBody>
      </p:sp>
      <p:sp>
        <p:nvSpPr>
          <p:cNvPr id="14" name="Rounded Rectangle 13"/>
          <p:cNvSpPr/>
          <p:nvPr/>
        </p:nvSpPr>
        <p:spPr>
          <a:xfrm>
            <a:off x="533400" y="2324100"/>
            <a:ext cx="11125200" cy="10363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2667000"/>
            <a:ext cx="4114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142F35"/>
                </a:solidFill>
                <a:latin typeface="DejaVu Sans"/>
              </a:defRPr>
            </a:pPr>
            <a:r>
              <a:t>Explore many briefs</a:t>
            </a:r>
          </a:p>
        </p:txBody>
      </p:sp>
      <p:cxnSp>
        <p:nvCxnSpPr>
          <p:cNvPr id="16" name="Connector 15"/>
          <p:cNvCxnSpPr/>
          <p:nvPr/>
        </p:nvCxnSpPr>
        <p:spPr>
          <a:xfrm>
            <a:off x="4953000" y="2834640"/>
            <a:ext cx="8382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680763" y="283464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680763" y="276693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0" y="2529840"/>
            <a:ext cx="2590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007F7C"/>
                </a:solidFill>
                <a:latin typeface="DejaVu Sans"/>
              </a:defRPr>
            </a:pPr>
            <a:r>
              <a:t>Diffusion</a:t>
            </a:r>
          </a:p>
        </p:txBody>
      </p:sp>
      <p:sp>
        <p:nvSpPr>
          <p:cNvPr id="20" name="TextBox 19"/>
          <p:cNvSpPr txBox="1"/>
          <p:nvPr/>
        </p:nvSpPr>
        <p:spPr>
          <a:xfrm>
            <a:off x="8839200" y="2651760"/>
            <a:ext cx="25146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Iterative sampling</a:t>
            </a:r>
          </a:p>
        </p:txBody>
      </p:sp>
      <p:sp>
        <p:nvSpPr>
          <p:cNvPr id="21" name="Rounded Rectangle 20"/>
          <p:cNvSpPr/>
          <p:nvPr/>
        </p:nvSpPr>
        <p:spPr>
          <a:xfrm>
            <a:off x="533400" y="3520440"/>
            <a:ext cx="11125200" cy="10363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 y="3863339"/>
            <a:ext cx="4114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142F35"/>
                </a:solidFill>
                <a:latin typeface="DejaVu Sans"/>
              </a:defRPr>
            </a:pPr>
            <a:r>
              <a:t>Produce at volume</a:t>
            </a:r>
          </a:p>
        </p:txBody>
      </p:sp>
      <p:cxnSp>
        <p:nvCxnSpPr>
          <p:cNvPr id="23" name="Connector 22"/>
          <p:cNvCxnSpPr/>
          <p:nvPr/>
        </p:nvCxnSpPr>
        <p:spPr>
          <a:xfrm>
            <a:off x="4953000" y="4030980"/>
            <a:ext cx="8382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680763" y="403098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5680763" y="396327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96000" y="3726180"/>
            <a:ext cx="2590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007F7C"/>
                </a:solidFill>
                <a:latin typeface="DejaVu Sans"/>
              </a:defRPr>
            </a:pPr>
            <a:r>
              <a:t>GAN</a:t>
            </a:r>
          </a:p>
        </p:txBody>
      </p:sp>
      <p:sp>
        <p:nvSpPr>
          <p:cNvPr id="27" name="TextBox 26"/>
          <p:cNvSpPr txBox="1"/>
          <p:nvPr/>
        </p:nvSpPr>
        <p:spPr>
          <a:xfrm>
            <a:off x="8839200" y="3848099"/>
            <a:ext cx="25146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Training stability</a:t>
            </a:r>
          </a:p>
        </p:txBody>
      </p:sp>
      <p:sp>
        <p:nvSpPr>
          <p:cNvPr id="28" name="Rounded Rectangle 27"/>
          <p:cNvSpPr/>
          <p:nvPr/>
        </p:nvSpPr>
        <p:spPr>
          <a:xfrm>
            <a:off x="533400" y="4716780"/>
            <a:ext cx="11125200" cy="10363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0100" y="5059680"/>
            <a:ext cx="4114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142F35"/>
                </a:solidFill>
                <a:latin typeface="DejaVu Sans"/>
              </a:defRPr>
            </a:pPr>
            <a:r>
              <a:t>Reduce working size</a:t>
            </a:r>
          </a:p>
        </p:txBody>
      </p:sp>
      <p:cxnSp>
        <p:nvCxnSpPr>
          <p:cNvPr id="30" name="Connector 29"/>
          <p:cNvCxnSpPr/>
          <p:nvPr/>
        </p:nvCxnSpPr>
        <p:spPr>
          <a:xfrm>
            <a:off x="4953000" y="5227320"/>
            <a:ext cx="83820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5680763" y="522732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5680763" y="515961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0" y="4922520"/>
            <a:ext cx="2590800" cy="395554"/>
          </a:xfrm>
          <a:prstGeom prst="rect">
            <a:avLst/>
          </a:prstGeom>
          <a:noFill/>
        </p:spPr>
        <p:txBody>
          <a:bodyPr wrap="none" lIns="0" rIns="0" tIns="0" bIns="0">
            <a:spAutoFit/>
          </a:bodyPr>
          <a:lstStyle/>
          <a:p>
            <a:pPr>
              <a:lnSpc>
                <a:spcPts val="2514"/>
              </a:lnSpc>
              <a:spcBef>
                <a:spcPts val="0"/>
              </a:spcBef>
              <a:spcAft>
                <a:spcPts val="0"/>
              </a:spcAft>
              <a:defRPr sz="1980" b="1">
                <a:solidFill>
                  <a:srgbClr val="007F7C"/>
                </a:solidFill>
                <a:latin typeface="DejaVu Sans"/>
              </a:defRPr>
            </a:pPr>
            <a:r>
              <a:t>Latent diffusion</a:t>
            </a:r>
          </a:p>
        </p:txBody>
      </p:sp>
      <p:sp>
        <p:nvSpPr>
          <p:cNvPr id="34" name="TextBox 33"/>
          <p:cNvSpPr txBox="1"/>
          <p:nvPr/>
        </p:nvSpPr>
        <p:spPr>
          <a:xfrm>
            <a:off x="8839200" y="5044440"/>
            <a:ext cx="2514600" cy="308457"/>
          </a:xfrm>
          <a:prstGeom prst="rect">
            <a:avLst/>
          </a:prstGeom>
          <a:noFill/>
        </p:spPr>
        <p:txBody>
          <a:bodyPr wrap="none" lIns="0" rIns="0" tIns="0" bIns="0">
            <a:spAutoFit/>
          </a:bodyPr>
          <a:lstStyle/>
          <a:p>
            <a:pPr>
              <a:lnSpc>
                <a:spcPts val="1828"/>
              </a:lnSpc>
              <a:spcBef>
                <a:spcPts val="0"/>
              </a:spcBef>
              <a:spcAft>
                <a:spcPts val="0"/>
              </a:spcAft>
              <a:defRPr sz="1439" b="0">
                <a:solidFill>
                  <a:srgbClr val="53696A"/>
                </a:solidFill>
                <a:latin typeface="DejaVu Sans"/>
              </a:defRPr>
            </a:pPr>
            <a:r>
              <a:t>Compression loss</a:t>
            </a:r>
          </a:p>
        </p:txBody>
      </p:sp>
      <p:cxnSp>
        <p:nvCxnSpPr>
          <p:cNvPr id="35" name="Connector 34"/>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5–7; lesson synthesis</a:t>
            </a:r>
          </a:p>
        </p:txBody>
      </p:sp>
      <p:sp>
        <p:nvSpPr>
          <p:cNvPr id="37" name="TextBox 36"/>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04 Model choices · HL</a:t>
            </a:r>
          </a:p>
        </p:txBody>
      </p:sp>
      <p:sp>
        <p:nvSpPr>
          <p:cNvPr id="10" name="TextBox 9"/>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05 Your recommendation</a:t>
            </a:r>
          </a:p>
        </p:txBody>
      </p:sp>
      <p:sp>
        <p:nvSpPr>
          <p:cNvPr id="11" name="Rectangle 10"/>
          <p:cNvSpPr/>
          <p:nvPr/>
        </p:nvSpPr>
        <p:spPr>
          <a:xfrm>
            <a:off x="945642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05 / Return to the client</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Same bottle. Same brief. Now make a defensible recommendation.</a:t>
            </a:r>
          </a:p>
        </p:txBody>
      </p:sp>
      <p:pic>
        <p:nvPicPr>
          <p:cNvPr id="14" name="Picture 13" descr="campaign-ai.png"/>
          <p:cNvPicPr>
            <a:picLocks noChangeAspect="1"/>
          </p:cNvPicPr>
          <p:nvPr/>
        </p:nvPicPr>
        <p:blipFill>
          <a:blip r:embed="rId2"/>
          <a:stretch>
            <a:fillRect/>
          </a:stretch>
        </p:blipFill>
        <p:spPr>
          <a:xfrm>
            <a:off x="533400" y="2576781"/>
            <a:ext cx="4572000" cy="2573117"/>
          </a:xfrm>
          <a:prstGeom prst="rect">
            <a:avLst/>
          </a:prstGeom>
        </p:spPr>
      </p:pic>
      <p:sp>
        <p:nvSpPr>
          <p:cNvPr id="15" name="TextBox 14"/>
          <p:cNvSpPr txBox="1"/>
          <p:nvPr/>
        </p:nvSpPr>
        <p:spPr>
          <a:xfrm>
            <a:off x="632460" y="5364480"/>
            <a:ext cx="44196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7AE0C5"/>
                </a:solidFill>
                <a:latin typeface="DejaVu Sans"/>
              </a:defRPr>
            </a:pPr>
            <a:r>
              <a:t>VISIONARY STUDIOS</a:t>
            </a:r>
          </a:p>
        </p:txBody>
      </p:sp>
      <p:sp>
        <p:nvSpPr>
          <p:cNvPr id="16" name="TextBox 15"/>
          <p:cNvSpPr txBox="1"/>
          <p:nvPr/>
        </p:nvSpPr>
        <p:spPr>
          <a:xfrm>
            <a:off x="5943600" y="2682240"/>
            <a:ext cx="5334000" cy="453618"/>
          </a:xfrm>
          <a:prstGeom prst="rect">
            <a:avLst/>
          </a:prstGeom>
          <a:noFill/>
        </p:spPr>
        <p:txBody>
          <a:bodyPr wrap="none" lIns="0" rIns="0" tIns="0" bIns="0">
            <a:spAutoFit/>
          </a:bodyPr>
          <a:lstStyle/>
          <a:p>
            <a:pPr>
              <a:lnSpc>
                <a:spcPts val="2971"/>
              </a:lnSpc>
              <a:spcBef>
                <a:spcPts val="0"/>
              </a:spcBef>
              <a:spcAft>
                <a:spcPts val="0"/>
              </a:spcAft>
              <a:defRPr sz="2340" b="1">
                <a:solidFill>
                  <a:srgbClr val="F5F2EA"/>
                </a:solidFill>
                <a:latin typeface="DejaVu Sans"/>
              </a:defRPr>
            </a:pPr>
            <a:r>
              <a:t>Compare the trade-offs</a:t>
            </a:r>
          </a:p>
        </p:txBody>
      </p:sp>
      <p:cxnSp>
        <p:nvCxnSpPr>
          <p:cNvPr id="17" name="Connector 16"/>
          <p:cNvCxnSpPr/>
          <p:nvPr/>
        </p:nvCxnSpPr>
        <p:spPr>
          <a:xfrm>
            <a:off x="6301740" y="3771900"/>
            <a:ext cx="0" cy="563880"/>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234031" y="4225343"/>
            <a:ext cx="67709"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301740" y="4225343"/>
            <a:ext cx="67708" cy="110437"/>
          </a:xfrm>
          <a:prstGeom prst="line">
            <a:avLst/>
          </a:prstGeom>
          <a:ln w="38100">
            <a:solidFill>
              <a:srgbClr val="D56A3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0" y="4632960"/>
            <a:ext cx="5334000" cy="492328"/>
          </a:xfrm>
          <a:prstGeom prst="rect">
            <a:avLst/>
          </a:prstGeom>
          <a:noFill/>
        </p:spPr>
        <p:txBody>
          <a:bodyPr wrap="none" lIns="0" rIns="0" tIns="0" bIns="0">
            <a:spAutoFit/>
          </a:bodyPr>
          <a:lstStyle/>
          <a:p>
            <a:pPr>
              <a:lnSpc>
                <a:spcPts val="3276"/>
              </a:lnSpc>
              <a:spcBef>
                <a:spcPts val="0"/>
              </a:spcBef>
              <a:spcAft>
                <a:spcPts val="0"/>
              </a:spcAft>
              <a:defRPr sz="2580" b="1">
                <a:solidFill>
                  <a:srgbClr val="7AE0C5"/>
                </a:solidFill>
                <a:latin typeface="DejaVu Sans"/>
              </a:defRPr>
            </a:pPr>
            <a:r>
              <a:t>Choose a pilot</a:t>
            </a:r>
          </a:p>
        </p:txBody>
      </p:sp>
      <p:cxnSp>
        <p:nvCxnSpPr>
          <p:cNvPr id="21" name="Connector 20"/>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case study · Visionary Studios · original teaching framework</a:t>
            </a:r>
          </a:p>
        </p:txBody>
      </p:sp>
      <p:sp>
        <p:nvSpPr>
          <p:cNvPr id="23" name="TextBox 2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0" name="TextBox 9"/>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05 Your recommendation</a:t>
            </a:r>
          </a:p>
        </p:txBody>
      </p:sp>
      <p:sp>
        <p:nvSpPr>
          <p:cNvPr id="11" name="Rectangle 10"/>
          <p:cNvSpPr/>
          <p:nvPr/>
        </p:nvSpPr>
        <p:spPr>
          <a:xfrm>
            <a:off x="945642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Your studio has a deadline. Choose a pilot.</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Fictional evaluation data for discussion.</a:t>
            </a:r>
          </a:p>
        </p:txBody>
      </p:sp>
      <p:sp>
        <p:nvSpPr>
          <p:cNvPr id="14" name="Rounded Rectangle 13"/>
          <p:cNvSpPr/>
          <p:nvPr/>
        </p:nvSpPr>
        <p:spPr>
          <a:xfrm>
            <a:off x="533400" y="2407920"/>
            <a:ext cx="3581400" cy="2819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262128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A</a:t>
            </a:r>
          </a:p>
        </p:txBody>
      </p:sp>
      <p:sp>
        <p:nvSpPr>
          <p:cNvPr id="16" name="TextBox 15"/>
          <p:cNvSpPr txBox="1"/>
          <p:nvPr/>
        </p:nvSpPr>
        <p:spPr>
          <a:xfrm>
            <a:off x="777240" y="3131820"/>
            <a:ext cx="3048000" cy="753618"/>
          </a:xfrm>
          <a:prstGeom prst="rect">
            <a:avLst/>
          </a:prstGeom>
          <a:noFill/>
        </p:spPr>
        <p:txBody>
          <a:bodyPr wrap="none" lIns="0" rIns="0" tIns="0" bIns="0">
            <a:spAutoFit/>
          </a:bodyPr>
          <a:lstStyle/>
          <a:p>
            <a:pPr>
              <a:lnSpc>
                <a:spcPts val="5334"/>
              </a:lnSpc>
              <a:spcBef>
                <a:spcPts val="0"/>
              </a:spcBef>
              <a:spcAft>
                <a:spcPts val="0"/>
              </a:spcAft>
              <a:defRPr sz="4200" b="1">
                <a:solidFill>
                  <a:srgbClr val="007F7C"/>
                </a:solidFill>
                <a:latin typeface="DejaVu Sans"/>
              </a:defRPr>
            </a:pPr>
            <a:r>
              <a:t>2 s</a:t>
            </a:r>
          </a:p>
        </p:txBody>
      </p:sp>
      <p:sp>
        <p:nvSpPr>
          <p:cNvPr id="17" name="TextBox 16"/>
          <p:cNvSpPr txBox="1"/>
          <p:nvPr/>
        </p:nvSpPr>
        <p:spPr>
          <a:xfrm>
            <a:off x="777240" y="3840480"/>
            <a:ext cx="30480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per generated image</a:t>
            </a:r>
          </a:p>
        </p:txBody>
      </p:sp>
      <p:sp>
        <p:nvSpPr>
          <p:cNvPr id="18" name="TextBox 17"/>
          <p:cNvSpPr txBox="1"/>
          <p:nvPr/>
        </p:nvSpPr>
        <p:spPr>
          <a:xfrm>
            <a:off x="777240" y="4396740"/>
            <a:ext cx="30480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25% accepted</a:t>
            </a:r>
          </a:p>
        </p:txBody>
      </p:sp>
      <p:sp>
        <p:nvSpPr>
          <p:cNvPr id="19" name="Rounded Rectangle 18"/>
          <p:cNvSpPr/>
          <p:nvPr/>
        </p:nvSpPr>
        <p:spPr>
          <a:xfrm>
            <a:off x="4305300" y="2407920"/>
            <a:ext cx="3581400" cy="2819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8660" y="262128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B</a:t>
            </a:r>
          </a:p>
        </p:txBody>
      </p:sp>
      <p:sp>
        <p:nvSpPr>
          <p:cNvPr id="21" name="TextBox 20"/>
          <p:cNvSpPr txBox="1"/>
          <p:nvPr/>
        </p:nvSpPr>
        <p:spPr>
          <a:xfrm>
            <a:off x="4549140" y="3131820"/>
            <a:ext cx="3048000" cy="753618"/>
          </a:xfrm>
          <a:prstGeom prst="rect">
            <a:avLst/>
          </a:prstGeom>
          <a:noFill/>
        </p:spPr>
        <p:txBody>
          <a:bodyPr wrap="none" lIns="0" rIns="0" tIns="0" bIns="0">
            <a:spAutoFit/>
          </a:bodyPr>
          <a:lstStyle/>
          <a:p>
            <a:pPr>
              <a:lnSpc>
                <a:spcPts val="5334"/>
              </a:lnSpc>
              <a:spcBef>
                <a:spcPts val="0"/>
              </a:spcBef>
              <a:spcAft>
                <a:spcPts val="0"/>
              </a:spcAft>
              <a:defRPr sz="4200" b="1">
                <a:solidFill>
                  <a:srgbClr val="007F7C"/>
                </a:solidFill>
                <a:latin typeface="DejaVu Sans"/>
              </a:defRPr>
            </a:pPr>
            <a:r>
              <a:t>5 s</a:t>
            </a:r>
          </a:p>
        </p:txBody>
      </p:sp>
      <p:sp>
        <p:nvSpPr>
          <p:cNvPr id="22" name="TextBox 21"/>
          <p:cNvSpPr txBox="1"/>
          <p:nvPr/>
        </p:nvSpPr>
        <p:spPr>
          <a:xfrm>
            <a:off x="4549140" y="3840480"/>
            <a:ext cx="30480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per generated image</a:t>
            </a:r>
          </a:p>
        </p:txBody>
      </p:sp>
      <p:sp>
        <p:nvSpPr>
          <p:cNvPr id="23" name="TextBox 22"/>
          <p:cNvSpPr txBox="1"/>
          <p:nvPr/>
        </p:nvSpPr>
        <p:spPr>
          <a:xfrm>
            <a:off x="4549140" y="4396740"/>
            <a:ext cx="30480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75% accepted</a:t>
            </a:r>
          </a:p>
        </p:txBody>
      </p:sp>
      <p:sp>
        <p:nvSpPr>
          <p:cNvPr id="24" name="Rounded Rectangle 23"/>
          <p:cNvSpPr/>
          <p:nvPr/>
        </p:nvSpPr>
        <p:spPr>
          <a:xfrm>
            <a:off x="8077200" y="2407920"/>
            <a:ext cx="3581400" cy="2819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90560" y="2621280"/>
            <a:ext cx="3154680" cy="405231"/>
          </a:xfrm>
          <a:prstGeom prst="rect">
            <a:avLst/>
          </a:prstGeom>
          <a:noFill/>
        </p:spPr>
        <p:txBody>
          <a:bodyPr wrap="none" lIns="0" rIns="0" tIns="0" bIns="0">
            <a:spAutoFit/>
          </a:bodyPr>
          <a:lstStyle/>
          <a:p>
            <a:pPr>
              <a:lnSpc>
                <a:spcPts val="2590"/>
              </a:lnSpc>
              <a:spcBef>
                <a:spcPts val="0"/>
              </a:spcBef>
              <a:spcAft>
                <a:spcPts val="0"/>
              </a:spcAft>
              <a:defRPr sz="2039" b="1">
                <a:solidFill>
                  <a:srgbClr val="142F35"/>
                </a:solidFill>
                <a:latin typeface="DejaVu Sans"/>
              </a:defRPr>
            </a:pPr>
            <a:r>
              <a:t>C</a:t>
            </a:r>
          </a:p>
        </p:txBody>
      </p:sp>
      <p:sp>
        <p:nvSpPr>
          <p:cNvPr id="26" name="TextBox 25"/>
          <p:cNvSpPr txBox="1"/>
          <p:nvPr/>
        </p:nvSpPr>
        <p:spPr>
          <a:xfrm>
            <a:off x="8321040" y="3131820"/>
            <a:ext cx="3048000" cy="753618"/>
          </a:xfrm>
          <a:prstGeom prst="rect">
            <a:avLst/>
          </a:prstGeom>
          <a:noFill/>
        </p:spPr>
        <p:txBody>
          <a:bodyPr wrap="none" lIns="0" rIns="0" tIns="0" bIns="0">
            <a:spAutoFit/>
          </a:bodyPr>
          <a:lstStyle/>
          <a:p>
            <a:pPr>
              <a:lnSpc>
                <a:spcPts val="5334"/>
              </a:lnSpc>
              <a:spcBef>
                <a:spcPts val="0"/>
              </a:spcBef>
              <a:spcAft>
                <a:spcPts val="0"/>
              </a:spcAft>
              <a:defRPr sz="4200" b="1">
                <a:solidFill>
                  <a:srgbClr val="007F7C"/>
                </a:solidFill>
                <a:latin typeface="DejaVu Sans"/>
              </a:defRPr>
            </a:pPr>
            <a:r>
              <a:t>8 s</a:t>
            </a:r>
          </a:p>
        </p:txBody>
      </p:sp>
      <p:sp>
        <p:nvSpPr>
          <p:cNvPr id="27" name="TextBox 26"/>
          <p:cNvSpPr txBox="1"/>
          <p:nvPr/>
        </p:nvSpPr>
        <p:spPr>
          <a:xfrm>
            <a:off x="8321040" y="3840480"/>
            <a:ext cx="3048000" cy="318135"/>
          </a:xfrm>
          <a:prstGeom prst="rect">
            <a:avLst/>
          </a:prstGeom>
          <a:noFill/>
        </p:spPr>
        <p:txBody>
          <a:bodyPr wrap="none" lIns="0" rIns="0" tIns="0" bIns="0">
            <a:spAutoFit/>
          </a:bodyPr>
          <a:lstStyle/>
          <a:p>
            <a:pPr>
              <a:lnSpc>
                <a:spcPts val="1905"/>
              </a:lnSpc>
              <a:spcBef>
                <a:spcPts val="0"/>
              </a:spcBef>
              <a:spcAft>
                <a:spcPts val="0"/>
              </a:spcAft>
              <a:defRPr sz="1500" b="0">
                <a:solidFill>
                  <a:srgbClr val="53696A"/>
                </a:solidFill>
                <a:latin typeface="DejaVu Sans"/>
              </a:defRPr>
            </a:pPr>
            <a:r>
              <a:t>per generated image</a:t>
            </a:r>
          </a:p>
        </p:txBody>
      </p:sp>
      <p:sp>
        <p:nvSpPr>
          <p:cNvPr id="28" name="TextBox 27"/>
          <p:cNvSpPr txBox="1"/>
          <p:nvPr/>
        </p:nvSpPr>
        <p:spPr>
          <a:xfrm>
            <a:off x="8321040" y="4396740"/>
            <a:ext cx="30480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90% accepted</a:t>
            </a:r>
          </a:p>
        </p:txBody>
      </p:sp>
      <p:sp>
        <p:nvSpPr>
          <p:cNvPr id="29" name="TextBox 28"/>
          <p:cNvSpPr txBox="1"/>
          <p:nvPr/>
        </p:nvSpPr>
        <p:spPr>
          <a:xfrm>
            <a:off x="594360" y="5600700"/>
            <a:ext cx="10972800" cy="347167"/>
          </a:xfrm>
          <a:prstGeom prst="rect">
            <a:avLst/>
          </a:prstGeom>
          <a:noFill/>
        </p:spPr>
        <p:txBody>
          <a:bodyPr wrap="none" lIns="0" rIns="0" tIns="0" bIns="0">
            <a:spAutoFit/>
          </a:bodyPr>
          <a:lstStyle/>
          <a:p>
            <a:pPr>
              <a:lnSpc>
                <a:spcPts val="2133"/>
              </a:lnSpc>
              <a:spcBef>
                <a:spcPts val="0"/>
              </a:spcBef>
              <a:spcAft>
                <a:spcPts val="0"/>
              </a:spcAft>
              <a:defRPr sz="1680" b="1">
                <a:solidFill>
                  <a:srgbClr val="007F7C"/>
                </a:solidFill>
                <a:latin typeface="DejaVu Sans"/>
              </a:defRPr>
            </a:pPr>
            <a:r>
              <a:t>Generation time per accepted asset ≈ seconds per image ÷ acceptance rate</a:t>
            </a:r>
          </a:p>
        </p:txBody>
      </p:sp>
      <p:sp>
        <p:nvSpPr>
          <p:cNvPr id="30" name="TextBox 29"/>
          <p:cNvSpPr txBox="1"/>
          <p:nvPr/>
        </p:nvSpPr>
        <p:spPr>
          <a:xfrm>
            <a:off x="594360" y="5974080"/>
            <a:ext cx="10972800" cy="289102"/>
          </a:xfrm>
          <a:prstGeom prst="rect">
            <a:avLst/>
          </a:prstGeom>
          <a:noFill/>
        </p:spPr>
        <p:txBody>
          <a:bodyPr wrap="none" lIns="0" rIns="0" tIns="0" bIns="0">
            <a:spAutoFit/>
          </a:bodyPr>
          <a:lstStyle/>
          <a:p>
            <a:pPr>
              <a:lnSpc>
                <a:spcPts val="1676"/>
              </a:lnSpc>
              <a:spcBef>
                <a:spcPts val="0"/>
              </a:spcBef>
              <a:spcAft>
                <a:spcPts val="0"/>
              </a:spcAft>
              <a:defRPr sz="1320" b="0">
                <a:solidFill>
                  <a:srgbClr val="53696A"/>
                </a:solidFill>
                <a:latin typeface="DejaVu Sans"/>
              </a:defRPr>
            </a:pPr>
            <a:r>
              <a:t>Missing: review time, price, rights, consistency and uncertainty in the estimates.</a:t>
            </a:r>
          </a:p>
        </p:txBody>
      </p:sp>
      <p:cxnSp>
        <p:nvCxnSpPr>
          <p:cNvPr id="31" name="Connector 30"/>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Lesson exercise: invented data, not model benchmark</a:t>
            </a:r>
          </a:p>
        </p:txBody>
      </p:sp>
      <p:sp>
        <p:nvSpPr>
          <p:cNvPr id="33" name="TextBox 32"/>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0" name="TextBox 9"/>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05 Your recommendation</a:t>
            </a:r>
          </a:p>
        </p:txBody>
      </p:sp>
      <p:sp>
        <p:nvSpPr>
          <p:cNvPr id="11" name="Rectangle 10"/>
          <p:cNvSpPr/>
          <p:nvPr/>
        </p:nvSpPr>
        <p:spPr>
          <a:xfrm>
            <a:off x="945642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Build an explanation</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Mechanism → consequence → decision</a:t>
            </a:r>
          </a:p>
        </p:txBody>
      </p:sp>
      <p:sp>
        <p:nvSpPr>
          <p:cNvPr id="14" name="Rounded Rectangle 13"/>
          <p:cNvSpPr/>
          <p:nvPr/>
        </p:nvSpPr>
        <p:spPr>
          <a:xfrm>
            <a:off x="533400" y="2400300"/>
            <a:ext cx="3581400" cy="2971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1158240" y="2907030"/>
            <a:ext cx="1066800" cy="17716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58240" y="3084195"/>
            <a:ext cx="1066800" cy="2952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8240" y="3084195"/>
            <a:ext cx="1066800" cy="76771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58240" y="2907030"/>
            <a:ext cx="1066800" cy="76771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58240" y="3379470"/>
            <a:ext cx="1066800" cy="2952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8240" y="3674745"/>
            <a:ext cx="1066800" cy="17716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225040" y="2907030"/>
            <a:ext cx="1066800" cy="17716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225040" y="2907030"/>
            <a:ext cx="1066800" cy="76771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225040" y="3084195"/>
            <a:ext cx="1066800" cy="2952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225040" y="3379470"/>
            <a:ext cx="1066800" cy="29527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225040" y="3084195"/>
            <a:ext cx="1066800" cy="76771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225040" y="3674745"/>
            <a:ext cx="1066800" cy="177165"/>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66800" y="299275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66800" y="358330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33600" y="281559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33600" y="328803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133600" y="376047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200400" y="299275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200400" y="3583305"/>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3900" y="44196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More steps</a:t>
            </a:r>
          </a:p>
        </p:txBody>
      </p:sp>
      <p:sp>
        <p:nvSpPr>
          <p:cNvPr id="35" name="TextBox 34"/>
          <p:cNvSpPr txBox="1"/>
          <p:nvPr/>
        </p:nvSpPr>
        <p:spPr>
          <a:xfrm>
            <a:off x="723900" y="4869180"/>
            <a:ext cx="3200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Repeated network calls</a:t>
            </a:r>
          </a:p>
        </p:txBody>
      </p:sp>
      <p:cxnSp>
        <p:nvCxnSpPr>
          <p:cNvPr id="36" name="Connector 35"/>
          <p:cNvCxnSpPr/>
          <p:nvPr/>
        </p:nvCxnSpPr>
        <p:spPr>
          <a:xfrm>
            <a:off x="4168140" y="3657600"/>
            <a:ext cx="99060"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156763" y="3657600"/>
            <a:ext cx="110437"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4156763" y="3589891"/>
            <a:ext cx="110437"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305300" y="2400300"/>
            <a:ext cx="3581400" cy="2971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94020" y="2743200"/>
            <a:ext cx="1203960" cy="1203960"/>
          </a:xfrm>
          <a:prstGeom prst="ellipse">
            <a:avLst/>
          </a:prstGeom>
          <a:solidFill>
            <a:srgbClr val="E3E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flipV="1">
            <a:off x="6096000" y="2903220"/>
            <a:ext cx="0" cy="441960"/>
          </a:xfrm>
          <a:prstGeom prst="line">
            <a:avLst/>
          </a:prstGeom>
          <a:ln w="5334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096000" y="3345180"/>
            <a:ext cx="327660" cy="205740"/>
          </a:xfrm>
          <a:prstGeom prst="line">
            <a:avLst/>
          </a:prstGeom>
          <a:ln w="53340">
            <a:solidFill>
              <a:srgbClr val="007F7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495800" y="44196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More waiting</a:t>
            </a:r>
          </a:p>
        </p:txBody>
      </p:sp>
      <p:sp>
        <p:nvSpPr>
          <p:cNvPr id="44" name="TextBox 43"/>
          <p:cNvSpPr txBox="1"/>
          <p:nvPr/>
        </p:nvSpPr>
        <p:spPr>
          <a:xfrm>
            <a:off x="4495800" y="4869180"/>
            <a:ext cx="3200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Production delay</a:t>
            </a:r>
          </a:p>
        </p:txBody>
      </p:sp>
      <p:cxnSp>
        <p:nvCxnSpPr>
          <p:cNvPr id="45" name="Connector 44"/>
          <p:cNvCxnSpPr/>
          <p:nvPr/>
        </p:nvCxnSpPr>
        <p:spPr>
          <a:xfrm>
            <a:off x="7940040" y="3657600"/>
            <a:ext cx="99059" cy="0"/>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7928663" y="3657600"/>
            <a:ext cx="110436" cy="67708"/>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928663" y="3589891"/>
            <a:ext cx="110436" cy="67709"/>
          </a:xfrm>
          <a:prstGeom prst="line">
            <a:avLst/>
          </a:prstGeom>
          <a:ln w="30480">
            <a:solidFill>
              <a:srgbClr val="007F7C"/>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077200" y="2400300"/>
            <a:ext cx="3581400" cy="29718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ampaign-ai.png"/>
          <p:cNvPicPr>
            <a:picLocks noChangeAspect="1"/>
          </p:cNvPicPr>
          <p:nvPr/>
        </p:nvPicPr>
        <p:blipFill>
          <a:blip r:embed="rId2"/>
          <a:stretch>
            <a:fillRect/>
          </a:stretch>
        </p:blipFill>
        <p:spPr>
          <a:xfrm>
            <a:off x="8534400" y="2766137"/>
            <a:ext cx="2667000" cy="1500985"/>
          </a:xfrm>
          <a:prstGeom prst="rect">
            <a:avLst/>
          </a:prstGeom>
        </p:spPr>
      </p:pic>
      <p:cxnSp>
        <p:nvCxnSpPr>
          <p:cNvPr id="50" name="Connector 49"/>
          <p:cNvCxnSpPr/>
          <p:nvPr/>
        </p:nvCxnSpPr>
        <p:spPr>
          <a:xfrm>
            <a:off x="10660380" y="4122420"/>
            <a:ext cx="76200" cy="9144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736580" y="4030980"/>
            <a:ext cx="182880" cy="182880"/>
          </a:xfrm>
          <a:prstGeom prst="line">
            <a:avLst/>
          </a:prstGeom>
          <a:ln w="38100">
            <a:solidFill>
              <a:srgbClr val="007F7C"/>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267699" y="4419600"/>
            <a:ext cx="3200400" cy="356844"/>
          </a:xfrm>
          <a:prstGeom prst="rect">
            <a:avLst/>
          </a:prstGeom>
          <a:noFill/>
        </p:spPr>
        <p:txBody>
          <a:bodyPr wrap="none" lIns="0" rIns="0" tIns="0" bIns="0">
            <a:spAutoFit/>
          </a:bodyPr>
          <a:lstStyle/>
          <a:p>
            <a:pPr>
              <a:lnSpc>
                <a:spcPts val="2209"/>
              </a:lnSpc>
              <a:spcBef>
                <a:spcPts val="0"/>
              </a:spcBef>
              <a:spcAft>
                <a:spcPts val="0"/>
              </a:spcAft>
              <a:defRPr sz="1739" b="1">
                <a:solidFill>
                  <a:srgbClr val="142F35"/>
                </a:solidFill>
                <a:latin typeface="DejaVu Sans"/>
              </a:defRPr>
            </a:pPr>
            <a:r>
              <a:t>Test fewer steps</a:t>
            </a:r>
          </a:p>
        </p:txBody>
      </p:sp>
      <p:sp>
        <p:nvSpPr>
          <p:cNvPr id="53" name="TextBox 52"/>
          <p:cNvSpPr txBox="1"/>
          <p:nvPr/>
        </p:nvSpPr>
        <p:spPr>
          <a:xfrm>
            <a:off x="8267699" y="4869180"/>
            <a:ext cx="3200400" cy="298780"/>
          </a:xfrm>
          <a:prstGeom prst="rect">
            <a:avLst/>
          </a:prstGeom>
          <a:noFill/>
        </p:spPr>
        <p:txBody>
          <a:bodyPr wrap="none" lIns="0" rIns="0" tIns="0" bIns="0">
            <a:spAutoFit/>
          </a:bodyPr>
          <a:lstStyle/>
          <a:p>
            <a:pPr>
              <a:lnSpc>
                <a:spcPts val="1752"/>
              </a:lnSpc>
              <a:spcBef>
                <a:spcPts val="0"/>
              </a:spcBef>
              <a:spcAft>
                <a:spcPts val="0"/>
              </a:spcAft>
              <a:defRPr sz="1380" b="0">
                <a:solidFill>
                  <a:srgbClr val="53696A"/>
                </a:solidFill>
                <a:latin typeface="DejaVu Sans"/>
              </a:defRPr>
            </a:pPr>
            <a:r>
              <a:t>Check quality again</a:t>
            </a:r>
          </a:p>
        </p:txBody>
      </p:sp>
      <p:sp>
        <p:nvSpPr>
          <p:cNvPr id="54" name="TextBox 53"/>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007F7C"/>
                </a:solidFill>
                <a:latin typeface="DejaVu Sans"/>
              </a:defRPr>
            </a:pPr>
            <a:r>
              <a:t>Claim → mechanism → consequence → trade-off</a:t>
            </a:r>
          </a:p>
        </p:txBody>
      </p:sp>
      <p:cxnSp>
        <p:nvCxnSpPr>
          <p:cNvPr id="55" name="Connector 54"/>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IB pp. 4, 6–7; original practice guidance</a:t>
            </a:r>
          </a:p>
        </p:txBody>
      </p:sp>
      <p:sp>
        <p:nvSpPr>
          <p:cNvPr id="57" name="TextBox 56"/>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SL + HL</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04 Model choices · HL</a:t>
            </a:r>
          </a:p>
        </p:txBody>
      </p:sp>
      <p:sp>
        <p:nvSpPr>
          <p:cNvPr id="10" name="TextBox 9"/>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007F7C"/>
                </a:solidFill>
                <a:latin typeface="DejaVu Sans"/>
              </a:defRPr>
            </a:pPr>
            <a:r>
              <a:t>05 Your recommendation</a:t>
            </a:r>
          </a:p>
        </p:txBody>
      </p:sp>
      <p:sp>
        <p:nvSpPr>
          <p:cNvPr id="11" name="Rectangle 10"/>
          <p:cNvSpPr/>
          <p:nvPr/>
        </p:nvSpPr>
        <p:spPr>
          <a:xfrm>
            <a:off x="945642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Your turn: advise the studio</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A recommendation that can be tested</a:t>
            </a:r>
          </a:p>
        </p:txBody>
      </p:sp>
      <p:pic>
        <p:nvPicPr>
          <p:cNvPr id="14" name="Picture 13" descr="campaign-ai.png"/>
          <p:cNvPicPr>
            <a:picLocks noChangeAspect="1"/>
          </p:cNvPicPr>
          <p:nvPr/>
        </p:nvPicPr>
        <p:blipFill>
          <a:blip r:embed="rId2"/>
          <a:stretch>
            <a:fillRect/>
          </a:stretch>
        </p:blipFill>
        <p:spPr>
          <a:xfrm>
            <a:off x="536428" y="2781300"/>
            <a:ext cx="5023142" cy="2827020"/>
          </a:xfrm>
          <a:prstGeom prst="rect">
            <a:avLst/>
          </a:prstGeom>
        </p:spPr>
      </p:pic>
      <p:sp>
        <p:nvSpPr>
          <p:cNvPr id="15" name="Rounded Rectangle 14"/>
          <p:cNvSpPr/>
          <p:nvPr/>
        </p:nvSpPr>
        <p:spPr>
          <a:xfrm>
            <a:off x="6210300" y="2286000"/>
            <a:ext cx="5448300" cy="36271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438900" y="2667000"/>
            <a:ext cx="49911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38900" y="3086100"/>
            <a:ext cx="49911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38900" y="3505200"/>
            <a:ext cx="49911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38900" y="3924300"/>
            <a:ext cx="4991100" cy="0"/>
          </a:xfrm>
          <a:prstGeom prst="line">
            <a:avLst/>
          </a:prstGeom>
          <a:ln w="30480">
            <a:solidFill>
              <a:srgbClr val="C6D3C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30340" y="2529840"/>
            <a:ext cx="47244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01 Choose a workflow</a:t>
            </a:r>
          </a:p>
        </p:txBody>
      </p:sp>
      <p:sp>
        <p:nvSpPr>
          <p:cNvPr id="21" name="TextBox 20"/>
          <p:cNvSpPr txBox="1"/>
          <p:nvPr/>
        </p:nvSpPr>
        <p:spPr>
          <a:xfrm>
            <a:off x="6530340" y="3322320"/>
            <a:ext cx="47244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02 Explain two trade-offs</a:t>
            </a:r>
          </a:p>
        </p:txBody>
      </p:sp>
      <p:sp>
        <p:nvSpPr>
          <p:cNvPr id="22" name="TextBox 21"/>
          <p:cNvSpPr txBox="1"/>
          <p:nvPr/>
        </p:nvSpPr>
        <p:spPr>
          <a:xfrm>
            <a:off x="6530340" y="4114800"/>
            <a:ext cx="47244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03 Add two safeguards</a:t>
            </a:r>
          </a:p>
        </p:txBody>
      </p:sp>
      <p:sp>
        <p:nvSpPr>
          <p:cNvPr id="23" name="TextBox 22"/>
          <p:cNvSpPr txBox="1"/>
          <p:nvPr/>
        </p:nvSpPr>
        <p:spPr>
          <a:xfrm>
            <a:off x="6530340" y="4907280"/>
            <a:ext cx="4724400" cy="385876"/>
          </a:xfrm>
          <a:prstGeom prst="rect">
            <a:avLst/>
          </a:prstGeom>
          <a:noFill/>
        </p:spPr>
        <p:txBody>
          <a:bodyPr wrap="none" lIns="0" rIns="0" tIns="0" bIns="0">
            <a:spAutoFit/>
          </a:bodyPr>
          <a:lstStyle/>
          <a:p>
            <a:pPr>
              <a:lnSpc>
                <a:spcPts val="2438"/>
              </a:lnSpc>
              <a:spcBef>
                <a:spcPts val="0"/>
              </a:spcBef>
              <a:spcAft>
                <a:spcPts val="0"/>
              </a:spcAft>
              <a:defRPr sz="1920" b="1">
                <a:solidFill>
                  <a:srgbClr val="142F35"/>
                </a:solidFill>
                <a:latin typeface="DejaVu Sans"/>
              </a:defRPr>
            </a:pPr>
            <a:r>
              <a:t>04 Design a test</a:t>
            </a:r>
          </a:p>
        </p:txBody>
      </p:sp>
      <p:cxnSp>
        <p:nvCxnSpPr>
          <p:cNvPr id="24" name="Connector 23"/>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Teacher request: consolidation activity; IB challenges</a:t>
            </a:r>
          </a:p>
        </p:txBody>
      </p:sp>
      <p:sp>
        <p:nvSpPr>
          <p:cNvPr id="26" name="TextBox 25"/>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B3CCC7"/>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7AE0C5"/>
                </a:solidFill>
                <a:latin typeface="DejaVu Sans"/>
              </a:defRPr>
            </a:pPr>
            <a:r>
              <a:t>SL + HL WRAP-UP</a:t>
            </a:r>
          </a:p>
        </p:txBody>
      </p:sp>
      <p:sp>
        <p:nvSpPr>
          <p:cNvPr id="6" name="TextBox 5"/>
          <p:cNvSpPr txBox="1"/>
          <p:nvPr/>
        </p:nvSpPr>
        <p:spPr>
          <a:xfrm>
            <a:off x="55626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01 Brief &amp; control</a:t>
            </a:r>
          </a:p>
        </p:txBody>
      </p:sp>
      <p:sp>
        <p:nvSpPr>
          <p:cNvPr id="7" name="TextBox 6"/>
          <p:cNvSpPr txBox="1"/>
          <p:nvPr/>
        </p:nvSpPr>
        <p:spPr>
          <a:xfrm>
            <a:off x="278130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02 How diffusion works</a:t>
            </a:r>
          </a:p>
        </p:txBody>
      </p:sp>
      <p:sp>
        <p:nvSpPr>
          <p:cNvPr id="8" name="TextBox 7"/>
          <p:cNvSpPr txBox="1"/>
          <p:nvPr/>
        </p:nvSpPr>
        <p:spPr>
          <a:xfrm>
            <a:off x="500634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03 Evidence &amp; trust</a:t>
            </a:r>
          </a:p>
        </p:txBody>
      </p:sp>
      <p:sp>
        <p:nvSpPr>
          <p:cNvPr id="9" name="TextBox 8"/>
          <p:cNvSpPr txBox="1"/>
          <p:nvPr/>
        </p:nvSpPr>
        <p:spPr>
          <a:xfrm>
            <a:off x="7231380" y="624840"/>
            <a:ext cx="21717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04 Model choices · HL</a:t>
            </a:r>
          </a:p>
        </p:txBody>
      </p:sp>
      <p:sp>
        <p:nvSpPr>
          <p:cNvPr id="10" name="TextBox 9"/>
          <p:cNvSpPr txBox="1"/>
          <p:nvPr/>
        </p:nvSpPr>
        <p:spPr>
          <a:xfrm>
            <a:off x="9456420" y="624840"/>
            <a:ext cx="2171700" cy="221361"/>
          </a:xfrm>
          <a:prstGeom prst="rect">
            <a:avLst/>
          </a:prstGeom>
          <a:noFill/>
        </p:spPr>
        <p:txBody>
          <a:bodyPr wrap="none" lIns="0" rIns="0" tIns="0" bIns="0">
            <a:spAutoFit/>
          </a:bodyPr>
          <a:lstStyle/>
          <a:p>
            <a:pPr>
              <a:lnSpc>
                <a:spcPts val="1143"/>
              </a:lnSpc>
              <a:spcBef>
                <a:spcPts val="0"/>
              </a:spcBef>
              <a:spcAft>
                <a:spcPts val="0"/>
              </a:spcAft>
              <a:defRPr sz="900" b="1">
                <a:solidFill>
                  <a:srgbClr val="7AE0C5"/>
                </a:solidFill>
                <a:latin typeface="DejaVu Sans"/>
              </a:defRPr>
            </a:pPr>
            <a:r>
              <a:t>05 Your recommendation</a:t>
            </a:r>
          </a:p>
        </p:txBody>
      </p:sp>
      <p:sp>
        <p:nvSpPr>
          <p:cNvPr id="11" name="Rectangle 10"/>
          <p:cNvSpPr/>
          <p:nvPr/>
        </p:nvSpPr>
        <p:spPr>
          <a:xfrm>
            <a:off x="9456420" y="807720"/>
            <a:ext cx="2057400" cy="2286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F5F2EA"/>
                </a:solidFill>
                <a:latin typeface="DejaVu Sans"/>
              </a:defRPr>
            </a:pPr>
            <a:r>
              <a:t>Defend your design</a:t>
            </a:r>
          </a:p>
        </p:txBody>
      </p:sp>
      <p:sp>
        <p:nvSpPr>
          <p:cNvPr id="13" name="TextBox 12"/>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BDD1C9"/>
                </a:solidFill>
                <a:latin typeface="DejaVu Sans"/>
              </a:defRPr>
            </a:pPr>
            <a:r>
              <a:t>Choose · test · reconsider</a:t>
            </a:r>
          </a:p>
        </p:txBody>
      </p:sp>
      <p:sp>
        <p:nvSpPr>
          <p:cNvPr id="14" name="Rounded Rectangle 13"/>
          <p:cNvSpPr/>
          <p:nvPr/>
        </p:nvSpPr>
        <p:spPr>
          <a:xfrm>
            <a:off x="533400" y="2400300"/>
            <a:ext cx="3581400" cy="279654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1257300" y="2955036"/>
            <a:ext cx="1047750" cy="19202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57300" y="3147060"/>
            <a:ext cx="1047750" cy="32004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257300" y="3147060"/>
            <a:ext cx="1047750" cy="83210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257300" y="2955036"/>
            <a:ext cx="1047750" cy="83210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57300" y="3467100"/>
            <a:ext cx="1047750" cy="32004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57300" y="3787140"/>
            <a:ext cx="1047750" cy="19202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05050" y="2955036"/>
            <a:ext cx="1047750" cy="19202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05050" y="2955036"/>
            <a:ext cx="1047750" cy="83210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305050" y="3147060"/>
            <a:ext cx="1047750" cy="32004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05050" y="3467100"/>
            <a:ext cx="1047750" cy="320040"/>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305050" y="3147060"/>
            <a:ext cx="1047750" cy="83210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305050" y="3787140"/>
            <a:ext cx="1047750" cy="192024"/>
          </a:xfrm>
          <a:prstGeom prst="line">
            <a:avLst/>
          </a:prstGeom>
          <a:ln w="15240">
            <a:solidFill>
              <a:srgbClr val="C6D3C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165860" y="305562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65860" y="369570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213610" y="2863596"/>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13610" y="3375660"/>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213610" y="3887724"/>
            <a:ext cx="182880" cy="182880"/>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261360" y="305562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261360" y="3695700"/>
            <a:ext cx="182880" cy="1828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200" y="4587240"/>
            <a:ext cx="2971800" cy="482650"/>
          </a:xfrm>
          <a:prstGeom prst="rect">
            <a:avLst/>
          </a:prstGeom>
          <a:noFill/>
        </p:spPr>
        <p:txBody>
          <a:bodyPr wrap="none" lIns="0" rIns="0" tIns="0" bIns="0">
            <a:spAutoFit/>
          </a:bodyPr>
          <a:lstStyle/>
          <a:p>
            <a:pPr>
              <a:lnSpc>
                <a:spcPts val="3200"/>
              </a:lnSpc>
              <a:spcBef>
                <a:spcPts val="0"/>
              </a:spcBef>
              <a:spcAft>
                <a:spcPts val="0"/>
              </a:spcAft>
              <a:defRPr sz="2520" b="1">
                <a:solidFill>
                  <a:srgbClr val="F5F2EA"/>
                </a:solidFill>
                <a:latin typeface="DejaVu Sans"/>
              </a:defRPr>
            </a:pPr>
            <a:r>
              <a:t>Choose</a:t>
            </a:r>
          </a:p>
        </p:txBody>
      </p:sp>
      <p:sp>
        <p:nvSpPr>
          <p:cNvPr id="35" name="Rounded Rectangle 34"/>
          <p:cNvSpPr/>
          <p:nvPr/>
        </p:nvSpPr>
        <p:spPr>
          <a:xfrm>
            <a:off x="4305300" y="2400300"/>
            <a:ext cx="3581400" cy="279654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789675" y="2983992"/>
            <a:ext cx="544830" cy="1148334"/>
          </a:xfrm>
          <a:prstGeom prst="roundRect">
            <a:avLst>
              <a:gd name="adj" fmla="val 5000"/>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881878" y="2833116"/>
            <a:ext cx="360426" cy="217932"/>
          </a:xfrm>
          <a:prstGeom prst="roundRect">
            <a:avLst>
              <a:gd name="adj" fmla="val 5000"/>
            </a:avLst>
          </a:prstGeom>
          <a:solidFill>
            <a:srgbClr val="14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5915406" y="3134868"/>
            <a:ext cx="0" cy="678942"/>
          </a:xfrm>
          <a:prstGeom prst="line">
            <a:avLst/>
          </a:prstGeom>
          <a:ln w="25146">
            <a:solidFill>
              <a:srgbClr val="A5CEC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158483" y="2807970"/>
            <a:ext cx="284988" cy="284988"/>
          </a:xfrm>
          <a:prstGeom prst="ellipse">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217158" y="2866644"/>
            <a:ext cx="167640" cy="167640"/>
          </a:xfrm>
          <a:prstGeom prst="ellipse">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10100" y="4587240"/>
            <a:ext cx="2971800" cy="482650"/>
          </a:xfrm>
          <a:prstGeom prst="rect">
            <a:avLst/>
          </a:prstGeom>
          <a:noFill/>
        </p:spPr>
        <p:txBody>
          <a:bodyPr wrap="none" lIns="0" rIns="0" tIns="0" bIns="0">
            <a:spAutoFit/>
          </a:bodyPr>
          <a:lstStyle/>
          <a:p>
            <a:pPr>
              <a:lnSpc>
                <a:spcPts val="3200"/>
              </a:lnSpc>
              <a:spcBef>
                <a:spcPts val="0"/>
              </a:spcBef>
              <a:spcAft>
                <a:spcPts val="0"/>
              </a:spcAft>
              <a:defRPr sz="2520" b="1">
                <a:solidFill>
                  <a:srgbClr val="F5F2EA"/>
                </a:solidFill>
                <a:latin typeface="DejaVu Sans"/>
              </a:defRPr>
            </a:pPr>
            <a:r>
              <a:t>Test</a:t>
            </a:r>
          </a:p>
        </p:txBody>
      </p:sp>
      <p:sp>
        <p:nvSpPr>
          <p:cNvPr id="42" name="Rounded Rectangle 41"/>
          <p:cNvSpPr/>
          <p:nvPr/>
        </p:nvSpPr>
        <p:spPr>
          <a:xfrm>
            <a:off x="8077200" y="2400300"/>
            <a:ext cx="3581400" cy="2796540"/>
          </a:xfrm>
          <a:prstGeom prst="roundRect">
            <a:avLst>
              <a:gd name="adj" fmla="val 5000"/>
            </a:avLst>
          </a:prstGeom>
          <a:solidFill>
            <a:srgbClr val="1D4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243060" y="2796540"/>
            <a:ext cx="1249680" cy="1249680"/>
          </a:xfrm>
          <a:prstGeom prst="ellipse">
            <a:avLst/>
          </a:prstGeom>
          <a:solidFill>
            <a:srgbClr val="00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9707880" y="3360420"/>
            <a:ext cx="76200" cy="9144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784080" y="3268980"/>
            <a:ext cx="182880" cy="18288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381999" y="4587240"/>
            <a:ext cx="2971800" cy="482650"/>
          </a:xfrm>
          <a:prstGeom prst="rect">
            <a:avLst/>
          </a:prstGeom>
          <a:noFill/>
        </p:spPr>
        <p:txBody>
          <a:bodyPr wrap="none" lIns="0" rIns="0" tIns="0" bIns="0">
            <a:spAutoFit/>
          </a:bodyPr>
          <a:lstStyle/>
          <a:p>
            <a:pPr>
              <a:lnSpc>
                <a:spcPts val="3200"/>
              </a:lnSpc>
              <a:spcBef>
                <a:spcPts val="0"/>
              </a:spcBef>
              <a:spcAft>
                <a:spcPts val="0"/>
              </a:spcAft>
              <a:defRPr sz="2520" b="1">
                <a:solidFill>
                  <a:srgbClr val="F5F2EA"/>
                </a:solidFill>
                <a:latin typeface="DejaVu Sans"/>
              </a:defRPr>
            </a:pPr>
            <a:r>
              <a:t>Reconsider</a:t>
            </a:r>
          </a:p>
        </p:txBody>
      </p:sp>
      <p:sp>
        <p:nvSpPr>
          <p:cNvPr id="47" name="TextBox 46"/>
          <p:cNvSpPr txBox="1"/>
          <p:nvPr/>
        </p:nvSpPr>
        <p:spPr>
          <a:xfrm>
            <a:off x="571500" y="5859780"/>
            <a:ext cx="11049000" cy="318135"/>
          </a:xfrm>
          <a:prstGeom prst="rect">
            <a:avLst/>
          </a:prstGeom>
          <a:noFill/>
        </p:spPr>
        <p:txBody>
          <a:bodyPr wrap="none" lIns="0" rIns="0" tIns="0" bIns="0">
            <a:spAutoFit/>
          </a:bodyPr>
          <a:lstStyle/>
          <a:p>
            <a:pPr>
              <a:lnSpc>
                <a:spcPts val="1905"/>
              </a:lnSpc>
              <a:spcBef>
                <a:spcPts val="0"/>
              </a:spcBef>
              <a:spcAft>
                <a:spcPts val="0"/>
              </a:spcAft>
              <a:defRPr sz="1500" b="1">
                <a:solidFill>
                  <a:srgbClr val="7AE0C5"/>
                </a:solidFill>
                <a:latin typeface="DejaVu Sans"/>
              </a:defRPr>
            </a:pPr>
            <a:r>
              <a:t>Questions → Irene &amp; Mayuri → Rose</a:t>
            </a:r>
          </a:p>
        </p:txBody>
      </p:sp>
      <p:cxnSp>
        <p:nvCxnSpPr>
          <p:cNvPr id="48" name="Connector 47"/>
          <p:cNvCxnSpPr/>
          <p:nvPr/>
        </p:nvCxnSpPr>
        <p:spPr>
          <a:xfrm>
            <a:off x="533400" y="6286500"/>
            <a:ext cx="11125200" cy="0"/>
          </a:xfrm>
          <a:prstGeom prst="line">
            <a:avLst/>
          </a:prstGeom>
          <a:ln w="7620">
            <a:solidFill>
              <a:srgbClr val="34505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8BA8A4"/>
                </a:solidFill>
                <a:latin typeface="DejaVu Sans"/>
              </a:defRPr>
            </a:pPr>
            <a:r>
              <a:t>IB challenges; teacher request</a:t>
            </a:r>
          </a:p>
        </p:txBody>
      </p:sp>
      <p:sp>
        <p:nvSpPr>
          <p:cNvPr id="50" name="TextBox 49"/>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REFERENCE</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Sources &amp; further exploration</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Primary sources · full links in the teacher pack</a:t>
            </a:r>
          </a:p>
        </p:txBody>
      </p:sp>
      <p:sp>
        <p:nvSpPr>
          <p:cNvPr id="8" name="TextBox 7"/>
          <p:cNvSpPr txBox="1"/>
          <p:nvPr/>
        </p:nvSpPr>
        <p:spPr>
          <a:xfrm>
            <a:off x="556260" y="22479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IB</a:t>
            </a:r>
          </a:p>
        </p:txBody>
      </p:sp>
      <p:sp>
        <p:nvSpPr>
          <p:cNvPr id="9" name="TextBox 8"/>
          <p:cNvSpPr txBox="1"/>
          <p:nvPr/>
        </p:nvSpPr>
        <p:spPr>
          <a:xfrm>
            <a:off x="1943100" y="224790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t>International Baccalaureate (2026). Generative AI for image creation—a diffuse vision. May / November 2027 case</a:t>
            </a:r>
          </a:p>
          <a:p>
            <a:pPr>
              <a:lnSpc>
                <a:spcPts val="1600"/>
              </a:lnSpc>
              <a:spcBef>
                <a:spcPts val="0"/>
              </a:spcBef>
              <a:spcAft>
                <a:spcPts val="0"/>
              </a:spcAft>
              <a:defRPr sz="1260" b="0">
                <a:solidFill>
                  <a:srgbClr val="142F35"/>
                </a:solidFill>
                <a:latin typeface="DejaVu Sans"/>
              </a:defRPr>
            </a:pPr>
            <a:r>
              <a:t>study. User-supplied d_4_comsc_css_2606_1_e.pdf.</a:t>
            </a:r>
          </a:p>
        </p:txBody>
      </p:sp>
      <p:sp>
        <p:nvSpPr>
          <p:cNvPr id="10" name="TextBox 9"/>
          <p:cNvSpPr txBox="1"/>
          <p:nvPr/>
        </p:nvSpPr>
        <p:spPr>
          <a:xfrm>
            <a:off x="556260" y="286512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BIO</a:t>
            </a:r>
          </a:p>
        </p:txBody>
      </p:sp>
      <p:sp>
        <p:nvSpPr>
          <p:cNvPr id="11" name="TextBox 10"/>
          <p:cNvSpPr txBox="1"/>
          <p:nvPr/>
        </p:nvSpPr>
        <p:spPr>
          <a:xfrm>
            <a:off x="1943100" y="286512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2"/>
              </a:rPr>
              <a:t>Tianruo Rose Xu. Personal website. Accessed 7 October 2026 (America/New_York).</a:t>
            </a:r>
          </a:p>
        </p:txBody>
      </p:sp>
      <p:sp>
        <p:nvSpPr>
          <p:cNvPr id="12" name="TextBox 11"/>
          <p:cNvSpPr txBox="1"/>
          <p:nvPr/>
        </p:nvSpPr>
        <p:spPr>
          <a:xfrm>
            <a:off x="556260" y="348234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DDPM</a:t>
            </a:r>
          </a:p>
        </p:txBody>
      </p:sp>
      <p:sp>
        <p:nvSpPr>
          <p:cNvPr id="13" name="TextBox 12"/>
          <p:cNvSpPr txBox="1"/>
          <p:nvPr/>
        </p:nvSpPr>
        <p:spPr>
          <a:xfrm>
            <a:off x="1943100" y="348234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3"/>
              </a:rPr>
              <a:t>Ho, Jain &amp; Abbeel (2020). Denoising Diffusion Probabilistic Models. NeurIPS. Figs. 2, 6; Eq. 4.</a:t>
            </a:r>
          </a:p>
        </p:txBody>
      </p:sp>
      <p:sp>
        <p:nvSpPr>
          <p:cNvPr id="14" name="TextBox 13"/>
          <p:cNvSpPr txBox="1"/>
          <p:nvPr/>
        </p:nvSpPr>
        <p:spPr>
          <a:xfrm>
            <a:off x="556260" y="409956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GAN</a:t>
            </a:r>
          </a:p>
        </p:txBody>
      </p:sp>
      <p:sp>
        <p:nvSpPr>
          <p:cNvPr id="15" name="TextBox 14"/>
          <p:cNvSpPr txBox="1"/>
          <p:nvPr/>
        </p:nvSpPr>
        <p:spPr>
          <a:xfrm>
            <a:off x="1943100" y="409956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4"/>
              </a:rPr>
              <a:t>Goodfellow et al. (2014). Generative Adversarial Nets. NeurIPS. Eq. 1.</a:t>
            </a:r>
          </a:p>
        </p:txBody>
      </p:sp>
      <p:sp>
        <p:nvSpPr>
          <p:cNvPr id="16" name="TextBox 15"/>
          <p:cNvSpPr txBox="1"/>
          <p:nvPr/>
        </p:nvSpPr>
        <p:spPr>
          <a:xfrm>
            <a:off x="556260" y="471678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GAN-TRAIN</a:t>
            </a:r>
          </a:p>
        </p:txBody>
      </p:sp>
      <p:sp>
        <p:nvSpPr>
          <p:cNvPr id="17" name="TextBox 16"/>
          <p:cNvSpPr txBox="1"/>
          <p:nvPr/>
        </p:nvSpPr>
        <p:spPr>
          <a:xfrm>
            <a:off x="1943100" y="471678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5"/>
              </a:rPr>
              <a:t>Salimans et al. (2016). Improved Techniques for Training GANs.</a:t>
            </a:r>
          </a:p>
        </p:txBody>
      </p:sp>
      <p:sp>
        <p:nvSpPr>
          <p:cNvPr id="18" name="TextBox 17"/>
          <p:cNvSpPr txBox="1"/>
          <p:nvPr/>
        </p:nvSpPr>
        <p:spPr>
          <a:xfrm>
            <a:off x="556260" y="53340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VAE</a:t>
            </a:r>
          </a:p>
        </p:txBody>
      </p:sp>
      <p:sp>
        <p:nvSpPr>
          <p:cNvPr id="19" name="TextBox 18"/>
          <p:cNvSpPr txBox="1"/>
          <p:nvPr/>
        </p:nvSpPr>
        <p:spPr>
          <a:xfrm>
            <a:off x="1943100" y="533400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6"/>
              </a:rPr>
              <a:t>Kingma &amp; Welling (2013). Auto-Encoding Variational Bayes.</a:t>
            </a:r>
          </a:p>
        </p:txBody>
      </p:sp>
      <p:cxnSp>
        <p:nvCxnSpPr>
          <p:cNvPr id="20" name="Connector 1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Independent teaching material; not an official IB publication.</a:t>
            </a:r>
          </a:p>
        </p:txBody>
      </p:sp>
      <p:sp>
        <p:nvSpPr>
          <p:cNvPr id="22" name="TextBox 2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REFERENCE</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Sources &amp; further exploration</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Primary sources · full links in the teacher pack</a:t>
            </a:r>
          </a:p>
        </p:txBody>
      </p:sp>
      <p:sp>
        <p:nvSpPr>
          <p:cNvPr id="8" name="TextBox 7"/>
          <p:cNvSpPr txBox="1"/>
          <p:nvPr/>
        </p:nvSpPr>
        <p:spPr>
          <a:xfrm>
            <a:off x="556260" y="22479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FLOW</a:t>
            </a:r>
          </a:p>
        </p:txBody>
      </p:sp>
      <p:sp>
        <p:nvSpPr>
          <p:cNvPr id="9" name="TextBox 8"/>
          <p:cNvSpPr txBox="1"/>
          <p:nvPr/>
        </p:nvSpPr>
        <p:spPr>
          <a:xfrm>
            <a:off x="1943100" y="224790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2"/>
              </a:rPr>
              <a:t>Dinh, Sohl-Dickstein &amp; Bengio (2016). Density estimation using Real NVP.</a:t>
            </a:r>
          </a:p>
        </p:txBody>
      </p:sp>
      <p:sp>
        <p:nvSpPr>
          <p:cNvPr id="10" name="TextBox 9"/>
          <p:cNvSpPr txBox="1"/>
          <p:nvPr/>
        </p:nvSpPr>
        <p:spPr>
          <a:xfrm>
            <a:off x="556260" y="286512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LDM</a:t>
            </a:r>
          </a:p>
        </p:txBody>
      </p:sp>
      <p:sp>
        <p:nvSpPr>
          <p:cNvPr id="11" name="TextBox 10"/>
          <p:cNvSpPr txBox="1"/>
          <p:nvPr/>
        </p:nvSpPr>
        <p:spPr>
          <a:xfrm>
            <a:off x="1943100" y="286512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3"/>
              </a:rPr>
              <a:t>Rombach et al. (2022). High-Resolution Image Synthesis with Latent Diffusion Models. CVPR. Fig. 3.</a:t>
            </a:r>
          </a:p>
        </p:txBody>
      </p:sp>
      <p:sp>
        <p:nvSpPr>
          <p:cNvPr id="12" name="TextBox 11"/>
          <p:cNvSpPr txBox="1"/>
          <p:nvPr/>
        </p:nvSpPr>
        <p:spPr>
          <a:xfrm>
            <a:off x="556260" y="348234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DIT</a:t>
            </a:r>
          </a:p>
        </p:txBody>
      </p:sp>
      <p:sp>
        <p:nvSpPr>
          <p:cNvPr id="13" name="TextBox 12"/>
          <p:cNvSpPr txBox="1"/>
          <p:nvPr/>
        </p:nvSpPr>
        <p:spPr>
          <a:xfrm>
            <a:off x="1943100" y="348234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4"/>
              </a:rPr>
              <a:t>Peebles &amp; Xie (2023). Scalable Diffusion Models with Transformers.</a:t>
            </a:r>
          </a:p>
        </p:txBody>
      </p:sp>
      <p:sp>
        <p:nvSpPr>
          <p:cNvPr id="14" name="TextBox 13"/>
          <p:cNvSpPr txBox="1"/>
          <p:nvPr/>
        </p:nvSpPr>
        <p:spPr>
          <a:xfrm>
            <a:off x="556260" y="409956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CONTROL</a:t>
            </a:r>
          </a:p>
        </p:txBody>
      </p:sp>
      <p:sp>
        <p:nvSpPr>
          <p:cNvPr id="15" name="TextBox 14"/>
          <p:cNvSpPr txBox="1"/>
          <p:nvPr/>
        </p:nvSpPr>
        <p:spPr>
          <a:xfrm>
            <a:off x="1943100" y="409956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5"/>
              </a:rPr>
              <a:t>Zhang, Rao &amp; Agrawala (2023). Adding Conditional Control to Text-to-Image Diffusion Models. ICCV. Fig. 7.</a:t>
            </a:r>
          </a:p>
        </p:txBody>
      </p:sp>
      <p:sp>
        <p:nvSpPr>
          <p:cNvPr id="16" name="TextBox 15"/>
          <p:cNvSpPr txBox="1"/>
          <p:nvPr/>
        </p:nvSpPr>
        <p:spPr>
          <a:xfrm>
            <a:off x="556260" y="471678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I2I</a:t>
            </a:r>
          </a:p>
        </p:txBody>
      </p:sp>
      <p:sp>
        <p:nvSpPr>
          <p:cNvPr id="17" name="TextBox 16"/>
          <p:cNvSpPr txBox="1"/>
          <p:nvPr/>
        </p:nvSpPr>
        <p:spPr>
          <a:xfrm>
            <a:off x="1943100" y="471678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6"/>
              </a:rPr>
              <a:t>Isola et al. (2017). Image-to-Image Translation with Conditional Adversarial Networks.</a:t>
            </a:r>
          </a:p>
        </p:txBody>
      </p:sp>
      <p:sp>
        <p:nvSpPr>
          <p:cNvPr id="18" name="TextBox 17"/>
          <p:cNvSpPr txBox="1"/>
          <p:nvPr/>
        </p:nvSpPr>
        <p:spPr>
          <a:xfrm>
            <a:off x="556260" y="53340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IDENTITY</a:t>
            </a:r>
          </a:p>
        </p:txBody>
      </p:sp>
      <p:sp>
        <p:nvSpPr>
          <p:cNvPr id="19" name="TextBox 18"/>
          <p:cNvSpPr txBox="1"/>
          <p:nvPr/>
        </p:nvSpPr>
        <p:spPr>
          <a:xfrm>
            <a:off x="1943100" y="533400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7"/>
              </a:rPr>
              <a:t>Ruiz et al. (2023). DreamBooth: Fine Tuning Text-to-Image Diffusion Models for Subject-Driven Generation. CVPR. Fig.</a:t>
            </a:r>
          </a:p>
          <a:p>
            <a:pPr>
              <a:lnSpc>
                <a:spcPts val="1600"/>
              </a:lnSpc>
              <a:spcBef>
                <a:spcPts val="0"/>
              </a:spcBef>
              <a:spcAft>
                <a:spcPts val="0"/>
              </a:spcAft>
              <a:defRPr sz="1260" b="0">
                <a:solidFill>
                  <a:srgbClr val="142F35"/>
                </a:solidFill>
                <a:latin typeface="DejaVu Sans"/>
              </a:defRPr>
            </a:pPr>
            <a:r>
              <a:rPr>
                <a:hlinkClick r:id="rId7"/>
              </a:rPr>
              <a:t>1.</a:t>
            </a:r>
          </a:p>
        </p:txBody>
      </p:sp>
      <p:cxnSp>
        <p:nvCxnSpPr>
          <p:cNvPr id="20" name="Connector 1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Independent teaching material; not an official IB publication.</a:t>
            </a:r>
          </a:p>
        </p:txBody>
      </p:sp>
      <p:sp>
        <p:nvSpPr>
          <p:cNvPr id="22" name="TextBox 2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REFERENCE</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Sources &amp; further exploration</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Primary sources · full links in the teacher pack</a:t>
            </a:r>
          </a:p>
        </p:txBody>
      </p:sp>
      <p:sp>
        <p:nvSpPr>
          <p:cNvPr id="8" name="TextBox 7"/>
          <p:cNvSpPr txBox="1"/>
          <p:nvPr/>
        </p:nvSpPr>
        <p:spPr>
          <a:xfrm>
            <a:off x="556260" y="22479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IPOS</a:t>
            </a:r>
          </a:p>
        </p:txBody>
      </p:sp>
      <p:sp>
        <p:nvSpPr>
          <p:cNvPr id="9" name="TextBox 8"/>
          <p:cNvSpPr txBox="1"/>
          <p:nvPr/>
        </p:nvSpPr>
        <p:spPr>
          <a:xfrm>
            <a:off x="1943100" y="224790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2"/>
              </a:rPr>
              <a:t>Intellectual Property Office of Singapore. Can I use copyright works for text and data mining and machine learning?</a:t>
            </a:r>
          </a:p>
          <a:p>
            <a:pPr>
              <a:lnSpc>
                <a:spcPts val="1600"/>
              </a:lnSpc>
              <a:spcBef>
                <a:spcPts val="0"/>
              </a:spcBef>
              <a:spcAft>
                <a:spcPts val="0"/>
              </a:spcAft>
              <a:defRPr sz="1260" b="0">
                <a:solidFill>
                  <a:srgbClr val="142F35"/>
                </a:solidFill>
                <a:latin typeface="DejaVu Sans"/>
              </a:defRPr>
            </a:pPr>
            <a:r>
              <a:rPr>
                <a:hlinkClick r:id="rId2"/>
              </a:rPr>
              <a:t>Accessed 7 October 2026.</a:t>
            </a:r>
          </a:p>
        </p:txBody>
      </p:sp>
      <p:sp>
        <p:nvSpPr>
          <p:cNvPr id="10" name="TextBox 9"/>
          <p:cNvSpPr txBox="1"/>
          <p:nvPr/>
        </p:nvSpPr>
        <p:spPr>
          <a:xfrm>
            <a:off x="556260" y="286512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USCO</a:t>
            </a:r>
          </a:p>
        </p:txBody>
      </p:sp>
      <p:sp>
        <p:nvSpPr>
          <p:cNvPr id="11" name="TextBox 10"/>
          <p:cNvSpPr txBox="1"/>
          <p:nvPr/>
        </p:nvSpPr>
        <p:spPr>
          <a:xfrm>
            <a:off x="1943100" y="286512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3"/>
              </a:rPr>
              <a:t>U.S. Copyright Office. Copyright and Artificial Intelligence reports. Jurisdiction-specific reference, not a universal rule.</a:t>
            </a:r>
          </a:p>
          <a:p>
            <a:pPr>
              <a:lnSpc>
                <a:spcPts val="1600"/>
              </a:lnSpc>
              <a:spcBef>
                <a:spcPts val="0"/>
              </a:spcBef>
              <a:spcAft>
                <a:spcPts val="0"/>
              </a:spcAft>
              <a:defRPr sz="1260" b="0">
                <a:solidFill>
                  <a:srgbClr val="142F35"/>
                </a:solidFill>
                <a:latin typeface="DejaVu Sans"/>
              </a:defRPr>
            </a:pPr>
            <a:r>
              <a:rPr>
                <a:hlinkClick r:id="rId3"/>
              </a:rPr>
              <a:t>Accessed 7 October 2026.</a:t>
            </a:r>
          </a:p>
        </p:txBody>
      </p:sp>
      <p:sp>
        <p:nvSpPr>
          <p:cNvPr id="12" name="TextBox 11"/>
          <p:cNvSpPr txBox="1"/>
          <p:nvPr/>
        </p:nvSpPr>
        <p:spPr>
          <a:xfrm>
            <a:off x="556260" y="348234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RT-SAFE</a:t>
            </a:r>
          </a:p>
        </p:txBody>
      </p:sp>
      <p:sp>
        <p:nvSpPr>
          <p:cNvPr id="13" name="TextBox 12"/>
          <p:cNvSpPr txBox="1"/>
          <p:nvPr/>
        </p:nvSpPr>
        <p:spPr>
          <a:xfrm>
            <a:off x="1943100" y="348234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4"/>
              </a:rPr>
              <a:t>Xu et al. (2026). RT-Safe: Benchmarking Agent Safety in Real-Time Embodied Environment. Preprint.</a:t>
            </a:r>
          </a:p>
        </p:txBody>
      </p:sp>
      <p:sp>
        <p:nvSpPr>
          <p:cNvPr id="14" name="TextBox 13"/>
          <p:cNvSpPr txBox="1"/>
          <p:nvPr/>
        </p:nvSpPr>
        <p:spPr>
          <a:xfrm>
            <a:off x="556260" y="409956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RT-WEB</a:t>
            </a:r>
          </a:p>
        </p:txBody>
      </p:sp>
      <p:sp>
        <p:nvSpPr>
          <p:cNvPr id="15" name="TextBox 14"/>
          <p:cNvSpPr txBox="1"/>
          <p:nvPr/>
        </p:nvSpPr>
        <p:spPr>
          <a:xfrm>
            <a:off x="1943100" y="409956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5"/>
              </a:rPr>
              <a:t>RT-SAFE project website and illustrative Unreal Engine media.</a:t>
            </a:r>
          </a:p>
        </p:txBody>
      </p:sp>
      <p:sp>
        <p:nvSpPr>
          <p:cNvPr id="16" name="TextBox 15"/>
          <p:cNvSpPr txBox="1"/>
          <p:nvPr/>
        </p:nvSpPr>
        <p:spPr>
          <a:xfrm>
            <a:off x="556260" y="471678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SIMWORLD</a:t>
            </a:r>
          </a:p>
        </p:txBody>
      </p:sp>
      <p:sp>
        <p:nvSpPr>
          <p:cNvPr id="17" name="TextBox 16"/>
          <p:cNvSpPr txBox="1"/>
          <p:nvPr/>
        </p:nvSpPr>
        <p:spPr>
          <a:xfrm>
            <a:off x="1943100" y="471678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6"/>
              </a:rPr>
              <a:t>SimWorld project. Context for simulated embodied environments.</a:t>
            </a:r>
          </a:p>
        </p:txBody>
      </p:sp>
      <p:sp>
        <p:nvSpPr>
          <p:cNvPr id="18" name="TextBox 17"/>
          <p:cNvSpPr txBox="1"/>
          <p:nvPr/>
        </p:nvSpPr>
        <p:spPr>
          <a:xfrm>
            <a:off x="556260" y="53340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GENIE</a:t>
            </a:r>
          </a:p>
        </p:txBody>
      </p:sp>
      <p:sp>
        <p:nvSpPr>
          <p:cNvPr id="19" name="TextBox 18"/>
          <p:cNvSpPr txBox="1"/>
          <p:nvPr/>
        </p:nvSpPr>
        <p:spPr>
          <a:xfrm>
            <a:off x="1943100" y="533400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7"/>
              </a:rPr>
              <a:t>Google DeepMind. Genie 3: interactive world generation. Official demonstration and model description. Accessed 10</a:t>
            </a:r>
          </a:p>
          <a:p>
            <a:pPr>
              <a:lnSpc>
                <a:spcPts val="1600"/>
              </a:lnSpc>
              <a:spcBef>
                <a:spcPts val="0"/>
              </a:spcBef>
              <a:spcAft>
                <a:spcPts val="0"/>
              </a:spcAft>
              <a:defRPr sz="1260" b="0">
                <a:solidFill>
                  <a:srgbClr val="142F35"/>
                </a:solidFill>
                <a:latin typeface="DejaVu Sans"/>
              </a:defRPr>
            </a:pPr>
            <a:r>
              <a:rPr>
                <a:hlinkClick r:id="rId7"/>
              </a:rPr>
              <a:t>October 2026.</a:t>
            </a:r>
          </a:p>
        </p:txBody>
      </p:sp>
      <p:cxnSp>
        <p:nvCxnSpPr>
          <p:cNvPr id="20" name="Connector 19"/>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Independent teaching material; not an official IB publication.</a:t>
            </a:r>
          </a:p>
        </p:txBody>
      </p:sp>
      <p:sp>
        <p:nvSpPr>
          <p:cNvPr id="22" name="TextBox 21"/>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8620"/>
            <a:ext cx="289560" cy="53340"/>
          </a:xfrm>
          <a:prstGeom prst="rect">
            <a:avLst/>
          </a:prstGeom>
          <a:solidFill>
            <a:srgbClr val="D56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4800"/>
            <a:ext cx="52578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53696A"/>
                </a:solidFill>
                <a:latin typeface="DejaVu Sans"/>
              </a:defRPr>
            </a:pPr>
            <a:r>
              <a:t>ROSE XU / UWCSEA DOVER</a:t>
            </a:r>
          </a:p>
        </p:txBody>
      </p:sp>
      <p:sp>
        <p:nvSpPr>
          <p:cNvPr id="5" name="TextBox 4"/>
          <p:cNvSpPr txBox="1"/>
          <p:nvPr/>
        </p:nvSpPr>
        <p:spPr>
          <a:xfrm>
            <a:off x="9601200" y="304800"/>
            <a:ext cx="2057400" cy="269748"/>
          </a:xfrm>
          <a:prstGeom prst="rect">
            <a:avLst/>
          </a:prstGeom>
          <a:noFill/>
        </p:spPr>
        <p:txBody>
          <a:bodyPr wrap="none" lIns="0" rIns="0" tIns="0" bIns="0">
            <a:spAutoFit/>
          </a:bodyPr>
          <a:lstStyle/>
          <a:p>
            <a:pPr>
              <a:lnSpc>
                <a:spcPts val="1523"/>
              </a:lnSpc>
              <a:spcBef>
                <a:spcPts val="0"/>
              </a:spcBef>
              <a:spcAft>
                <a:spcPts val="0"/>
              </a:spcAft>
              <a:defRPr sz="1200" b="1">
                <a:solidFill>
                  <a:srgbClr val="007F7C"/>
                </a:solidFill>
                <a:latin typeface="DejaVu Sans"/>
              </a:defRPr>
            </a:pPr>
            <a:r>
              <a:t>REFERENCE</a:t>
            </a:r>
          </a:p>
        </p:txBody>
      </p:sp>
      <p:sp>
        <p:nvSpPr>
          <p:cNvPr id="6" name="TextBox 5"/>
          <p:cNvSpPr txBox="1"/>
          <p:nvPr/>
        </p:nvSpPr>
        <p:spPr>
          <a:xfrm>
            <a:off x="533400" y="861060"/>
            <a:ext cx="11125200" cy="579424"/>
          </a:xfrm>
          <a:prstGeom prst="rect">
            <a:avLst/>
          </a:prstGeom>
          <a:noFill/>
        </p:spPr>
        <p:txBody>
          <a:bodyPr wrap="none" lIns="0" rIns="0" tIns="0" bIns="0">
            <a:spAutoFit/>
          </a:bodyPr>
          <a:lstStyle/>
          <a:p>
            <a:pPr>
              <a:lnSpc>
                <a:spcPts val="3962"/>
              </a:lnSpc>
              <a:spcBef>
                <a:spcPts val="0"/>
              </a:spcBef>
              <a:spcAft>
                <a:spcPts val="0"/>
              </a:spcAft>
              <a:defRPr sz="3120" b="1">
                <a:solidFill>
                  <a:srgbClr val="142F35"/>
                </a:solidFill>
                <a:latin typeface="DejaVu Sans"/>
              </a:defRPr>
            </a:pPr>
            <a:r>
              <a:t>Sources &amp; further exploration</a:t>
            </a:r>
          </a:p>
        </p:txBody>
      </p:sp>
      <p:sp>
        <p:nvSpPr>
          <p:cNvPr id="7" name="TextBox 6"/>
          <p:cNvSpPr txBox="1"/>
          <p:nvPr/>
        </p:nvSpPr>
        <p:spPr>
          <a:xfrm>
            <a:off x="556260" y="1501140"/>
            <a:ext cx="10972800" cy="327812"/>
          </a:xfrm>
          <a:prstGeom prst="rect">
            <a:avLst/>
          </a:prstGeom>
          <a:noFill/>
        </p:spPr>
        <p:txBody>
          <a:bodyPr wrap="none" lIns="0" rIns="0" tIns="0" bIns="0">
            <a:spAutoFit/>
          </a:bodyPr>
          <a:lstStyle/>
          <a:p>
            <a:pPr>
              <a:lnSpc>
                <a:spcPts val="1981"/>
              </a:lnSpc>
              <a:spcBef>
                <a:spcPts val="0"/>
              </a:spcBef>
              <a:spcAft>
                <a:spcPts val="0"/>
              </a:spcAft>
              <a:defRPr sz="1560" b="0">
                <a:solidFill>
                  <a:srgbClr val="53696A"/>
                </a:solidFill>
                <a:latin typeface="DejaVu Sans"/>
              </a:defRPr>
            </a:pPr>
            <a:r>
              <a:t>Primary sources · full links in the teacher pack</a:t>
            </a:r>
          </a:p>
        </p:txBody>
      </p:sp>
      <p:sp>
        <p:nvSpPr>
          <p:cNvPr id="8" name="TextBox 7"/>
          <p:cNvSpPr txBox="1"/>
          <p:nvPr/>
        </p:nvSpPr>
        <p:spPr>
          <a:xfrm>
            <a:off x="556260" y="224790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MARBLE</a:t>
            </a:r>
          </a:p>
        </p:txBody>
      </p:sp>
      <p:sp>
        <p:nvSpPr>
          <p:cNvPr id="9" name="TextBox 8"/>
          <p:cNvSpPr txBox="1"/>
          <p:nvPr/>
        </p:nvSpPr>
        <p:spPr>
          <a:xfrm>
            <a:off x="1943100" y="2247900"/>
            <a:ext cx="9601200" cy="482650"/>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2"/>
              </a:rPr>
              <a:t>World Labs. Marble: A Multimodal World Model (12 November 2025). Chisel gallery demonstration. Accessed 10</a:t>
            </a:r>
          </a:p>
          <a:p>
            <a:pPr>
              <a:lnSpc>
                <a:spcPts val="1600"/>
              </a:lnSpc>
              <a:spcBef>
                <a:spcPts val="0"/>
              </a:spcBef>
              <a:spcAft>
                <a:spcPts val="0"/>
              </a:spcAft>
              <a:defRPr sz="1260" b="0">
                <a:solidFill>
                  <a:srgbClr val="142F35"/>
                </a:solidFill>
                <a:latin typeface="DejaVu Sans"/>
              </a:defRPr>
            </a:pPr>
            <a:r>
              <a:rPr>
                <a:hlinkClick r:id="rId2"/>
              </a:rPr>
              <a:t>October 2026.</a:t>
            </a:r>
          </a:p>
        </p:txBody>
      </p:sp>
      <p:sp>
        <p:nvSpPr>
          <p:cNvPr id="10" name="TextBox 9"/>
          <p:cNvSpPr txBox="1"/>
          <p:nvPr/>
        </p:nvSpPr>
        <p:spPr>
          <a:xfrm>
            <a:off x="556260" y="2865120"/>
            <a:ext cx="1447800" cy="250393"/>
          </a:xfrm>
          <a:prstGeom prst="rect">
            <a:avLst/>
          </a:prstGeom>
          <a:noFill/>
        </p:spPr>
        <p:txBody>
          <a:bodyPr wrap="none" lIns="0" rIns="0" tIns="0" bIns="0">
            <a:spAutoFit/>
          </a:bodyPr>
          <a:lstStyle/>
          <a:p>
            <a:pPr>
              <a:lnSpc>
                <a:spcPts val="1371"/>
              </a:lnSpc>
              <a:spcBef>
                <a:spcPts val="0"/>
              </a:spcBef>
              <a:spcAft>
                <a:spcPts val="0"/>
              </a:spcAft>
              <a:defRPr sz="1080" b="1">
                <a:solidFill>
                  <a:srgbClr val="007F7C"/>
                </a:solidFill>
                <a:latin typeface="DejaVu Sans"/>
              </a:defRPr>
            </a:pPr>
            <a:r>
              <a:t>DIFFUSION-2015</a:t>
            </a:r>
          </a:p>
        </p:txBody>
      </p:sp>
      <p:sp>
        <p:nvSpPr>
          <p:cNvPr id="11" name="TextBox 10"/>
          <p:cNvSpPr txBox="1"/>
          <p:nvPr/>
        </p:nvSpPr>
        <p:spPr>
          <a:xfrm>
            <a:off x="1943100" y="2865120"/>
            <a:ext cx="9601200" cy="279425"/>
          </a:xfrm>
          <a:prstGeom prst="rect">
            <a:avLst/>
          </a:prstGeom>
          <a:noFill/>
        </p:spPr>
        <p:txBody>
          <a:bodyPr wrap="none" lIns="0" rIns="0" tIns="0" bIns="0">
            <a:spAutoFit/>
          </a:bodyPr>
          <a:lstStyle/>
          <a:p>
            <a:pPr>
              <a:lnSpc>
                <a:spcPts val="1600"/>
              </a:lnSpc>
              <a:spcBef>
                <a:spcPts val="0"/>
              </a:spcBef>
              <a:spcAft>
                <a:spcPts val="0"/>
              </a:spcAft>
              <a:defRPr sz="1260" b="0">
                <a:solidFill>
                  <a:srgbClr val="142F35"/>
                </a:solidFill>
                <a:latin typeface="DejaVu Sans"/>
              </a:defRPr>
            </a:pPr>
            <a:r>
              <a:rPr>
                <a:hlinkClick r:id="rId3"/>
              </a:rPr>
              <a:t>Sohl-Dickstein et al. (2015). Deep Unsupervised Learning using Nonequilibrium Thermodynamics. ICML.</a:t>
            </a:r>
          </a:p>
        </p:txBody>
      </p:sp>
      <p:cxnSp>
        <p:nvCxnSpPr>
          <p:cNvPr id="12" name="Connector 11"/>
          <p:cNvCxnSpPr/>
          <p:nvPr/>
        </p:nvCxnSpPr>
        <p:spPr>
          <a:xfrm>
            <a:off x="533400" y="6286500"/>
            <a:ext cx="11125200" cy="0"/>
          </a:xfrm>
          <a:prstGeom prst="line">
            <a:avLst/>
          </a:prstGeom>
          <a:ln w="7620">
            <a:solidFill>
              <a:srgbClr val="C6D3C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33400" y="6400800"/>
            <a:ext cx="10439400" cy="221361"/>
          </a:xfrm>
          <a:prstGeom prst="rect">
            <a:avLst/>
          </a:prstGeom>
          <a:noFill/>
        </p:spPr>
        <p:txBody>
          <a:bodyPr wrap="none" lIns="0" rIns="0" tIns="0" bIns="0">
            <a:spAutoFit/>
          </a:bodyPr>
          <a:lstStyle/>
          <a:p>
            <a:pPr>
              <a:lnSpc>
                <a:spcPts val="1143"/>
              </a:lnSpc>
              <a:spcBef>
                <a:spcPts val="0"/>
              </a:spcBef>
              <a:spcAft>
                <a:spcPts val="0"/>
              </a:spcAft>
              <a:defRPr sz="900" b="0">
                <a:solidFill>
                  <a:srgbClr val="53696A"/>
                </a:solidFill>
                <a:latin typeface="DejaVu Sans"/>
              </a:defRPr>
            </a:pPr>
            <a:r>
              <a:t>Independent teaching material; not an official IB publication.</a:t>
            </a:r>
          </a:p>
        </p:txBody>
      </p:sp>
      <p:sp>
        <p:nvSpPr>
          <p:cNvPr id="14" name="TextBox 13"/>
          <p:cNvSpPr txBox="1"/>
          <p:nvPr/>
        </p:nvSpPr>
        <p:spPr>
          <a:xfrm>
            <a:off x="11201400" y="6377940"/>
            <a:ext cx="457200" cy="298780"/>
          </a:xfrm>
          <a:prstGeom prst="rect">
            <a:avLst/>
          </a:prstGeom>
          <a:noFill/>
        </p:spPr>
        <p:txBody>
          <a:bodyPr wrap="none" lIns="0" rIns="0" tIns="0" bIns="0">
            <a:spAutoFit/>
          </a:bodyPr>
          <a:lstStyle/>
          <a:p>
            <a:pPr>
              <a:lnSpc>
                <a:spcPts val="1752"/>
              </a:lnSpc>
              <a:spcBef>
                <a:spcPts val="0"/>
              </a:spcBef>
              <a:spcAft>
                <a:spcPts val="0"/>
              </a:spcAft>
              <a:defRPr sz="1380" b="1">
                <a:solidFill>
                  <a:srgbClr val="D56A37"/>
                </a:solidFill>
                <a:latin typeface="DejaVu Sans"/>
              </a:defRPr>
            </a:pPr>
            <a: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